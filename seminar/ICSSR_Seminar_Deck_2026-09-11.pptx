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45" d="100"/>
          <a:sy n="45" d="100"/>
        </p:scale>
        <p:origin x="2098" y="7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49258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[0:00-0:15]  Good evening, everyone. I'm Ankit Pawar from IIITDM Jabalpur; this work is with my supervisor, Dr. Akshay Pandey. In five minutes I'll show you a system that lets a farmer consult India's classical agricultural texts from a photograph of a sick plant - built so that the AI can never put words in those texts' mouths.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[0:15-1:00]  Here is the real situation. A farmer sees dark, scabby patches on apple leaves. Where does advice come from today? A chemical dealer - or an AI chatbot. And chatbots have a known flaw called hallucination: they answer confidently even when they don't know, and they invent facts and sources. For indigenous knowledge that few people can verify, that is dangerous. Meanwhile, six classical treatises hold centuries of organic remedies - but three locks keep them on the shelf: Sanskrit or rare translations; no searchable digital form; and they describe problems by symptom, never by a modern disease name.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[1:00-1:25]  The six texts, very briefly. Vrikshayurveda - plant life and treating sick trees. Brihat Samhita - rain, finding water, crops, tree treatment. Krishi Parashara - the farming almanac. Upavanavinoda - garden and tree care. Kashyapiya Krishisukti - cultivation from land to harvest. Vishvavallabha - water, horticulture and plant disease, the one we add next. And here is one real line, Vrikshayurveda verse 193: to remove insects from the roots and branches, water the tree with cold water for seven days. Symptom, then remedy, numbered - that is what makes these texts searchable.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[1:25-2:55]  (frame 1/5)  [CLICK 1] The farmer sends a leaf photo and a soil photo, names the crop, and may add a suspected cause. All of it goes to the combiner - the hub of the system. [CLICK 2] The combiner passes the leaf to the disease model, which returns the disease name and a confidence - here, apple scab at 0.86 - and the soil photo to the soil model, which returns soil type, moisture and texture. [CLICK 3] Now the key step. The combiner writes one question in the language the texts use - not 'apple scab', but 'dark, rough, scabby patches spreading over the leaf of a tree in moist alluvial soil'. [CLICK 4] That question searches the knowledge base - the six texts cut into 327 numbered passages - and the five best-matching passages come back. [CLICK 5] The answer writer composes the advice using only those five passages and cites the verse - or refuses if nothing fits. The farmer receives the advice, the source verse, a heat-map of where the model looked, and the passages themselves.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[1:25-2:55]  (frame 2/5)  [CLICK 1] The farmer sends a leaf photo and a soil photo, names the crop, and may add a suspected cause. All of it goes to the combiner - the hub of the system. [CLICK 2] The combiner passes the leaf to the disease model, which returns the disease name and a confidence - here, apple scab at 0.86 - and the soil photo to the soil model, which returns soil type, moisture and texture. [CLICK 3] Now the key step. The combiner writes one question in the language the texts use - not 'apple scab', but 'dark, rough, scabby patches spreading over the leaf of a tree in moist alluvial soil'. [CLICK 4] That question searches the knowledge base - the six texts cut into 327 numbered passages - and the five best-matching passages come back. [CLICK 5] The answer writer composes the advice using only those five passages and cites the verse - or refuses if nothing fits. The farmer receives the advice, the source verse, a heat-map of where the model looked, and the passages themselves.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[1:25-2:55]  (frame 3/5)  [CLICK 1] The farmer sends a leaf photo and a soil photo, names the crop, and may add a suspected cause. All of it goes to the combiner - the hub of the system. [CLICK 2] The combiner passes the leaf to the disease model, which returns the disease name and a confidence - here, apple scab at 0.86 - and the soil photo to the soil model, which returns soil type, moisture and texture. [CLICK 3] Now the key step. The combiner writes one question in the language the texts use - not 'apple scab', but 'dark, rough, scabby patches spreading over the leaf of a tree in moist alluvial soil'. [CLICK 4] That question searches the knowledge base - the six texts cut into 327 numbered passages - and the five best-matching passages come back. [CLICK 5] The answer writer composes the advice using only those five passages and cites the verse - or refuses if nothing fits. The farmer receives the advice, the source verse, a heat-map of where the model looked, and the passages themselves.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[1:25-2:55]  (frame 4/5)  [CLICK 1] The farmer sends a leaf photo and a soil photo, names the crop, and may add a suspected cause. All of it goes to the combiner - the hub of the system. [CLICK 2] The combiner passes the leaf to the disease model, which returns the disease name and a confidence - here, apple scab at 0.86 - and the soil photo to the soil model, which returns soil type, moisture and texture. [CLICK 3] Now the key step. The combiner writes one question in the language the texts use - not 'apple scab', but 'dark, rough, scabby patches spreading over the leaf of a tree in moist alluvial soil'. [CLICK 4] That question searches the knowledge base - the six texts cut into 327 numbered passages - and the five best-matching passages come back. [CLICK 5] The answer writer composes the advice using only those five passages and cites the verse - or refuses if nothing fits. The farmer receives the advice, the source verse, a heat-map of where the model looked, and the passages themselves.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[1:25-2:55]  (frame 5/5)  [CLICK 1] The farmer sends a leaf photo and a soil photo, names the crop, and may add a suspected cause. All of it goes to the combiner - the hub of the system. [CLICK 2] The combiner passes the leaf to the disease model, which returns the disease name and a confidence - here, apple scab at 0.86 - and the soil photo to the soil model, which returns soil type, moisture and texture. [CLICK 3] Now the key step. The combiner writes one question in the language the texts use - not 'apple scab', but 'dark, rough, scabby patches spreading over the leaf of a tree in moist alluvial soil'. [CLICK 4] That question searches the knowledge base - the six texts cut into 327 numbered passages - and the five best-matching passages come back. [CLICK 5] The answer writer composes the advice using only those five passages and cites the verse - or refuses if nothing fits. The farmer receives the advice, the source verse, a heat-map of where the model looked, and the passages themselves.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[2:55-3:35]  Why is that rewriting the contribution? Search the texts for 'apple scab' and you get almost nothing - relevance 0.01 to 0.04 - because the phrase does not exist in classical literature. Search for 'dark, rough, scabby patches spreading over the leaf' and relevance jumps to 0.59 to 0.96. The texts prescribe by symptom, not by crop. And because a symptom carries across plants, the system can advise - cautiously, with a confidence figure - even on a crop it was never trained for.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[3:35-4:10]  This is the interface. On the left, the inputs: leaf photo, soil photo, the crop, an optional suspected cause. On the right: the diagnosis with a confidence, a heat-map of the leaf region the model examined, the recommendation with its citation from Vrikshayurveda, and the retrieved passages themselves so anyone can check the source. If the texts are silent, this panel says so honestly.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[4:10-4:40]  Four guarantees make this safe for indigenous knowledge. It cites the verse. It refuses when the texts are silent - in our evaluation, one hundred percent honest refusal and zero fabricated citations. Its attention is verified - early on the heat-map showed the model reading the background of field photos, and we retrained until it reads the lesion. And uncertain cases go to an agricultural expert - a human in the loop.</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[4:40-5:00]  Why this matters for revitalising IKS: a verse that is retrieved and cited in a farmer's advisory is preserved, transmitted and validated at once - and nothing is distorted, because everything traces to its source. Next: validation with agronomists, adding Vishvavallabha, and an expert-built evaluation set. Thank you - happy to take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jp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4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49240"/>
            <a:ext cx="12191695" cy="64008"/>
          </a:xfrm>
          <a:prstGeom prst="rect">
            <a:avLst/>
          </a:prstGeom>
          <a:solidFill>
            <a:srgbClr val="C88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48640"/>
            <a:ext cx="10698480" cy="365760"/>
          </a:xfrm>
          <a:prstGeom prst="rect">
            <a:avLst/>
          </a:prstGeom>
          <a:noFill/>
        </p:spPr>
        <p:txBody>
          <a:bodyPr wrap="square" lIns="64008" tIns="27432" rIns="64008" bIns="27432" anchor="t">
            <a:spAutoFit/>
          </a:bodyPr>
          <a:lstStyle/>
          <a:p>
            <a:pPr algn="l">
              <a:lnSpc>
                <a:spcPct val="108000"/>
              </a:lnSpc>
            </a:pPr>
            <a:r>
              <a:rPr sz="1300" b="0" i="0">
                <a:solidFill>
                  <a:srgbClr val="D9E4DB"/>
                </a:solidFill>
                <a:latin typeface="Calibri"/>
              </a:rPr>
              <a:t>International Seminar on Revitalising Indigenous Knowledge Systems  ·  ICSSR  ·  11–12 September 2026</a:t>
            </a:r>
          </a:p>
        </p:txBody>
      </p:sp>
      <p:sp>
        <p:nvSpPr>
          <p:cNvPr id="5" name="TextBox 4"/>
          <p:cNvSpPr txBox="1"/>
          <p:nvPr/>
        </p:nvSpPr>
        <p:spPr>
          <a:xfrm>
            <a:off x="731520" y="868680"/>
            <a:ext cx="10698480" cy="365760"/>
          </a:xfrm>
          <a:prstGeom prst="rect">
            <a:avLst/>
          </a:prstGeom>
          <a:noFill/>
        </p:spPr>
        <p:txBody>
          <a:bodyPr wrap="square" lIns="64008" tIns="27432" rIns="64008" bIns="27432" anchor="t">
            <a:spAutoFit/>
          </a:bodyPr>
          <a:lstStyle/>
          <a:p>
            <a:pPr algn="l">
              <a:lnSpc>
                <a:spcPct val="108000"/>
              </a:lnSpc>
            </a:pPr>
            <a:r>
              <a:rPr sz="1300" b="0" i="1">
                <a:solidFill>
                  <a:srgbClr val="D9E4DB"/>
                </a:solidFill>
                <a:latin typeface="Calibri"/>
              </a:rPr>
              <a:t>Sub-theme: Digital Preservation, Artificial Intelligence, and Documentation of Indigenous Knowledge</a:t>
            </a:r>
          </a:p>
        </p:txBody>
      </p:sp>
      <p:sp>
        <p:nvSpPr>
          <p:cNvPr id="6" name="TextBox 5"/>
          <p:cNvSpPr txBox="1"/>
          <p:nvPr/>
        </p:nvSpPr>
        <p:spPr>
          <a:xfrm>
            <a:off x="731520" y="1691640"/>
            <a:ext cx="10698480" cy="1280160"/>
          </a:xfrm>
          <a:prstGeom prst="rect">
            <a:avLst/>
          </a:prstGeom>
          <a:noFill/>
        </p:spPr>
        <p:txBody>
          <a:bodyPr wrap="square" lIns="64008" tIns="27432" rIns="64008" bIns="27432" anchor="t">
            <a:spAutoFit/>
          </a:bodyPr>
          <a:lstStyle/>
          <a:p>
            <a:pPr algn="l">
              <a:lnSpc>
                <a:spcPct val="108000"/>
              </a:lnSpc>
            </a:pPr>
            <a:r>
              <a:rPr sz="3800" b="1" i="0">
                <a:solidFill>
                  <a:srgbClr val="FFFFFF"/>
                </a:solidFill>
                <a:latin typeface="Georgia"/>
              </a:rPr>
              <a:t>An IKS-Grounded Multimodal Advisory System</a:t>
            </a:r>
          </a:p>
        </p:txBody>
      </p:sp>
      <p:sp>
        <p:nvSpPr>
          <p:cNvPr id="7" name="TextBox 6"/>
          <p:cNvSpPr txBox="1"/>
          <p:nvPr/>
        </p:nvSpPr>
        <p:spPr>
          <a:xfrm>
            <a:off x="731520" y="2788920"/>
            <a:ext cx="10698480" cy="914400"/>
          </a:xfrm>
          <a:prstGeom prst="rect">
            <a:avLst/>
          </a:prstGeom>
          <a:noFill/>
        </p:spPr>
        <p:txBody>
          <a:bodyPr wrap="square" lIns="64008" tIns="27432" rIns="64008" bIns="27432" anchor="t">
            <a:spAutoFit/>
          </a:bodyPr>
          <a:lstStyle/>
          <a:p>
            <a:pPr algn="l">
              <a:lnSpc>
                <a:spcPct val="108000"/>
              </a:lnSpc>
            </a:pPr>
            <a:r>
              <a:rPr sz="2200" b="0" i="0">
                <a:solidFill>
                  <a:srgbClr val="ECD9B0"/>
                </a:solidFill>
                <a:latin typeface="Georgia"/>
              </a:rPr>
              <a:t>Connecting Image-Based Plant Diagnosis with Classical Indian Agricultural Texts</a:t>
            </a:r>
          </a:p>
        </p:txBody>
      </p:sp>
      <p:sp>
        <p:nvSpPr>
          <p:cNvPr id="8" name="TextBox 7"/>
          <p:cNvSpPr txBox="1"/>
          <p:nvPr/>
        </p:nvSpPr>
        <p:spPr>
          <a:xfrm>
            <a:off x="731520" y="4069080"/>
            <a:ext cx="10515600" cy="457200"/>
          </a:xfrm>
          <a:prstGeom prst="rect">
            <a:avLst/>
          </a:prstGeom>
          <a:noFill/>
        </p:spPr>
        <p:txBody>
          <a:bodyPr wrap="square" lIns="64008" tIns="27432" rIns="64008" bIns="27432" anchor="t">
            <a:spAutoFit/>
          </a:bodyPr>
          <a:lstStyle/>
          <a:p>
            <a:pPr algn="l">
              <a:lnSpc>
                <a:spcPct val="108000"/>
              </a:lnSpc>
            </a:pPr>
            <a:r>
              <a:rPr sz="1700" b="0" i="0">
                <a:solidFill>
                  <a:srgbClr val="C8891E"/>
                </a:solidFill>
                <a:latin typeface="Calibri"/>
              </a:rPr>
              <a:t>वृक्षायुर्वेद  ·  बृहत्संहिता  ·  कृषिपराशर  ·  उपवनविनोद  ·  काश्यपीयकृषिसूक्ति  ·  विश्ववल्लभ</a:t>
            </a:r>
          </a:p>
        </p:txBody>
      </p:sp>
      <p:sp>
        <p:nvSpPr>
          <p:cNvPr id="9" name="TextBox 8"/>
          <p:cNvSpPr txBox="1"/>
          <p:nvPr/>
        </p:nvSpPr>
        <p:spPr>
          <a:xfrm>
            <a:off x="731520" y="5577840"/>
            <a:ext cx="10515600" cy="457200"/>
          </a:xfrm>
          <a:prstGeom prst="rect">
            <a:avLst/>
          </a:prstGeom>
          <a:noFill/>
        </p:spPr>
        <p:txBody>
          <a:bodyPr wrap="square" lIns="64008" tIns="27432" rIns="64008" bIns="27432" anchor="t">
            <a:spAutoFit/>
          </a:bodyPr>
          <a:lstStyle/>
          <a:p>
            <a:pPr algn="l">
              <a:lnSpc>
                <a:spcPct val="108000"/>
              </a:lnSpc>
            </a:pPr>
            <a:r>
              <a:rPr sz="2100" b="1" i="0">
                <a:solidFill>
                  <a:srgbClr val="FFFFFF"/>
                </a:solidFill>
                <a:latin typeface="Calibri"/>
              </a:rPr>
              <a:t>Ankit Pawar   ·   Dr. Akshay Pandey (Supervisor)</a:t>
            </a:r>
          </a:p>
        </p:txBody>
      </p:sp>
      <p:sp>
        <p:nvSpPr>
          <p:cNvPr id="10" name="TextBox 9"/>
          <p:cNvSpPr txBox="1"/>
          <p:nvPr/>
        </p:nvSpPr>
        <p:spPr>
          <a:xfrm>
            <a:off x="731520" y="5989320"/>
            <a:ext cx="10515600" cy="457200"/>
          </a:xfrm>
          <a:prstGeom prst="rect">
            <a:avLst/>
          </a:prstGeom>
          <a:noFill/>
        </p:spPr>
        <p:txBody>
          <a:bodyPr wrap="square" lIns="64008" tIns="27432" rIns="64008" bIns="27432" anchor="t">
            <a:spAutoFit/>
          </a:bodyPr>
          <a:lstStyle/>
          <a:p>
            <a:pPr algn="l">
              <a:lnSpc>
                <a:spcPct val="108000"/>
              </a:lnSpc>
            </a:pPr>
            <a:r>
              <a:rPr sz="1300" b="0" i="0">
                <a:solidFill>
                  <a:srgbClr val="D9E4DB"/>
                </a:solidFill>
                <a:latin typeface="Calibri"/>
              </a:rPr>
              <a:t>Department of Computer Science &amp; Engineering, PDPM Indian Institute of Information Technology, Design and Manufacturing, Jabalpur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F4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56032"/>
            <a:ext cx="8229600" cy="320040"/>
          </a:xfrm>
          <a:prstGeom prst="rect">
            <a:avLst/>
          </a:prstGeom>
          <a:noFill/>
        </p:spPr>
        <p:txBody>
          <a:bodyPr wrap="square" lIns="64008" tIns="27432" rIns="64008" bIns="27432" anchor="t">
            <a:spAutoFit/>
          </a:bodyPr>
          <a:lstStyle/>
          <a:p>
            <a:pPr algn="l">
              <a:lnSpc>
                <a:spcPct val="108000"/>
              </a:lnSpc>
            </a:pPr>
            <a:r>
              <a:rPr sz="1200" b="1" i="0">
                <a:solidFill>
                  <a:srgbClr val="C8891E"/>
                </a:solidFill>
                <a:latin typeface="Calibri"/>
              </a:rPr>
              <a:t>THE PROBLEM</a:t>
            </a:r>
          </a:p>
        </p:txBody>
      </p:sp>
      <p:sp>
        <p:nvSpPr>
          <p:cNvPr id="5" name="TextBox 4"/>
          <p:cNvSpPr txBox="1"/>
          <p:nvPr/>
        </p:nvSpPr>
        <p:spPr>
          <a:xfrm>
            <a:off x="457200" y="502920"/>
            <a:ext cx="11247120" cy="731520"/>
          </a:xfrm>
          <a:prstGeom prst="rect">
            <a:avLst/>
          </a:prstGeom>
          <a:noFill/>
        </p:spPr>
        <p:txBody>
          <a:bodyPr wrap="square" lIns="64008" tIns="27432" rIns="64008" bIns="27432" anchor="t">
            <a:spAutoFit/>
          </a:bodyPr>
          <a:lstStyle/>
          <a:p>
            <a:pPr algn="l">
              <a:lnSpc>
                <a:spcPct val="108000"/>
              </a:lnSpc>
            </a:pPr>
            <a:r>
              <a:rPr sz="3000" b="1" i="0">
                <a:solidFill>
                  <a:srgbClr val="1F4D2E"/>
                </a:solidFill>
                <a:latin typeface="Georgia"/>
              </a:rPr>
              <a:t>Centuries of plant-care knowledge — locked on the shelf</a:t>
            </a:r>
          </a:p>
        </p:txBody>
      </p:sp>
      <p:sp>
        <p:nvSpPr>
          <p:cNvPr id="6" name="TextBox 5"/>
          <p:cNvSpPr txBox="1"/>
          <p:nvPr/>
        </p:nvSpPr>
        <p:spPr>
          <a:xfrm>
            <a:off x="457200" y="6473952"/>
            <a:ext cx="8229600" cy="274320"/>
          </a:xfrm>
          <a:prstGeom prst="rect">
            <a:avLst/>
          </a:prstGeom>
          <a:noFill/>
        </p:spPr>
        <p:txBody>
          <a:bodyPr wrap="square" lIns="64008" tIns="27432" rIns="64008" bIns="27432" anchor="t">
            <a:spAutoFit/>
          </a:bodyPr>
          <a:lstStyle/>
          <a:p>
            <a:pPr algn="l">
              <a:lnSpc>
                <a:spcPct val="108000"/>
              </a:lnSpc>
            </a:pPr>
            <a:r>
              <a:rPr sz="1000" b="0" i="0">
                <a:solidFill>
                  <a:srgbClr val="666666"/>
                </a:solidFill>
                <a:latin typeface="Calibri"/>
              </a:rPr>
              <a:t>Ankit Pawar · Dr. Akshay Pandey  |  PDPM IIITDM Jabalpur</a:t>
            </a:r>
          </a:p>
        </p:txBody>
      </p:sp>
      <p:sp>
        <p:nvSpPr>
          <p:cNvPr id="7" name="Rounded Rectangle 6"/>
          <p:cNvSpPr/>
          <p:nvPr/>
        </p:nvSpPr>
        <p:spPr>
          <a:xfrm>
            <a:off x="457200" y="1371600"/>
            <a:ext cx="3931920" cy="4846320"/>
          </a:xfrm>
          <a:prstGeom prst="roundRect">
            <a:avLst/>
          </a:prstGeom>
          <a:solidFill>
            <a:srgbClr val="FFFCF5"/>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_sq_leaf_apple_scab.jpg"/>
          <p:cNvPicPr>
            <a:picLocks noChangeAspect="1"/>
          </p:cNvPicPr>
          <p:nvPr/>
        </p:nvPicPr>
        <p:blipFill>
          <a:blip r:embed="rId3"/>
          <a:stretch>
            <a:fillRect/>
          </a:stretch>
        </p:blipFill>
        <p:spPr>
          <a:xfrm>
            <a:off x="685800" y="1600200"/>
            <a:ext cx="1371600" cy="1371600"/>
          </a:xfrm>
          <a:prstGeom prst="rect">
            <a:avLst/>
          </a:prstGeom>
        </p:spPr>
      </p:pic>
      <p:sp>
        <p:nvSpPr>
          <p:cNvPr id="9" name="TextBox 8"/>
          <p:cNvSpPr txBox="1"/>
          <p:nvPr/>
        </p:nvSpPr>
        <p:spPr>
          <a:xfrm>
            <a:off x="2194560" y="1600200"/>
            <a:ext cx="2103120" cy="1463040"/>
          </a:xfrm>
          <a:prstGeom prst="rect">
            <a:avLst/>
          </a:prstGeom>
          <a:noFill/>
        </p:spPr>
        <p:txBody>
          <a:bodyPr wrap="square" lIns="64008" tIns="27432" rIns="64008" bIns="27432" anchor="t">
            <a:spAutoFit/>
          </a:bodyPr>
          <a:lstStyle/>
          <a:p>
            <a:pPr algn="l">
              <a:lnSpc>
                <a:spcPct val="108000"/>
              </a:lnSpc>
            </a:pPr>
            <a:r>
              <a:rPr sz="1600" b="0" i="0">
                <a:solidFill>
                  <a:srgbClr val="222222"/>
                </a:solidFill>
                <a:latin typeface="Calibri"/>
              </a:rPr>
              <a:t>A farmer sees</a:t>
            </a:r>
          </a:p>
          <a:p>
            <a:pPr algn="l">
              <a:lnSpc>
                <a:spcPct val="108000"/>
              </a:lnSpc>
            </a:pPr>
            <a:r>
              <a:rPr sz="1600" b="0" i="0">
                <a:solidFill>
                  <a:srgbClr val="222222"/>
                </a:solidFill>
                <a:latin typeface="Calibri"/>
              </a:rPr>
              <a:t>dark, scabby patches</a:t>
            </a:r>
          </a:p>
          <a:p>
            <a:pPr algn="l">
              <a:lnSpc>
                <a:spcPct val="108000"/>
              </a:lnSpc>
            </a:pPr>
            <a:r>
              <a:rPr sz="1600" b="0" i="0">
                <a:solidFill>
                  <a:srgbClr val="222222"/>
                </a:solidFill>
                <a:latin typeface="Calibri"/>
              </a:rPr>
              <a:t>on apple leaves.</a:t>
            </a:r>
          </a:p>
        </p:txBody>
      </p:sp>
      <p:sp>
        <p:nvSpPr>
          <p:cNvPr id="10" name="TextBox 9"/>
          <p:cNvSpPr txBox="1"/>
          <p:nvPr/>
        </p:nvSpPr>
        <p:spPr>
          <a:xfrm>
            <a:off x="685800" y="3108960"/>
            <a:ext cx="3566160" cy="365760"/>
          </a:xfrm>
          <a:prstGeom prst="rect">
            <a:avLst/>
          </a:prstGeom>
          <a:noFill/>
        </p:spPr>
        <p:txBody>
          <a:bodyPr wrap="square" lIns="64008" tIns="27432" rIns="64008" bIns="27432" anchor="t">
            <a:spAutoFit/>
          </a:bodyPr>
          <a:lstStyle/>
          <a:p>
            <a:pPr algn="l">
              <a:lnSpc>
                <a:spcPct val="108000"/>
              </a:lnSpc>
            </a:pPr>
            <a:r>
              <a:rPr sz="1500" b="1" i="0">
                <a:solidFill>
                  <a:srgbClr val="1F4D2E"/>
                </a:solidFill>
                <a:latin typeface="Calibri"/>
              </a:rPr>
              <a:t>Where does advice come from today?</a:t>
            </a:r>
          </a:p>
        </p:txBody>
      </p:sp>
      <p:sp>
        <p:nvSpPr>
          <p:cNvPr id="11" name="TextBox 10"/>
          <p:cNvSpPr txBox="1"/>
          <p:nvPr/>
        </p:nvSpPr>
        <p:spPr>
          <a:xfrm>
            <a:off x="685800" y="3474720"/>
            <a:ext cx="3566160" cy="822960"/>
          </a:xfrm>
          <a:prstGeom prst="rect">
            <a:avLst/>
          </a:prstGeom>
          <a:noFill/>
        </p:spPr>
        <p:txBody>
          <a:bodyPr wrap="square" lIns="64008" rIns="64008">
            <a:spAutoFit/>
          </a:bodyPr>
          <a:lstStyle/>
          <a:p>
            <a:pPr>
              <a:spcAft>
                <a:spcPts val="600"/>
              </a:spcAft>
            </a:pPr>
            <a:r>
              <a:rPr sz="1400">
                <a:solidFill>
                  <a:srgbClr val="222222"/>
                </a:solidFill>
                <a:latin typeface="Calibri"/>
              </a:rPr>
              <a:t>•  A chemical dealer</a:t>
            </a:r>
          </a:p>
          <a:p>
            <a:pPr>
              <a:spcAft>
                <a:spcPts val="600"/>
              </a:spcAft>
            </a:pPr>
            <a:r>
              <a:rPr sz="1400">
                <a:solidFill>
                  <a:srgbClr val="222222"/>
                </a:solidFill>
                <a:latin typeface="Calibri"/>
              </a:rPr>
              <a:t>•  An AI chatbot ↓</a:t>
            </a:r>
          </a:p>
        </p:txBody>
      </p:sp>
      <p:sp>
        <p:nvSpPr>
          <p:cNvPr id="12" name="Rounded Rectangle 11"/>
          <p:cNvSpPr/>
          <p:nvPr/>
        </p:nvSpPr>
        <p:spPr>
          <a:xfrm>
            <a:off x="685800" y="4251960"/>
            <a:ext cx="3474720" cy="1828800"/>
          </a:xfrm>
          <a:prstGeom prst="roundRect">
            <a:avLst/>
          </a:prstGeom>
          <a:solidFill>
            <a:srgbClr val="FBEFD9"/>
          </a:solidFill>
          <a:ln w="19050">
            <a:solidFill>
              <a:srgbClr val="C889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60" y="4315968"/>
            <a:ext cx="3200400" cy="320040"/>
          </a:xfrm>
          <a:prstGeom prst="rect">
            <a:avLst/>
          </a:prstGeom>
          <a:noFill/>
        </p:spPr>
        <p:txBody>
          <a:bodyPr wrap="square" lIns="64008" tIns="27432" rIns="64008" bIns="27432" anchor="t">
            <a:spAutoFit/>
          </a:bodyPr>
          <a:lstStyle/>
          <a:p>
            <a:pPr algn="l">
              <a:lnSpc>
                <a:spcPct val="108000"/>
              </a:lnSpc>
            </a:pPr>
            <a:r>
              <a:rPr sz="1100" b="1" i="0">
                <a:solidFill>
                  <a:srgbClr val="B03A2E"/>
                </a:solidFill>
                <a:latin typeface="Calibri"/>
              </a:rPr>
              <a:t>THE HALLUCINATION PROBLEM</a:t>
            </a:r>
          </a:p>
        </p:txBody>
      </p:sp>
      <p:sp>
        <p:nvSpPr>
          <p:cNvPr id="14" name="TextBox 13"/>
          <p:cNvSpPr txBox="1"/>
          <p:nvPr/>
        </p:nvSpPr>
        <p:spPr>
          <a:xfrm>
            <a:off x="822960" y="4617720"/>
            <a:ext cx="3200400" cy="1463040"/>
          </a:xfrm>
          <a:prstGeom prst="rect">
            <a:avLst/>
          </a:prstGeom>
          <a:noFill/>
        </p:spPr>
        <p:txBody>
          <a:bodyPr wrap="square" lIns="64008" tIns="27432" rIns="64008" bIns="27432" anchor="t">
            <a:spAutoFit/>
          </a:bodyPr>
          <a:lstStyle/>
          <a:p>
            <a:pPr algn="l">
              <a:lnSpc>
                <a:spcPct val="112000"/>
              </a:lnSpc>
            </a:pPr>
            <a:r>
              <a:rPr sz="1300" b="0" i="0">
                <a:solidFill>
                  <a:srgbClr val="222222"/>
                </a:solidFill>
                <a:latin typeface="Calibri"/>
              </a:rPr>
              <a:t>Chatbots answer confidently even when they do not know — and invent facts and sources. For indigenous knowledge that few people can verify, that is dangerous.</a:t>
            </a:r>
          </a:p>
        </p:txBody>
      </p:sp>
      <p:sp>
        <p:nvSpPr>
          <p:cNvPr id="15" name="TextBox 14"/>
          <p:cNvSpPr txBox="1"/>
          <p:nvPr/>
        </p:nvSpPr>
        <p:spPr>
          <a:xfrm>
            <a:off x="4663440" y="1371600"/>
            <a:ext cx="7132320" cy="365760"/>
          </a:xfrm>
          <a:prstGeom prst="rect">
            <a:avLst/>
          </a:prstGeom>
          <a:noFill/>
        </p:spPr>
        <p:txBody>
          <a:bodyPr wrap="square" lIns="64008" tIns="27432" rIns="64008" bIns="27432" anchor="t">
            <a:spAutoFit/>
          </a:bodyPr>
          <a:lstStyle/>
          <a:p>
            <a:pPr algn="l">
              <a:lnSpc>
                <a:spcPct val="108000"/>
              </a:lnSpc>
            </a:pPr>
            <a:r>
              <a:rPr sz="1600" b="1" i="0">
                <a:solidFill>
                  <a:srgbClr val="1F4D2E"/>
                </a:solidFill>
                <a:latin typeface="Calibri"/>
              </a:rPr>
              <a:t>Six classical treatises hold the knowledge…</a:t>
            </a:r>
          </a:p>
        </p:txBody>
      </p:sp>
      <p:sp>
        <p:nvSpPr>
          <p:cNvPr id="16" name="Rectangle 15"/>
          <p:cNvSpPr/>
          <p:nvPr/>
        </p:nvSpPr>
        <p:spPr>
          <a:xfrm>
            <a:off x="4663440" y="1783080"/>
            <a:ext cx="1115568" cy="1371600"/>
          </a:xfrm>
          <a:prstGeom prst="rect">
            <a:avLst/>
          </a:prstGeom>
          <a:solidFill>
            <a:srgbClr val="1F4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663440" y="1920240"/>
            <a:ext cx="1115568" cy="36576"/>
          </a:xfrm>
          <a:prstGeom prst="rect">
            <a:avLst/>
          </a:prstGeom>
          <a:solidFill>
            <a:srgbClr val="ECD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63440" y="2011680"/>
            <a:ext cx="1115568" cy="1097280"/>
          </a:xfrm>
          <a:prstGeom prst="rect">
            <a:avLst/>
          </a:prstGeom>
          <a:noFill/>
        </p:spPr>
        <p:txBody>
          <a:bodyPr wrap="square" lIns="64008" tIns="27432" rIns="64008" bIns="27432" anchor="ctr">
            <a:spAutoFit/>
          </a:bodyPr>
          <a:lstStyle/>
          <a:p>
            <a:pPr algn="ctr">
              <a:lnSpc>
                <a:spcPct val="108000"/>
              </a:lnSpc>
            </a:pPr>
            <a:r>
              <a:rPr sz="1200" b="1" i="0">
                <a:solidFill>
                  <a:srgbClr val="FFFFFF"/>
                </a:solidFill>
                <a:latin typeface="Georgia"/>
              </a:rPr>
              <a:t>Vriksha-</a:t>
            </a:r>
          </a:p>
          <a:p>
            <a:pPr algn="ctr">
              <a:lnSpc>
                <a:spcPct val="108000"/>
              </a:lnSpc>
            </a:pPr>
            <a:r>
              <a:rPr sz="1200" b="1" i="0">
                <a:solidFill>
                  <a:srgbClr val="FFFFFF"/>
                </a:solidFill>
                <a:latin typeface="Georgia"/>
              </a:rPr>
              <a:t>yurveda</a:t>
            </a:r>
          </a:p>
        </p:txBody>
      </p:sp>
      <p:sp>
        <p:nvSpPr>
          <p:cNvPr id="19" name="Rectangle 18"/>
          <p:cNvSpPr/>
          <p:nvPr/>
        </p:nvSpPr>
        <p:spPr>
          <a:xfrm>
            <a:off x="5861304" y="1783080"/>
            <a:ext cx="1115568" cy="1371600"/>
          </a:xfrm>
          <a:prstGeom prst="rect">
            <a:avLst/>
          </a:prstGeom>
          <a:solidFill>
            <a:srgbClr val="2E6B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861304" y="1920240"/>
            <a:ext cx="1115568" cy="36576"/>
          </a:xfrm>
          <a:prstGeom prst="rect">
            <a:avLst/>
          </a:prstGeom>
          <a:solidFill>
            <a:srgbClr val="ECD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861304" y="2011680"/>
            <a:ext cx="1115568" cy="1097280"/>
          </a:xfrm>
          <a:prstGeom prst="rect">
            <a:avLst/>
          </a:prstGeom>
          <a:noFill/>
        </p:spPr>
        <p:txBody>
          <a:bodyPr wrap="square" lIns="64008" tIns="27432" rIns="64008" bIns="27432" anchor="ctr">
            <a:spAutoFit/>
          </a:bodyPr>
          <a:lstStyle/>
          <a:p>
            <a:pPr algn="ctr">
              <a:lnSpc>
                <a:spcPct val="108000"/>
              </a:lnSpc>
            </a:pPr>
            <a:r>
              <a:rPr sz="1200" b="1" i="0">
                <a:solidFill>
                  <a:srgbClr val="FFFFFF"/>
                </a:solidFill>
                <a:latin typeface="Georgia"/>
              </a:rPr>
              <a:t>Brihat</a:t>
            </a:r>
          </a:p>
          <a:p>
            <a:pPr algn="ctr">
              <a:lnSpc>
                <a:spcPct val="108000"/>
              </a:lnSpc>
            </a:pPr>
            <a:r>
              <a:rPr sz="1200" b="1" i="0">
                <a:solidFill>
                  <a:srgbClr val="FFFFFF"/>
                </a:solidFill>
                <a:latin typeface="Georgia"/>
              </a:rPr>
              <a:t>Samhita</a:t>
            </a:r>
          </a:p>
        </p:txBody>
      </p:sp>
      <p:sp>
        <p:nvSpPr>
          <p:cNvPr id="22" name="Rectangle 21"/>
          <p:cNvSpPr/>
          <p:nvPr/>
        </p:nvSpPr>
        <p:spPr>
          <a:xfrm>
            <a:off x="7059168" y="1783080"/>
            <a:ext cx="1115568" cy="1371600"/>
          </a:xfrm>
          <a:prstGeom prst="rect">
            <a:avLst/>
          </a:prstGeom>
          <a:solidFill>
            <a:srgbClr val="C88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059168" y="1920240"/>
            <a:ext cx="1115568" cy="36576"/>
          </a:xfrm>
          <a:prstGeom prst="rect">
            <a:avLst/>
          </a:prstGeom>
          <a:solidFill>
            <a:srgbClr val="ECD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059168" y="2011680"/>
            <a:ext cx="1115568" cy="1097280"/>
          </a:xfrm>
          <a:prstGeom prst="rect">
            <a:avLst/>
          </a:prstGeom>
          <a:noFill/>
        </p:spPr>
        <p:txBody>
          <a:bodyPr wrap="square" lIns="64008" tIns="27432" rIns="64008" bIns="27432" anchor="ctr">
            <a:spAutoFit/>
          </a:bodyPr>
          <a:lstStyle/>
          <a:p>
            <a:pPr algn="ctr">
              <a:lnSpc>
                <a:spcPct val="108000"/>
              </a:lnSpc>
            </a:pPr>
            <a:r>
              <a:rPr sz="1200" b="1" i="0">
                <a:solidFill>
                  <a:srgbClr val="FFFFFF"/>
                </a:solidFill>
                <a:latin typeface="Georgia"/>
              </a:rPr>
              <a:t>Krishi</a:t>
            </a:r>
          </a:p>
          <a:p>
            <a:pPr algn="ctr">
              <a:lnSpc>
                <a:spcPct val="108000"/>
              </a:lnSpc>
            </a:pPr>
            <a:r>
              <a:rPr sz="1200" b="1" i="0">
                <a:solidFill>
                  <a:srgbClr val="FFFFFF"/>
                </a:solidFill>
                <a:latin typeface="Georgia"/>
              </a:rPr>
              <a:t>Parashara</a:t>
            </a:r>
          </a:p>
        </p:txBody>
      </p:sp>
      <p:sp>
        <p:nvSpPr>
          <p:cNvPr id="25" name="Rectangle 24"/>
          <p:cNvSpPr/>
          <p:nvPr/>
        </p:nvSpPr>
        <p:spPr>
          <a:xfrm>
            <a:off x="8257032" y="1783080"/>
            <a:ext cx="1115568" cy="1371600"/>
          </a:xfrm>
          <a:prstGeom prst="rect">
            <a:avLst/>
          </a:prstGeom>
          <a:solidFill>
            <a:srgbClr val="8C5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257032" y="1920240"/>
            <a:ext cx="1115568" cy="36576"/>
          </a:xfrm>
          <a:prstGeom prst="rect">
            <a:avLst/>
          </a:prstGeom>
          <a:solidFill>
            <a:srgbClr val="ECD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57032" y="2011680"/>
            <a:ext cx="1115568" cy="1097280"/>
          </a:xfrm>
          <a:prstGeom prst="rect">
            <a:avLst/>
          </a:prstGeom>
          <a:noFill/>
        </p:spPr>
        <p:txBody>
          <a:bodyPr wrap="square" lIns="64008" tIns="27432" rIns="64008" bIns="27432" anchor="ctr">
            <a:spAutoFit/>
          </a:bodyPr>
          <a:lstStyle/>
          <a:p>
            <a:pPr algn="ctr">
              <a:lnSpc>
                <a:spcPct val="108000"/>
              </a:lnSpc>
            </a:pPr>
            <a:r>
              <a:rPr sz="1200" b="1" i="0">
                <a:solidFill>
                  <a:srgbClr val="FFFFFF"/>
                </a:solidFill>
                <a:latin typeface="Georgia"/>
              </a:rPr>
              <a:t>Upavana-</a:t>
            </a:r>
          </a:p>
          <a:p>
            <a:pPr algn="ctr">
              <a:lnSpc>
                <a:spcPct val="108000"/>
              </a:lnSpc>
            </a:pPr>
            <a:r>
              <a:rPr sz="1200" b="1" i="0">
                <a:solidFill>
                  <a:srgbClr val="FFFFFF"/>
                </a:solidFill>
                <a:latin typeface="Georgia"/>
              </a:rPr>
              <a:t>vinoda</a:t>
            </a:r>
          </a:p>
        </p:txBody>
      </p:sp>
      <p:sp>
        <p:nvSpPr>
          <p:cNvPr id="28" name="Rectangle 27"/>
          <p:cNvSpPr/>
          <p:nvPr/>
        </p:nvSpPr>
        <p:spPr>
          <a:xfrm>
            <a:off x="9454896" y="1783080"/>
            <a:ext cx="1115568" cy="1371600"/>
          </a:xfrm>
          <a:prstGeom prst="rect">
            <a:avLst/>
          </a:prstGeom>
          <a:solidFill>
            <a:srgbClr val="3B6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9454896" y="1920240"/>
            <a:ext cx="1115568" cy="36576"/>
          </a:xfrm>
          <a:prstGeom prst="rect">
            <a:avLst/>
          </a:prstGeom>
          <a:solidFill>
            <a:srgbClr val="ECD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454896" y="2011680"/>
            <a:ext cx="1115568" cy="1097280"/>
          </a:xfrm>
          <a:prstGeom prst="rect">
            <a:avLst/>
          </a:prstGeom>
          <a:noFill/>
        </p:spPr>
        <p:txBody>
          <a:bodyPr wrap="square" lIns="64008" tIns="27432" rIns="64008" bIns="27432" anchor="ctr">
            <a:spAutoFit/>
          </a:bodyPr>
          <a:lstStyle/>
          <a:p>
            <a:pPr algn="ctr">
              <a:lnSpc>
                <a:spcPct val="108000"/>
              </a:lnSpc>
            </a:pPr>
            <a:r>
              <a:rPr sz="1200" b="1" i="0">
                <a:solidFill>
                  <a:srgbClr val="FFFFFF"/>
                </a:solidFill>
                <a:latin typeface="Georgia"/>
              </a:rPr>
              <a:t>Kashyapiya</a:t>
            </a:r>
          </a:p>
          <a:p>
            <a:pPr algn="ctr">
              <a:lnSpc>
                <a:spcPct val="108000"/>
              </a:lnSpc>
            </a:pPr>
            <a:r>
              <a:rPr sz="1200" b="1" i="0">
                <a:solidFill>
                  <a:srgbClr val="FFFFFF"/>
                </a:solidFill>
                <a:latin typeface="Georgia"/>
              </a:rPr>
              <a:t>Krishisukti</a:t>
            </a:r>
          </a:p>
        </p:txBody>
      </p:sp>
      <p:sp>
        <p:nvSpPr>
          <p:cNvPr id="31" name="Rectangle 30"/>
          <p:cNvSpPr/>
          <p:nvPr/>
        </p:nvSpPr>
        <p:spPr>
          <a:xfrm>
            <a:off x="10652760" y="1783080"/>
            <a:ext cx="1115568" cy="1371600"/>
          </a:xfrm>
          <a:prstGeom prst="rect">
            <a:avLst/>
          </a:prstGeom>
          <a:solidFill>
            <a:srgbClr val="A37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0652760" y="1920240"/>
            <a:ext cx="1115568" cy="36576"/>
          </a:xfrm>
          <a:prstGeom prst="rect">
            <a:avLst/>
          </a:prstGeom>
          <a:solidFill>
            <a:srgbClr val="ECD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52760" y="2011680"/>
            <a:ext cx="1115568" cy="1097280"/>
          </a:xfrm>
          <a:prstGeom prst="rect">
            <a:avLst/>
          </a:prstGeom>
          <a:noFill/>
        </p:spPr>
        <p:txBody>
          <a:bodyPr wrap="square" lIns="64008" tIns="27432" rIns="64008" bIns="27432" anchor="ctr">
            <a:spAutoFit/>
          </a:bodyPr>
          <a:lstStyle/>
          <a:p>
            <a:pPr algn="ctr">
              <a:lnSpc>
                <a:spcPct val="108000"/>
              </a:lnSpc>
            </a:pPr>
            <a:r>
              <a:rPr sz="1200" b="1" i="0">
                <a:solidFill>
                  <a:srgbClr val="FFFFFF"/>
                </a:solidFill>
                <a:latin typeface="Georgia"/>
              </a:rPr>
              <a:t>Vishva-</a:t>
            </a:r>
          </a:p>
          <a:p>
            <a:pPr algn="ctr">
              <a:lnSpc>
                <a:spcPct val="108000"/>
              </a:lnSpc>
            </a:pPr>
            <a:r>
              <a:rPr sz="1200" b="1" i="0">
                <a:solidFill>
                  <a:srgbClr val="FFFFFF"/>
                </a:solidFill>
                <a:latin typeface="Georgia"/>
              </a:rPr>
              <a:t>vallabha</a:t>
            </a:r>
          </a:p>
        </p:txBody>
      </p:sp>
      <p:sp>
        <p:nvSpPr>
          <p:cNvPr id="34" name="TextBox 33"/>
          <p:cNvSpPr txBox="1"/>
          <p:nvPr/>
        </p:nvSpPr>
        <p:spPr>
          <a:xfrm>
            <a:off x="4663440" y="3291840"/>
            <a:ext cx="7132320" cy="365760"/>
          </a:xfrm>
          <a:prstGeom prst="rect">
            <a:avLst/>
          </a:prstGeom>
          <a:noFill/>
        </p:spPr>
        <p:txBody>
          <a:bodyPr wrap="square" lIns="64008" tIns="27432" rIns="64008" bIns="27432" anchor="t">
            <a:spAutoFit/>
          </a:bodyPr>
          <a:lstStyle/>
          <a:p>
            <a:pPr algn="l">
              <a:lnSpc>
                <a:spcPct val="108000"/>
              </a:lnSpc>
            </a:pPr>
            <a:r>
              <a:rPr sz="1600" b="1" i="0">
                <a:solidFill>
                  <a:srgbClr val="B03A2E"/>
                </a:solidFill>
                <a:latin typeface="Calibri"/>
              </a:rPr>
              <a:t>…but three locks keep it on the shelf</a:t>
            </a:r>
          </a:p>
        </p:txBody>
      </p:sp>
      <p:sp>
        <p:nvSpPr>
          <p:cNvPr id="35" name="Rounded Rectangle 34"/>
          <p:cNvSpPr/>
          <p:nvPr/>
        </p:nvSpPr>
        <p:spPr>
          <a:xfrm>
            <a:off x="4663440" y="3703320"/>
            <a:ext cx="7132320" cy="777240"/>
          </a:xfrm>
          <a:prstGeom prst="roundRect">
            <a:avLst/>
          </a:prstGeom>
          <a:solidFill>
            <a:srgbClr val="FFFCF5"/>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663440" y="3840480"/>
            <a:ext cx="73152" cy="50292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846320" y="3758184"/>
            <a:ext cx="2194560" cy="685800"/>
          </a:xfrm>
          <a:prstGeom prst="rect">
            <a:avLst/>
          </a:prstGeom>
          <a:noFill/>
        </p:spPr>
        <p:txBody>
          <a:bodyPr wrap="square" lIns="64008" tIns="27432" rIns="64008" bIns="27432" anchor="ctr">
            <a:spAutoFit/>
          </a:bodyPr>
          <a:lstStyle/>
          <a:p>
            <a:pPr algn="l">
              <a:lnSpc>
                <a:spcPct val="108000"/>
              </a:lnSpc>
            </a:pPr>
            <a:r>
              <a:rPr sz="1500" b="1" i="0">
                <a:solidFill>
                  <a:srgbClr val="1F4D2E"/>
                </a:solidFill>
                <a:latin typeface="Calibri"/>
              </a:rPr>
              <a:t>1  Language</a:t>
            </a:r>
          </a:p>
        </p:txBody>
      </p:sp>
      <p:sp>
        <p:nvSpPr>
          <p:cNvPr id="38" name="TextBox 37"/>
          <p:cNvSpPr txBox="1"/>
          <p:nvPr/>
        </p:nvSpPr>
        <p:spPr>
          <a:xfrm>
            <a:off x="6949440" y="3758184"/>
            <a:ext cx="4800600" cy="685800"/>
          </a:xfrm>
          <a:prstGeom prst="rect">
            <a:avLst/>
          </a:prstGeom>
          <a:noFill/>
        </p:spPr>
        <p:txBody>
          <a:bodyPr wrap="square" lIns="64008" tIns="27432" rIns="64008" bIns="27432" anchor="ctr">
            <a:spAutoFit/>
          </a:bodyPr>
          <a:lstStyle/>
          <a:p>
            <a:pPr algn="l">
              <a:lnSpc>
                <a:spcPct val="108000"/>
              </a:lnSpc>
            </a:pPr>
            <a:r>
              <a:rPr sz="1300" b="0" i="0">
                <a:solidFill>
                  <a:srgbClr val="222222"/>
                </a:solidFill>
                <a:latin typeface="Calibri"/>
              </a:rPr>
              <a:t>Sanskrit, or rare scattered translations</a:t>
            </a:r>
          </a:p>
        </p:txBody>
      </p:sp>
      <p:sp>
        <p:nvSpPr>
          <p:cNvPr id="39" name="Rounded Rectangle 38"/>
          <p:cNvSpPr/>
          <p:nvPr/>
        </p:nvSpPr>
        <p:spPr>
          <a:xfrm>
            <a:off x="4663440" y="4553712"/>
            <a:ext cx="7132320" cy="777240"/>
          </a:xfrm>
          <a:prstGeom prst="roundRect">
            <a:avLst/>
          </a:prstGeom>
          <a:solidFill>
            <a:srgbClr val="FFFCF5"/>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4663440" y="4690872"/>
            <a:ext cx="73152" cy="50292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846320" y="4608576"/>
            <a:ext cx="2194560" cy="685800"/>
          </a:xfrm>
          <a:prstGeom prst="rect">
            <a:avLst/>
          </a:prstGeom>
          <a:noFill/>
        </p:spPr>
        <p:txBody>
          <a:bodyPr wrap="square" lIns="64008" tIns="27432" rIns="64008" bIns="27432" anchor="ctr">
            <a:spAutoFit/>
          </a:bodyPr>
          <a:lstStyle/>
          <a:p>
            <a:pPr algn="l">
              <a:lnSpc>
                <a:spcPct val="108000"/>
              </a:lnSpc>
            </a:pPr>
            <a:r>
              <a:rPr sz="1500" b="1" i="0">
                <a:solidFill>
                  <a:srgbClr val="1F4D2E"/>
                </a:solidFill>
                <a:latin typeface="Calibri"/>
              </a:rPr>
              <a:t>2  No digital form</a:t>
            </a:r>
          </a:p>
        </p:txBody>
      </p:sp>
      <p:sp>
        <p:nvSpPr>
          <p:cNvPr id="42" name="TextBox 41"/>
          <p:cNvSpPr txBox="1"/>
          <p:nvPr/>
        </p:nvSpPr>
        <p:spPr>
          <a:xfrm>
            <a:off x="6949440" y="4608576"/>
            <a:ext cx="4800600" cy="685800"/>
          </a:xfrm>
          <a:prstGeom prst="rect">
            <a:avLst/>
          </a:prstGeom>
          <a:noFill/>
        </p:spPr>
        <p:txBody>
          <a:bodyPr wrap="square" lIns="64008" tIns="27432" rIns="64008" bIns="27432" anchor="ctr">
            <a:spAutoFit/>
          </a:bodyPr>
          <a:lstStyle/>
          <a:p>
            <a:pPr algn="l">
              <a:lnSpc>
                <a:spcPct val="108000"/>
              </a:lnSpc>
            </a:pPr>
            <a:r>
              <a:rPr sz="1300" b="0" i="0">
                <a:solidFill>
                  <a:srgbClr val="222222"/>
                </a:solidFill>
                <a:latin typeface="Calibri"/>
              </a:rPr>
              <a:t>Nothing structured or searchable</a:t>
            </a:r>
          </a:p>
        </p:txBody>
      </p:sp>
      <p:sp>
        <p:nvSpPr>
          <p:cNvPr id="43" name="Rounded Rectangle 42"/>
          <p:cNvSpPr/>
          <p:nvPr/>
        </p:nvSpPr>
        <p:spPr>
          <a:xfrm>
            <a:off x="4663440" y="5404104"/>
            <a:ext cx="7132320" cy="777240"/>
          </a:xfrm>
          <a:prstGeom prst="roundRect">
            <a:avLst/>
          </a:prstGeom>
          <a:solidFill>
            <a:srgbClr val="FFFCF5"/>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4663440" y="5541264"/>
            <a:ext cx="73152" cy="50292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846320" y="5458968"/>
            <a:ext cx="2194560" cy="685800"/>
          </a:xfrm>
          <a:prstGeom prst="rect">
            <a:avLst/>
          </a:prstGeom>
          <a:noFill/>
        </p:spPr>
        <p:txBody>
          <a:bodyPr wrap="square" lIns="64008" tIns="27432" rIns="64008" bIns="27432" anchor="ctr">
            <a:spAutoFit/>
          </a:bodyPr>
          <a:lstStyle/>
          <a:p>
            <a:pPr algn="l">
              <a:lnSpc>
                <a:spcPct val="108000"/>
              </a:lnSpc>
            </a:pPr>
            <a:r>
              <a:rPr sz="1500" b="1" i="0">
                <a:solidFill>
                  <a:srgbClr val="1F4D2E"/>
                </a:solidFill>
                <a:latin typeface="Calibri"/>
              </a:rPr>
              <a:t>3  Symptom, not name</a:t>
            </a:r>
          </a:p>
        </p:txBody>
      </p:sp>
      <p:sp>
        <p:nvSpPr>
          <p:cNvPr id="46" name="TextBox 45"/>
          <p:cNvSpPr txBox="1"/>
          <p:nvPr/>
        </p:nvSpPr>
        <p:spPr>
          <a:xfrm>
            <a:off x="6949440" y="5458968"/>
            <a:ext cx="4800600" cy="685800"/>
          </a:xfrm>
          <a:prstGeom prst="rect">
            <a:avLst/>
          </a:prstGeom>
          <a:noFill/>
        </p:spPr>
        <p:txBody>
          <a:bodyPr wrap="square" lIns="64008" tIns="27432" rIns="64008" bIns="27432" anchor="ctr">
            <a:spAutoFit/>
          </a:bodyPr>
          <a:lstStyle/>
          <a:p>
            <a:pPr algn="l">
              <a:lnSpc>
                <a:spcPct val="108000"/>
              </a:lnSpc>
            </a:pPr>
            <a:r>
              <a:rPr sz="1300" b="0" i="0">
                <a:solidFill>
                  <a:srgbClr val="222222"/>
                </a:solidFill>
                <a:latin typeface="Calibri"/>
              </a:rPr>
              <a:t>The texts say “dark scabby patches spreading” — never “apple scab”. Modern labels do not exist in them.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F4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56032"/>
            <a:ext cx="8229600" cy="320040"/>
          </a:xfrm>
          <a:prstGeom prst="rect">
            <a:avLst/>
          </a:prstGeom>
          <a:noFill/>
        </p:spPr>
        <p:txBody>
          <a:bodyPr wrap="square" lIns="64008" tIns="27432" rIns="64008" bIns="27432" anchor="t">
            <a:spAutoFit/>
          </a:bodyPr>
          <a:lstStyle/>
          <a:p>
            <a:pPr algn="l">
              <a:lnSpc>
                <a:spcPct val="108000"/>
              </a:lnSpc>
            </a:pPr>
            <a:r>
              <a:rPr sz="1200" b="1" i="0">
                <a:solidFill>
                  <a:srgbClr val="C8891E"/>
                </a:solidFill>
                <a:latin typeface="Calibri"/>
              </a:rPr>
              <a:t>THE SOURCES, IN ONE LINE EACH</a:t>
            </a:r>
          </a:p>
        </p:txBody>
      </p:sp>
      <p:sp>
        <p:nvSpPr>
          <p:cNvPr id="5" name="TextBox 4"/>
          <p:cNvSpPr txBox="1"/>
          <p:nvPr/>
        </p:nvSpPr>
        <p:spPr>
          <a:xfrm>
            <a:off x="457200" y="502920"/>
            <a:ext cx="11247120" cy="731520"/>
          </a:xfrm>
          <a:prstGeom prst="rect">
            <a:avLst/>
          </a:prstGeom>
          <a:noFill/>
        </p:spPr>
        <p:txBody>
          <a:bodyPr wrap="square" lIns="64008" tIns="27432" rIns="64008" bIns="27432" anchor="t">
            <a:spAutoFit/>
          </a:bodyPr>
          <a:lstStyle/>
          <a:p>
            <a:pPr algn="l">
              <a:lnSpc>
                <a:spcPct val="108000"/>
              </a:lnSpc>
            </a:pPr>
            <a:r>
              <a:rPr sz="3000" b="1" i="0">
                <a:solidFill>
                  <a:srgbClr val="1F4D2E"/>
                </a:solidFill>
                <a:latin typeface="Georgia"/>
              </a:rPr>
              <a:t>The six texts — what each one contains</a:t>
            </a:r>
          </a:p>
        </p:txBody>
      </p:sp>
      <p:sp>
        <p:nvSpPr>
          <p:cNvPr id="6" name="TextBox 5"/>
          <p:cNvSpPr txBox="1"/>
          <p:nvPr/>
        </p:nvSpPr>
        <p:spPr>
          <a:xfrm>
            <a:off x="457200" y="6473952"/>
            <a:ext cx="8229600" cy="274320"/>
          </a:xfrm>
          <a:prstGeom prst="rect">
            <a:avLst/>
          </a:prstGeom>
          <a:noFill/>
        </p:spPr>
        <p:txBody>
          <a:bodyPr wrap="square" lIns="64008" tIns="27432" rIns="64008" bIns="27432" anchor="t">
            <a:spAutoFit/>
          </a:bodyPr>
          <a:lstStyle/>
          <a:p>
            <a:pPr algn="l">
              <a:lnSpc>
                <a:spcPct val="108000"/>
              </a:lnSpc>
            </a:pPr>
            <a:r>
              <a:rPr sz="1000" b="0" i="0">
                <a:solidFill>
                  <a:srgbClr val="666666"/>
                </a:solidFill>
                <a:latin typeface="Calibri"/>
              </a:rPr>
              <a:t>Ankit Pawar · Dr. Akshay Pandey  |  PDPM IIITDM Jabalpur</a:t>
            </a:r>
          </a:p>
        </p:txBody>
      </p:sp>
      <p:sp>
        <p:nvSpPr>
          <p:cNvPr id="7" name="Rounded Rectangle 6"/>
          <p:cNvSpPr/>
          <p:nvPr/>
        </p:nvSpPr>
        <p:spPr>
          <a:xfrm>
            <a:off x="457200" y="1371600"/>
            <a:ext cx="11247120" cy="566928"/>
          </a:xfrm>
          <a:prstGeom prst="roundRect">
            <a:avLst/>
          </a:prstGeom>
          <a:solidFill>
            <a:srgbClr val="FFFCF5"/>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481328"/>
            <a:ext cx="91440" cy="347472"/>
          </a:xfrm>
          <a:prstGeom prst="rect">
            <a:avLst/>
          </a:prstGeom>
          <a:solidFill>
            <a:srgbClr val="1F4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389888"/>
            <a:ext cx="2651760" cy="530352"/>
          </a:xfrm>
          <a:prstGeom prst="rect">
            <a:avLst/>
          </a:prstGeom>
          <a:noFill/>
        </p:spPr>
        <p:txBody>
          <a:bodyPr wrap="square" lIns="64008" tIns="27432" rIns="64008" bIns="27432" anchor="ctr">
            <a:spAutoFit/>
          </a:bodyPr>
          <a:lstStyle/>
          <a:p>
            <a:pPr algn="l">
              <a:lnSpc>
                <a:spcPct val="108000"/>
              </a:lnSpc>
            </a:pPr>
            <a:r>
              <a:rPr sz="1600" b="1" i="0">
                <a:solidFill>
                  <a:srgbClr val="1F4D2E"/>
                </a:solidFill>
                <a:latin typeface="Georgia"/>
              </a:rPr>
              <a:t>Vrikshayurveda</a:t>
            </a:r>
          </a:p>
        </p:txBody>
      </p:sp>
      <p:sp>
        <p:nvSpPr>
          <p:cNvPr id="10" name="TextBox 9"/>
          <p:cNvSpPr txBox="1"/>
          <p:nvPr/>
        </p:nvSpPr>
        <p:spPr>
          <a:xfrm>
            <a:off x="3291840" y="1389888"/>
            <a:ext cx="2011680" cy="530352"/>
          </a:xfrm>
          <a:prstGeom prst="rect">
            <a:avLst/>
          </a:prstGeom>
          <a:noFill/>
        </p:spPr>
        <p:txBody>
          <a:bodyPr wrap="square" lIns="64008" tIns="27432" rIns="64008" bIns="27432" anchor="ctr">
            <a:spAutoFit/>
          </a:bodyPr>
          <a:lstStyle/>
          <a:p>
            <a:pPr algn="l">
              <a:lnSpc>
                <a:spcPct val="108000"/>
              </a:lnSpc>
            </a:pPr>
            <a:r>
              <a:rPr sz="1100" b="0" i="1">
                <a:solidFill>
                  <a:srgbClr val="666666"/>
                </a:solidFill>
                <a:latin typeface="Calibri"/>
              </a:rPr>
              <a:t>Surapala, c. 10th c.</a:t>
            </a:r>
          </a:p>
        </p:txBody>
      </p:sp>
      <p:sp>
        <p:nvSpPr>
          <p:cNvPr id="11" name="TextBox 10"/>
          <p:cNvSpPr txBox="1"/>
          <p:nvPr/>
        </p:nvSpPr>
        <p:spPr>
          <a:xfrm>
            <a:off x="5303520" y="1389888"/>
            <a:ext cx="6309360" cy="530352"/>
          </a:xfrm>
          <a:prstGeom prst="rect">
            <a:avLst/>
          </a:prstGeom>
          <a:noFill/>
        </p:spPr>
        <p:txBody>
          <a:bodyPr wrap="square" lIns="64008" tIns="27432" rIns="64008" bIns="27432" anchor="ctr">
            <a:spAutoFit/>
          </a:bodyPr>
          <a:lstStyle/>
          <a:p>
            <a:pPr algn="l">
              <a:lnSpc>
                <a:spcPct val="108000"/>
              </a:lnSpc>
            </a:pPr>
            <a:r>
              <a:rPr sz="1300" b="0" i="0">
                <a:solidFill>
                  <a:srgbClr val="222222"/>
                </a:solidFill>
                <a:latin typeface="Calibri"/>
              </a:rPr>
              <a:t>The science of plant life — planting, nourishing, and treating sick trees</a:t>
            </a:r>
          </a:p>
        </p:txBody>
      </p:sp>
      <p:sp>
        <p:nvSpPr>
          <p:cNvPr id="12" name="Rounded Rectangle 11"/>
          <p:cNvSpPr/>
          <p:nvPr/>
        </p:nvSpPr>
        <p:spPr>
          <a:xfrm>
            <a:off x="457200" y="2011680"/>
            <a:ext cx="11247120" cy="566928"/>
          </a:xfrm>
          <a:prstGeom prst="roundRect">
            <a:avLst/>
          </a:prstGeom>
          <a:solidFill>
            <a:srgbClr val="FFFCF5"/>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2121408"/>
            <a:ext cx="91440" cy="347472"/>
          </a:xfrm>
          <a:prstGeom prst="rect">
            <a:avLst/>
          </a:prstGeom>
          <a:solidFill>
            <a:srgbClr val="2E6B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2029968"/>
            <a:ext cx="2651760" cy="530352"/>
          </a:xfrm>
          <a:prstGeom prst="rect">
            <a:avLst/>
          </a:prstGeom>
          <a:noFill/>
        </p:spPr>
        <p:txBody>
          <a:bodyPr wrap="square" lIns="64008" tIns="27432" rIns="64008" bIns="27432" anchor="ctr">
            <a:spAutoFit/>
          </a:bodyPr>
          <a:lstStyle/>
          <a:p>
            <a:pPr algn="l">
              <a:lnSpc>
                <a:spcPct val="108000"/>
              </a:lnSpc>
            </a:pPr>
            <a:r>
              <a:rPr sz="1600" b="1" i="0">
                <a:solidFill>
                  <a:srgbClr val="1F4D2E"/>
                </a:solidFill>
                <a:latin typeface="Georgia"/>
              </a:rPr>
              <a:t>Brihat Samhita</a:t>
            </a:r>
          </a:p>
        </p:txBody>
      </p:sp>
      <p:sp>
        <p:nvSpPr>
          <p:cNvPr id="15" name="TextBox 14"/>
          <p:cNvSpPr txBox="1"/>
          <p:nvPr/>
        </p:nvSpPr>
        <p:spPr>
          <a:xfrm>
            <a:off x="3291840" y="2029968"/>
            <a:ext cx="2011680" cy="530352"/>
          </a:xfrm>
          <a:prstGeom prst="rect">
            <a:avLst/>
          </a:prstGeom>
          <a:noFill/>
        </p:spPr>
        <p:txBody>
          <a:bodyPr wrap="square" lIns="64008" tIns="27432" rIns="64008" bIns="27432" anchor="ctr">
            <a:spAutoFit/>
          </a:bodyPr>
          <a:lstStyle/>
          <a:p>
            <a:pPr algn="l">
              <a:lnSpc>
                <a:spcPct val="108000"/>
              </a:lnSpc>
            </a:pPr>
            <a:r>
              <a:rPr sz="1100" b="0" i="1">
                <a:solidFill>
                  <a:srgbClr val="666666"/>
                </a:solidFill>
                <a:latin typeface="Calibri"/>
              </a:rPr>
              <a:t>Varahamihira, 6th c.</a:t>
            </a:r>
          </a:p>
        </p:txBody>
      </p:sp>
      <p:sp>
        <p:nvSpPr>
          <p:cNvPr id="16" name="TextBox 15"/>
          <p:cNvSpPr txBox="1"/>
          <p:nvPr/>
        </p:nvSpPr>
        <p:spPr>
          <a:xfrm>
            <a:off x="5303520" y="2029968"/>
            <a:ext cx="6309360" cy="530352"/>
          </a:xfrm>
          <a:prstGeom prst="rect">
            <a:avLst/>
          </a:prstGeom>
          <a:noFill/>
        </p:spPr>
        <p:txBody>
          <a:bodyPr wrap="square" lIns="64008" tIns="27432" rIns="64008" bIns="27432" anchor="ctr">
            <a:spAutoFit/>
          </a:bodyPr>
          <a:lstStyle/>
          <a:p>
            <a:pPr algn="l">
              <a:lnSpc>
                <a:spcPct val="108000"/>
              </a:lnSpc>
            </a:pPr>
            <a:r>
              <a:rPr sz="1300" b="0" i="0">
                <a:solidFill>
                  <a:srgbClr val="222222"/>
                </a:solidFill>
                <a:latin typeface="Calibri"/>
              </a:rPr>
              <a:t>Encyclopaedia — rain, finding underground water, crop growth, tree treatment</a:t>
            </a:r>
          </a:p>
        </p:txBody>
      </p:sp>
      <p:sp>
        <p:nvSpPr>
          <p:cNvPr id="17" name="Rounded Rectangle 16"/>
          <p:cNvSpPr/>
          <p:nvPr/>
        </p:nvSpPr>
        <p:spPr>
          <a:xfrm>
            <a:off x="457200" y="2651760"/>
            <a:ext cx="11247120" cy="566928"/>
          </a:xfrm>
          <a:prstGeom prst="roundRect">
            <a:avLst/>
          </a:prstGeom>
          <a:solidFill>
            <a:srgbClr val="FFFCF5"/>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 y="2761488"/>
            <a:ext cx="91440" cy="347472"/>
          </a:xfrm>
          <a:prstGeom prst="rect">
            <a:avLst/>
          </a:prstGeom>
          <a:solidFill>
            <a:srgbClr val="C88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 y="2670048"/>
            <a:ext cx="2651760" cy="530352"/>
          </a:xfrm>
          <a:prstGeom prst="rect">
            <a:avLst/>
          </a:prstGeom>
          <a:noFill/>
        </p:spPr>
        <p:txBody>
          <a:bodyPr wrap="square" lIns="64008" tIns="27432" rIns="64008" bIns="27432" anchor="ctr">
            <a:spAutoFit/>
          </a:bodyPr>
          <a:lstStyle/>
          <a:p>
            <a:pPr algn="l">
              <a:lnSpc>
                <a:spcPct val="108000"/>
              </a:lnSpc>
            </a:pPr>
            <a:r>
              <a:rPr sz="1600" b="1" i="0">
                <a:solidFill>
                  <a:srgbClr val="1F4D2E"/>
                </a:solidFill>
                <a:latin typeface="Georgia"/>
              </a:rPr>
              <a:t>Krishi Parashara</a:t>
            </a:r>
          </a:p>
        </p:txBody>
      </p:sp>
      <p:sp>
        <p:nvSpPr>
          <p:cNvPr id="20" name="TextBox 19"/>
          <p:cNvSpPr txBox="1"/>
          <p:nvPr/>
        </p:nvSpPr>
        <p:spPr>
          <a:xfrm>
            <a:off x="3291840" y="2670048"/>
            <a:ext cx="2011680" cy="530352"/>
          </a:xfrm>
          <a:prstGeom prst="rect">
            <a:avLst/>
          </a:prstGeom>
          <a:noFill/>
        </p:spPr>
        <p:txBody>
          <a:bodyPr wrap="square" lIns="64008" tIns="27432" rIns="64008" bIns="27432" anchor="ctr">
            <a:spAutoFit/>
          </a:bodyPr>
          <a:lstStyle/>
          <a:p>
            <a:pPr algn="l">
              <a:lnSpc>
                <a:spcPct val="108000"/>
              </a:lnSpc>
            </a:pPr>
            <a:r>
              <a:rPr sz="1100" b="0" i="1">
                <a:solidFill>
                  <a:srgbClr val="666666"/>
                </a:solidFill>
                <a:latin typeface="Calibri"/>
              </a:rPr>
              <a:t>Parashara</a:t>
            </a:r>
          </a:p>
        </p:txBody>
      </p:sp>
      <p:sp>
        <p:nvSpPr>
          <p:cNvPr id="21" name="TextBox 20"/>
          <p:cNvSpPr txBox="1"/>
          <p:nvPr/>
        </p:nvSpPr>
        <p:spPr>
          <a:xfrm>
            <a:off x="5303520" y="2670048"/>
            <a:ext cx="6309360" cy="530352"/>
          </a:xfrm>
          <a:prstGeom prst="rect">
            <a:avLst/>
          </a:prstGeom>
          <a:noFill/>
        </p:spPr>
        <p:txBody>
          <a:bodyPr wrap="square" lIns="64008" tIns="27432" rIns="64008" bIns="27432" anchor="ctr">
            <a:spAutoFit/>
          </a:bodyPr>
          <a:lstStyle/>
          <a:p>
            <a:pPr algn="l">
              <a:lnSpc>
                <a:spcPct val="108000"/>
              </a:lnSpc>
            </a:pPr>
            <a:r>
              <a:rPr sz="1300" b="0" i="0">
                <a:solidFill>
                  <a:srgbClr val="222222"/>
                </a:solidFill>
                <a:latin typeface="Calibri"/>
              </a:rPr>
              <a:t>The farming almanac — rain forecasting, sowing calendar, seed storage</a:t>
            </a:r>
          </a:p>
        </p:txBody>
      </p:sp>
      <p:sp>
        <p:nvSpPr>
          <p:cNvPr id="22" name="Rounded Rectangle 21"/>
          <p:cNvSpPr/>
          <p:nvPr/>
        </p:nvSpPr>
        <p:spPr>
          <a:xfrm>
            <a:off x="457200" y="3291840"/>
            <a:ext cx="11247120" cy="566928"/>
          </a:xfrm>
          <a:prstGeom prst="roundRect">
            <a:avLst/>
          </a:prstGeom>
          <a:solidFill>
            <a:srgbClr val="FFFCF5"/>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57200" y="3401568"/>
            <a:ext cx="91440" cy="347472"/>
          </a:xfrm>
          <a:prstGeom prst="rect">
            <a:avLst/>
          </a:prstGeom>
          <a:solidFill>
            <a:srgbClr val="8C5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5800" y="3310128"/>
            <a:ext cx="2651760" cy="530352"/>
          </a:xfrm>
          <a:prstGeom prst="rect">
            <a:avLst/>
          </a:prstGeom>
          <a:noFill/>
        </p:spPr>
        <p:txBody>
          <a:bodyPr wrap="square" lIns="64008" tIns="27432" rIns="64008" bIns="27432" anchor="ctr">
            <a:spAutoFit/>
          </a:bodyPr>
          <a:lstStyle/>
          <a:p>
            <a:pPr algn="l">
              <a:lnSpc>
                <a:spcPct val="108000"/>
              </a:lnSpc>
            </a:pPr>
            <a:r>
              <a:rPr sz="1600" b="1" i="0">
                <a:solidFill>
                  <a:srgbClr val="1F4D2E"/>
                </a:solidFill>
                <a:latin typeface="Georgia"/>
              </a:rPr>
              <a:t>Upavanavinoda</a:t>
            </a:r>
          </a:p>
        </p:txBody>
      </p:sp>
      <p:sp>
        <p:nvSpPr>
          <p:cNvPr id="25" name="TextBox 24"/>
          <p:cNvSpPr txBox="1"/>
          <p:nvPr/>
        </p:nvSpPr>
        <p:spPr>
          <a:xfrm>
            <a:off x="3291840" y="3310128"/>
            <a:ext cx="2011680" cy="530352"/>
          </a:xfrm>
          <a:prstGeom prst="rect">
            <a:avLst/>
          </a:prstGeom>
          <a:noFill/>
        </p:spPr>
        <p:txBody>
          <a:bodyPr wrap="square" lIns="64008" tIns="27432" rIns="64008" bIns="27432" anchor="ctr">
            <a:spAutoFit/>
          </a:bodyPr>
          <a:lstStyle/>
          <a:p>
            <a:pPr algn="l">
              <a:lnSpc>
                <a:spcPct val="108000"/>
              </a:lnSpc>
            </a:pPr>
            <a:r>
              <a:rPr sz="1100" b="0" i="1">
                <a:solidFill>
                  <a:srgbClr val="666666"/>
                </a:solidFill>
                <a:latin typeface="Calibri"/>
              </a:rPr>
              <a:t>Sarngadhara</a:t>
            </a:r>
          </a:p>
        </p:txBody>
      </p:sp>
      <p:sp>
        <p:nvSpPr>
          <p:cNvPr id="26" name="TextBox 25"/>
          <p:cNvSpPr txBox="1"/>
          <p:nvPr/>
        </p:nvSpPr>
        <p:spPr>
          <a:xfrm>
            <a:off x="5303520" y="3323776"/>
            <a:ext cx="6309360" cy="530352"/>
          </a:xfrm>
          <a:prstGeom prst="rect">
            <a:avLst/>
          </a:prstGeom>
          <a:noFill/>
        </p:spPr>
        <p:txBody>
          <a:bodyPr wrap="square" lIns="64008" tIns="27432" rIns="64008" bIns="27432" anchor="ctr">
            <a:spAutoFit/>
          </a:bodyPr>
          <a:lstStyle/>
          <a:p>
            <a:pPr algn="l">
              <a:lnSpc>
                <a:spcPct val="108000"/>
              </a:lnSpc>
            </a:pPr>
            <a:r>
              <a:rPr sz="1300" b="0" i="0">
                <a:solidFill>
                  <a:srgbClr val="222222"/>
                </a:solidFill>
                <a:latin typeface="Calibri"/>
              </a:rPr>
              <a:t>Garden and orchard care — planting, grafting, watering, protection</a:t>
            </a:r>
          </a:p>
        </p:txBody>
      </p:sp>
      <p:sp>
        <p:nvSpPr>
          <p:cNvPr id="27" name="Rounded Rectangle 26"/>
          <p:cNvSpPr/>
          <p:nvPr/>
        </p:nvSpPr>
        <p:spPr>
          <a:xfrm>
            <a:off x="457200" y="3931920"/>
            <a:ext cx="11247120" cy="566928"/>
          </a:xfrm>
          <a:prstGeom prst="roundRect">
            <a:avLst/>
          </a:prstGeom>
          <a:solidFill>
            <a:srgbClr val="FFFCF5"/>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57200" y="4041648"/>
            <a:ext cx="91440" cy="347472"/>
          </a:xfrm>
          <a:prstGeom prst="rect">
            <a:avLst/>
          </a:prstGeom>
          <a:solidFill>
            <a:srgbClr val="3B6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85800" y="3950208"/>
            <a:ext cx="2651760" cy="530352"/>
          </a:xfrm>
          <a:prstGeom prst="rect">
            <a:avLst/>
          </a:prstGeom>
          <a:noFill/>
        </p:spPr>
        <p:txBody>
          <a:bodyPr wrap="square" lIns="64008" tIns="27432" rIns="64008" bIns="27432" anchor="ctr">
            <a:spAutoFit/>
          </a:bodyPr>
          <a:lstStyle/>
          <a:p>
            <a:pPr algn="l">
              <a:lnSpc>
                <a:spcPct val="108000"/>
              </a:lnSpc>
            </a:pPr>
            <a:r>
              <a:rPr sz="1600" b="1" i="0">
                <a:solidFill>
                  <a:srgbClr val="1F4D2E"/>
                </a:solidFill>
                <a:latin typeface="Georgia"/>
              </a:rPr>
              <a:t>Kashyapiya Krishisukti</a:t>
            </a:r>
          </a:p>
        </p:txBody>
      </p:sp>
      <p:sp>
        <p:nvSpPr>
          <p:cNvPr id="30" name="TextBox 29"/>
          <p:cNvSpPr txBox="1"/>
          <p:nvPr/>
        </p:nvSpPr>
        <p:spPr>
          <a:xfrm>
            <a:off x="3291840" y="3950208"/>
            <a:ext cx="2011680" cy="530352"/>
          </a:xfrm>
          <a:prstGeom prst="rect">
            <a:avLst/>
          </a:prstGeom>
          <a:noFill/>
        </p:spPr>
        <p:txBody>
          <a:bodyPr wrap="square" lIns="64008" tIns="27432" rIns="64008" bIns="27432" anchor="ctr">
            <a:spAutoFit/>
          </a:bodyPr>
          <a:lstStyle/>
          <a:p>
            <a:pPr algn="l">
              <a:lnSpc>
                <a:spcPct val="108000"/>
              </a:lnSpc>
            </a:pPr>
            <a:r>
              <a:rPr sz="1100" b="0" i="1">
                <a:solidFill>
                  <a:srgbClr val="666666"/>
                </a:solidFill>
                <a:latin typeface="Calibri"/>
              </a:rPr>
              <a:t>Kashyapa, before 800 CE</a:t>
            </a:r>
          </a:p>
        </p:txBody>
      </p:sp>
      <p:sp>
        <p:nvSpPr>
          <p:cNvPr id="31" name="TextBox 30"/>
          <p:cNvSpPr txBox="1"/>
          <p:nvPr/>
        </p:nvSpPr>
        <p:spPr>
          <a:xfrm>
            <a:off x="5303520" y="3950208"/>
            <a:ext cx="6309360" cy="530352"/>
          </a:xfrm>
          <a:prstGeom prst="rect">
            <a:avLst/>
          </a:prstGeom>
          <a:noFill/>
        </p:spPr>
        <p:txBody>
          <a:bodyPr wrap="square" lIns="64008" tIns="27432" rIns="64008" bIns="27432" anchor="ctr">
            <a:spAutoFit/>
          </a:bodyPr>
          <a:lstStyle/>
          <a:p>
            <a:pPr algn="l">
              <a:lnSpc>
                <a:spcPct val="108000"/>
              </a:lnSpc>
            </a:pPr>
            <a:r>
              <a:rPr sz="1300" b="0" i="0">
                <a:solidFill>
                  <a:srgbClr val="222222"/>
                </a:solidFill>
                <a:latin typeface="Calibri"/>
              </a:rPr>
              <a:t>Cultivation from land to harvest — land, water, seeds, sowing, grain, vegetables</a:t>
            </a:r>
          </a:p>
        </p:txBody>
      </p:sp>
      <p:sp>
        <p:nvSpPr>
          <p:cNvPr id="32" name="Rounded Rectangle 31"/>
          <p:cNvSpPr/>
          <p:nvPr/>
        </p:nvSpPr>
        <p:spPr>
          <a:xfrm>
            <a:off x="457200" y="4572000"/>
            <a:ext cx="11247120" cy="566928"/>
          </a:xfrm>
          <a:prstGeom prst="roundRect">
            <a:avLst/>
          </a:prstGeom>
          <a:solidFill>
            <a:srgbClr val="FFFCF5"/>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57200" y="4681728"/>
            <a:ext cx="91440" cy="347472"/>
          </a:xfrm>
          <a:prstGeom prst="rect">
            <a:avLst/>
          </a:prstGeom>
          <a:solidFill>
            <a:srgbClr val="A37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85800" y="4590288"/>
            <a:ext cx="2651760" cy="530352"/>
          </a:xfrm>
          <a:prstGeom prst="rect">
            <a:avLst/>
          </a:prstGeom>
          <a:noFill/>
        </p:spPr>
        <p:txBody>
          <a:bodyPr wrap="square" lIns="64008" tIns="27432" rIns="64008" bIns="27432" anchor="ctr">
            <a:spAutoFit/>
          </a:bodyPr>
          <a:lstStyle/>
          <a:p>
            <a:pPr algn="l">
              <a:lnSpc>
                <a:spcPct val="108000"/>
              </a:lnSpc>
            </a:pPr>
            <a:r>
              <a:rPr sz="1600" b="1" i="0">
                <a:solidFill>
                  <a:srgbClr val="1F4D2E"/>
                </a:solidFill>
                <a:latin typeface="Georgia"/>
              </a:rPr>
              <a:t>Vishvavallabha</a:t>
            </a:r>
          </a:p>
        </p:txBody>
      </p:sp>
      <p:sp>
        <p:nvSpPr>
          <p:cNvPr id="35" name="TextBox 34"/>
          <p:cNvSpPr txBox="1"/>
          <p:nvPr/>
        </p:nvSpPr>
        <p:spPr>
          <a:xfrm>
            <a:off x="3291840" y="4590288"/>
            <a:ext cx="2011680" cy="530352"/>
          </a:xfrm>
          <a:prstGeom prst="rect">
            <a:avLst/>
          </a:prstGeom>
          <a:noFill/>
        </p:spPr>
        <p:txBody>
          <a:bodyPr wrap="square" lIns="64008" tIns="27432" rIns="64008" bIns="27432" anchor="ctr">
            <a:spAutoFit/>
          </a:bodyPr>
          <a:lstStyle/>
          <a:p>
            <a:pPr algn="l">
              <a:lnSpc>
                <a:spcPct val="108000"/>
              </a:lnSpc>
            </a:pPr>
            <a:r>
              <a:rPr sz="1100" b="0" i="1">
                <a:solidFill>
                  <a:srgbClr val="666666"/>
                </a:solidFill>
                <a:latin typeface="Calibri"/>
              </a:rPr>
              <a:t>Chakrapani Mishra, 1577</a:t>
            </a:r>
          </a:p>
        </p:txBody>
      </p:sp>
      <p:sp>
        <p:nvSpPr>
          <p:cNvPr id="36" name="TextBox 35"/>
          <p:cNvSpPr txBox="1"/>
          <p:nvPr/>
        </p:nvSpPr>
        <p:spPr>
          <a:xfrm>
            <a:off x="5303520" y="4590288"/>
            <a:ext cx="6309360" cy="530352"/>
          </a:xfrm>
          <a:prstGeom prst="rect">
            <a:avLst/>
          </a:prstGeom>
          <a:noFill/>
        </p:spPr>
        <p:txBody>
          <a:bodyPr wrap="square" lIns="64008" tIns="27432" rIns="64008" bIns="27432" anchor="ctr">
            <a:spAutoFit/>
          </a:bodyPr>
          <a:lstStyle/>
          <a:p>
            <a:pPr algn="l">
              <a:lnSpc>
                <a:spcPct val="108000"/>
              </a:lnSpc>
            </a:pPr>
            <a:r>
              <a:rPr sz="1300" b="0" i="0">
                <a:solidFill>
                  <a:srgbClr val="222222"/>
                </a:solidFill>
                <a:latin typeface="Calibri"/>
              </a:rPr>
              <a:t>Water-finding, horticulture, plant disease and pests — being added next</a:t>
            </a:r>
          </a:p>
        </p:txBody>
      </p:sp>
      <p:sp>
        <p:nvSpPr>
          <p:cNvPr id="37" name="Rounded Rectangle 36"/>
          <p:cNvSpPr/>
          <p:nvPr/>
        </p:nvSpPr>
        <p:spPr>
          <a:xfrm>
            <a:off x="457200" y="5349240"/>
            <a:ext cx="11247120" cy="960120"/>
          </a:xfrm>
          <a:prstGeom prst="roundRect">
            <a:avLst/>
          </a:prstGeom>
          <a:solidFill>
            <a:srgbClr val="FBEFD9"/>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0080" y="5394960"/>
            <a:ext cx="2743200" cy="274320"/>
          </a:xfrm>
          <a:prstGeom prst="rect">
            <a:avLst/>
          </a:prstGeom>
          <a:noFill/>
        </p:spPr>
        <p:txBody>
          <a:bodyPr wrap="square" lIns="64008" tIns="27432" rIns="64008" bIns="27432" anchor="t">
            <a:spAutoFit/>
          </a:bodyPr>
          <a:lstStyle/>
          <a:p>
            <a:pPr algn="l">
              <a:lnSpc>
                <a:spcPct val="108000"/>
              </a:lnSpc>
            </a:pPr>
            <a:r>
              <a:rPr sz="1000" b="1" i="0">
                <a:solidFill>
                  <a:srgbClr val="B03A2E"/>
                </a:solidFill>
                <a:latin typeface="Calibri"/>
              </a:rPr>
              <a:t>ONE REAL LINE, AS PUBLISHED</a:t>
            </a:r>
          </a:p>
        </p:txBody>
      </p:sp>
      <p:sp>
        <p:nvSpPr>
          <p:cNvPr id="39" name="TextBox 38"/>
          <p:cNvSpPr txBox="1"/>
          <p:nvPr/>
        </p:nvSpPr>
        <p:spPr>
          <a:xfrm>
            <a:off x="640080" y="5623560"/>
            <a:ext cx="10881360" cy="640080"/>
          </a:xfrm>
          <a:prstGeom prst="rect">
            <a:avLst/>
          </a:prstGeom>
          <a:noFill/>
        </p:spPr>
        <p:txBody>
          <a:bodyPr wrap="square" lIns="64008" tIns="27432" rIns="64008" bIns="27432" anchor="t">
            <a:spAutoFit/>
          </a:bodyPr>
          <a:lstStyle/>
          <a:p>
            <a:pPr algn="l">
              <a:lnSpc>
                <a:spcPct val="108000"/>
              </a:lnSpc>
            </a:pPr>
            <a:r>
              <a:rPr sz="1300" b="0" i="1" dirty="0" err="1">
                <a:solidFill>
                  <a:srgbClr val="222222"/>
                </a:solidFill>
                <a:latin typeface="Georgia"/>
              </a:rPr>
              <a:t>Vrikshayurveda</a:t>
            </a:r>
            <a:r>
              <a:rPr sz="1300" b="0" i="1" dirty="0">
                <a:solidFill>
                  <a:srgbClr val="222222"/>
                </a:solidFill>
                <a:latin typeface="Georgia"/>
              </a:rPr>
              <a:t> v.193 — “To remove insects from the roots and branches of the trees, wise men should water the trees with cold water for seven days.”   → symptom, then remedy, numbered: that is what makes the texts searchable.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F4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56032"/>
            <a:ext cx="8229600" cy="320040"/>
          </a:xfrm>
          <a:prstGeom prst="rect">
            <a:avLst/>
          </a:prstGeom>
          <a:noFill/>
        </p:spPr>
        <p:txBody>
          <a:bodyPr wrap="square" lIns="64008" tIns="27432" rIns="64008" bIns="27432" anchor="t">
            <a:spAutoFit/>
          </a:bodyPr>
          <a:lstStyle/>
          <a:p>
            <a:pPr algn="l">
              <a:lnSpc>
                <a:spcPct val="108000"/>
              </a:lnSpc>
            </a:pPr>
            <a:r>
              <a:rPr sz="1200" b="1" i="0">
                <a:solidFill>
                  <a:srgbClr val="C8891E"/>
                </a:solidFill>
                <a:latin typeface="Calibri"/>
              </a:rPr>
              <a:t>ARCHITECTURE  ·  PRESS → TO ADVANCE</a:t>
            </a:r>
          </a:p>
        </p:txBody>
      </p:sp>
      <p:sp>
        <p:nvSpPr>
          <p:cNvPr id="5" name="TextBox 4"/>
          <p:cNvSpPr txBox="1"/>
          <p:nvPr/>
        </p:nvSpPr>
        <p:spPr>
          <a:xfrm>
            <a:off x="457200" y="502920"/>
            <a:ext cx="11247120" cy="731520"/>
          </a:xfrm>
          <a:prstGeom prst="rect">
            <a:avLst/>
          </a:prstGeom>
          <a:noFill/>
        </p:spPr>
        <p:txBody>
          <a:bodyPr wrap="square" lIns="64008" tIns="27432" rIns="64008" bIns="27432" anchor="t">
            <a:spAutoFit/>
          </a:bodyPr>
          <a:lstStyle/>
          <a:p>
            <a:pPr algn="l">
              <a:lnSpc>
                <a:spcPct val="108000"/>
              </a:lnSpc>
            </a:pPr>
            <a:r>
              <a:rPr sz="3000" b="1" i="0">
                <a:solidFill>
                  <a:srgbClr val="1F4D2E"/>
                </a:solidFill>
                <a:latin typeface="Georgia"/>
              </a:rPr>
              <a:t>How it works — from photo to cited advice</a:t>
            </a:r>
          </a:p>
        </p:txBody>
      </p:sp>
      <p:cxnSp>
        <p:nvCxnSpPr>
          <p:cNvPr id="6" name="Connector 5"/>
          <p:cNvCxnSpPr/>
          <p:nvPr/>
        </p:nvCxnSpPr>
        <p:spPr>
          <a:xfrm flipV="1">
            <a:off x="2286000" y="3108960"/>
            <a:ext cx="1371600" cy="182880"/>
          </a:xfrm>
          <a:prstGeom prst="line">
            <a:avLst/>
          </a:prstGeom>
          <a:ln w="38100">
            <a:solidFill>
              <a:srgbClr val="C889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194560" y="2651760"/>
            <a:ext cx="1554480" cy="457200"/>
          </a:xfrm>
          <a:prstGeom prst="rect">
            <a:avLst/>
          </a:prstGeom>
          <a:noFill/>
        </p:spPr>
        <p:txBody>
          <a:bodyPr wrap="square" lIns="64008" tIns="27432" rIns="64008" bIns="27432" anchor="t">
            <a:spAutoFit/>
          </a:bodyPr>
          <a:lstStyle/>
          <a:p>
            <a:pPr algn="ctr">
              <a:lnSpc>
                <a:spcPct val="108000"/>
              </a:lnSpc>
            </a:pPr>
            <a:r>
              <a:rPr sz="1100" b="1" i="1">
                <a:solidFill>
                  <a:srgbClr val="C8891E"/>
                </a:solidFill>
                <a:latin typeface="Calibri"/>
              </a:rPr>
              <a:t>leaf + soil photo, crop, cause</a:t>
            </a:r>
          </a:p>
        </p:txBody>
      </p:sp>
      <p:cxnSp>
        <p:nvCxnSpPr>
          <p:cNvPr id="8" name="Connector 7"/>
          <p:cNvCxnSpPr/>
          <p:nvPr/>
        </p:nvCxnSpPr>
        <p:spPr>
          <a:xfrm flipV="1">
            <a:off x="4480560" y="2148840"/>
            <a:ext cx="0" cy="274320"/>
          </a:xfrm>
          <a:prstGeom prst="line">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937760" y="2148840"/>
            <a:ext cx="0" cy="274320"/>
          </a:xfrm>
          <a:prstGeom prst="line">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480560" y="4526280"/>
            <a:ext cx="0" cy="457200"/>
          </a:xfrm>
          <a:prstGeom prst="line">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4937760" y="4526280"/>
            <a:ext cx="0" cy="457200"/>
          </a:xfrm>
          <a:prstGeom prst="line">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029200" y="2194560"/>
            <a:ext cx="2011680" cy="457200"/>
          </a:xfrm>
          <a:prstGeom prst="rect">
            <a:avLst/>
          </a:prstGeom>
          <a:noFill/>
        </p:spPr>
        <p:txBody>
          <a:bodyPr wrap="square" lIns="64008" tIns="27432" rIns="64008" bIns="27432" anchor="t">
            <a:spAutoFit/>
          </a:bodyPr>
          <a:lstStyle/>
          <a:p>
            <a:pPr algn="l">
              <a:lnSpc>
                <a:spcPct val="108000"/>
              </a:lnSpc>
            </a:pPr>
            <a:r>
              <a:rPr sz="1100" b="0" i="1">
                <a:solidFill>
                  <a:srgbClr val="A8A398"/>
                </a:solidFill>
                <a:latin typeface="Calibri"/>
              </a:rPr>
              <a:t>disease · confidence</a:t>
            </a:r>
          </a:p>
        </p:txBody>
      </p:sp>
      <p:sp>
        <p:nvSpPr>
          <p:cNvPr id="13" name="TextBox 12"/>
          <p:cNvSpPr txBox="1"/>
          <p:nvPr/>
        </p:nvSpPr>
        <p:spPr>
          <a:xfrm>
            <a:off x="5029200" y="4572000"/>
            <a:ext cx="2194560" cy="457200"/>
          </a:xfrm>
          <a:prstGeom prst="rect">
            <a:avLst/>
          </a:prstGeom>
          <a:noFill/>
        </p:spPr>
        <p:txBody>
          <a:bodyPr wrap="square" lIns="64008" tIns="27432" rIns="64008" bIns="27432" anchor="t">
            <a:spAutoFit/>
          </a:bodyPr>
          <a:lstStyle/>
          <a:p>
            <a:pPr algn="l">
              <a:lnSpc>
                <a:spcPct val="108000"/>
              </a:lnSpc>
            </a:pPr>
            <a:r>
              <a:rPr sz="1100" b="0" i="1">
                <a:solidFill>
                  <a:srgbClr val="A8A398"/>
                </a:solidFill>
                <a:latin typeface="Calibri"/>
              </a:rPr>
              <a:t>soil type · moisture · texture</a:t>
            </a:r>
          </a:p>
        </p:txBody>
      </p:sp>
      <p:cxnSp>
        <p:nvCxnSpPr>
          <p:cNvPr id="14" name="Connector 13"/>
          <p:cNvCxnSpPr/>
          <p:nvPr/>
        </p:nvCxnSpPr>
        <p:spPr>
          <a:xfrm flipV="1">
            <a:off x="5623560" y="2057400"/>
            <a:ext cx="2606040" cy="868680"/>
          </a:xfrm>
          <a:prstGeom prst="line">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989320" y="1920240"/>
            <a:ext cx="2103120" cy="457200"/>
          </a:xfrm>
          <a:prstGeom prst="rect">
            <a:avLst/>
          </a:prstGeom>
          <a:noFill/>
        </p:spPr>
        <p:txBody>
          <a:bodyPr wrap="square" lIns="64008" tIns="27432" rIns="64008" bIns="27432" anchor="t">
            <a:spAutoFit/>
          </a:bodyPr>
          <a:lstStyle/>
          <a:p>
            <a:pPr algn="ctr">
              <a:lnSpc>
                <a:spcPct val="108000"/>
              </a:lnSpc>
            </a:pPr>
            <a:r>
              <a:rPr sz="1100" b="0" i="1">
                <a:solidFill>
                  <a:srgbClr val="A8A398"/>
                </a:solidFill>
                <a:latin typeface="Calibri"/>
              </a:rPr>
              <a:t>symptom question</a:t>
            </a:r>
          </a:p>
        </p:txBody>
      </p:sp>
      <p:cxnSp>
        <p:nvCxnSpPr>
          <p:cNvPr id="16" name="Connector 15"/>
          <p:cNvCxnSpPr/>
          <p:nvPr/>
        </p:nvCxnSpPr>
        <p:spPr>
          <a:xfrm>
            <a:off x="9966960" y="2286000"/>
            <a:ext cx="0" cy="502920"/>
          </a:xfrm>
          <a:prstGeom prst="line">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0058400" y="2395728"/>
            <a:ext cx="1828800" cy="457200"/>
          </a:xfrm>
          <a:prstGeom prst="rect">
            <a:avLst/>
          </a:prstGeom>
          <a:noFill/>
        </p:spPr>
        <p:txBody>
          <a:bodyPr wrap="square" lIns="64008" tIns="27432" rIns="64008" bIns="27432" anchor="t">
            <a:spAutoFit/>
          </a:bodyPr>
          <a:lstStyle/>
          <a:p>
            <a:pPr algn="l">
              <a:lnSpc>
                <a:spcPct val="108000"/>
              </a:lnSpc>
            </a:pPr>
            <a:r>
              <a:rPr sz="1100" b="0" i="1">
                <a:solidFill>
                  <a:srgbClr val="A8A398"/>
                </a:solidFill>
                <a:latin typeface="Calibri"/>
              </a:rPr>
              <a:t>5 best passages</a:t>
            </a:r>
          </a:p>
        </p:txBody>
      </p:sp>
      <p:cxnSp>
        <p:nvCxnSpPr>
          <p:cNvPr id="18" name="Connector 17"/>
          <p:cNvCxnSpPr/>
          <p:nvPr/>
        </p:nvCxnSpPr>
        <p:spPr>
          <a:xfrm>
            <a:off x="9966960" y="4160520"/>
            <a:ext cx="0" cy="640080"/>
          </a:xfrm>
          <a:prstGeom prst="line">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058400" y="4270248"/>
            <a:ext cx="2194560" cy="457200"/>
          </a:xfrm>
          <a:prstGeom prst="rect">
            <a:avLst/>
          </a:prstGeom>
          <a:noFill/>
        </p:spPr>
        <p:txBody>
          <a:bodyPr wrap="square" lIns="64008" tIns="27432" rIns="64008" bIns="27432" anchor="t">
            <a:spAutoFit/>
          </a:bodyPr>
          <a:lstStyle/>
          <a:p>
            <a:pPr algn="l">
              <a:lnSpc>
                <a:spcPct val="108000"/>
              </a:lnSpc>
            </a:pPr>
            <a:r>
              <a:rPr sz="1100" b="0" i="1">
                <a:solidFill>
                  <a:srgbClr val="A8A398"/>
                </a:solidFill>
                <a:latin typeface="Calibri"/>
              </a:rPr>
              <a:t>cited advice · or honest refusal</a:t>
            </a:r>
          </a:p>
        </p:txBody>
      </p:sp>
      <p:cxnSp>
        <p:nvCxnSpPr>
          <p:cNvPr id="20" name="Connector 19"/>
          <p:cNvCxnSpPr/>
          <p:nvPr/>
        </p:nvCxnSpPr>
        <p:spPr>
          <a:xfrm flipH="1" flipV="1">
            <a:off x="1371600" y="4526280"/>
            <a:ext cx="6858000" cy="1143000"/>
          </a:xfrm>
          <a:prstGeom prst="bentConnector3">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57200" y="6053328"/>
            <a:ext cx="2926080" cy="457200"/>
          </a:xfrm>
          <a:prstGeom prst="rect">
            <a:avLst/>
          </a:prstGeom>
          <a:noFill/>
        </p:spPr>
        <p:txBody>
          <a:bodyPr wrap="square" lIns="64008" tIns="27432" rIns="64008" bIns="27432" anchor="t">
            <a:spAutoFit/>
          </a:bodyPr>
          <a:lstStyle/>
          <a:p>
            <a:pPr algn="l">
              <a:lnSpc>
                <a:spcPct val="108000"/>
              </a:lnSpc>
            </a:pPr>
            <a:r>
              <a:rPr sz="1100" b="0" i="1">
                <a:solidFill>
                  <a:srgbClr val="A8A398"/>
                </a:solidFill>
                <a:latin typeface="Calibri"/>
              </a:rPr>
              <a:t>advice + verse + heat-map + passages</a:t>
            </a:r>
          </a:p>
        </p:txBody>
      </p:sp>
      <p:sp>
        <p:nvSpPr>
          <p:cNvPr id="22" name="Rounded Rectangle 21"/>
          <p:cNvSpPr/>
          <p:nvPr/>
        </p:nvSpPr>
        <p:spPr>
          <a:xfrm>
            <a:off x="457200" y="2606040"/>
            <a:ext cx="1828800" cy="1920240"/>
          </a:xfrm>
          <a:prstGeom prst="roundRect">
            <a:avLst/>
          </a:prstGeom>
          <a:solidFill>
            <a:srgbClr val="FFFCF5"/>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94360" y="2606040"/>
            <a:ext cx="1554480" cy="73152"/>
          </a:xfrm>
          <a:prstGeom prst="rect">
            <a:avLst/>
          </a:prstGeom>
          <a:solidFill>
            <a:srgbClr val="C88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2920" y="2715768"/>
            <a:ext cx="1737360" cy="384048"/>
          </a:xfrm>
          <a:prstGeom prst="rect">
            <a:avLst/>
          </a:prstGeom>
          <a:noFill/>
        </p:spPr>
        <p:txBody>
          <a:bodyPr wrap="square" lIns="64008" tIns="27432" rIns="64008" bIns="27432" anchor="t">
            <a:spAutoFit/>
          </a:bodyPr>
          <a:lstStyle/>
          <a:p>
            <a:pPr algn="ctr">
              <a:lnSpc>
                <a:spcPct val="108000"/>
              </a:lnSpc>
            </a:pPr>
            <a:r>
              <a:rPr sz="1500" b="1" i="0">
                <a:solidFill>
                  <a:srgbClr val="1F4D2E"/>
                </a:solidFill>
                <a:latin typeface="Calibri"/>
              </a:rPr>
              <a:t>FARMER</a:t>
            </a:r>
          </a:p>
        </p:txBody>
      </p:sp>
      <p:sp>
        <p:nvSpPr>
          <p:cNvPr id="25" name="TextBox 24"/>
          <p:cNvSpPr txBox="1"/>
          <p:nvPr/>
        </p:nvSpPr>
        <p:spPr>
          <a:xfrm>
            <a:off x="530352" y="3063240"/>
            <a:ext cx="1682496" cy="1417320"/>
          </a:xfrm>
          <a:prstGeom prst="rect">
            <a:avLst/>
          </a:prstGeom>
          <a:noFill/>
        </p:spPr>
        <p:txBody>
          <a:bodyPr wrap="square" lIns="64008" tIns="27432" rIns="64008" bIns="27432" anchor="t">
            <a:spAutoFit/>
          </a:bodyPr>
          <a:lstStyle/>
          <a:p>
            <a:pPr algn="ctr">
              <a:lnSpc>
                <a:spcPct val="110000"/>
              </a:lnSpc>
            </a:pPr>
            <a:r>
              <a:rPr sz="1200" b="0" i="0">
                <a:solidFill>
                  <a:srgbClr val="222222"/>
                </a:solidFill>
                <a:latin typeface="Calibri"/>
              </a:rPr>
              <a:t>leaf photo</a:t>
            </a:r>
          </a:p>
          <a:p>
            <a:pPr algn="ctr">
              <a:lnSpc>
                <a:spcPct val="110000"/>
              </a:lnSpc>
            </a:pPr>
            <a:r>
              <a:rPr sz="1200" b="0" i="0">
                <a:solidFill>
                  <a:srgbClr val="222222"/>
                </a:solidFill>
                <a:latin typeface="Calibri"/>
              </a:rPr>
              <a:t>soil photo</a:t>
            </a:r>
          </a:p>
          <a:p>
            <a:pPr algn="ctr">
              <a:lnSpc>
                <a:spcPct val="110000"/>
              </a:lnSpc>
            </a:pPr>
            <a:r>
              <a:rPr sz="1200" b="0" i="0">
                <a:solidFill>
                  <a:srgbClr val="222222"/>
                </a:solidFill>
                <a:latin typeface="Calibri"/>
              </a:rPr>
              <a:t>crop · suspected cause</a:t>
            </a:r>
          </a:p>
        </p:txBody>
      </p:sp>
      <p:pic>
        <p:nvPicPr>
          <p:cNvPr id="26" name="Picture 25" descr="_sq_leaf_apple_scab.jpg"/>
          <p:cNvPicPr>
            <a:picLocks noChangeAspect="1"/>
          </p:cNvPicPr>
          <p:nvPr/>
        </p:nvPicPr>
        <p:blipFill>
          <a:blip r:embed="rId3"/>
          <a:stretch>
            <a:fillRect/>
          </a:stretch>
        </p:blipFill>
        <p:spPr>
          <a:xfrm>
            <a:off x="777240" y="3794760"/>
            <a:ext cx="548640" cy="548640"/>
          </a:xfrm>
          <a:prstGeom prst="rect">
            <a:avLst/>
          </a:prstGeom>
        </p:spPr>
      </p:pic>
      <p:pic>
        <p:nvPicPr>
          <p:cNvPr id="27" name="Picture 26" descr="_sq_soil_alluvial.jpg"/>
          <p:cNvPicPr>
            <a:picLocks noChangeAspect="1"/>
          </p:cNvPicPr>
          <p:nvPr/>
        </p:nvPicPr>
        <p:blipFill>
          <a:blip r:embed="rId4"/>
          <a:stretch>
            <a:fillRect/>
          </a:stretch>
        </p:blipFill>
        <p:spPr>
          <a:xfrm>
            <a:off x="1417320" y="3794760"/>
            <a:ext cx="548640" cy="548640"/>
          </a:xfrm>
          <a:prstGeom prst="rect">
            <a:avLst/>
          </a:prstGeom>
        </p:spPr>
      </p:pic>
      <p:sp>
        <p:nvSpPr>
          <p:cNvPr id="28" name="Oval 27"/>
          <p:cNvSpPr/>
          <p:nvPr/>
        </p:nvSpPr>
        <p:spPr>
          <a:xfrm>
            <a:off x="3657600" y="2423160"/>
            <a:ext cx="2103120" cy="2103120"/>
          </a:xfrm>
          <a:prstGeom prst="ellipse">
            <a:avLst/>
          </a:prstGeom>
          <a:solidFill>
            <a:srgbClr val="FFFCF5"/>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703320" y="2743200"/>
            <a:ext cx="2011680" cy="384048"/>
          </a:xfrm>
          <a:prstGeom prst="rect">
            <a:avLst/>
          </a:prstGeom>
          <a:noFill/>
        </p:spPr>
        <p:txBody>
          <a:bodyPr wrap="square" lIns="64008" tIns="27432" rIns="64008" bIns="27432" anchor="t">
            <a:spAutoFit/>
          </a:bodyPr>
          <a:lstStyle/>
          <a:p>
            <a:pPr algn="ctr">
              <a:lnSpc>
                <a:spcPct val="108000"/>
              </a:lnSpc>
            </a:pPr>
            <a:r>
              <a:rPr sz="1500" b="1" i="0">
                <a:solidFill>
                  <a:srgbClr val="1F4D2E"/>
                </a:solidFill>
                <a:latin typeface="Calibri"/>
              </a:rPr>
              <a:t>THE COMBINER</a:t>
            </a:r>
          </a:p>
        </p:txBody>
      </p:sp>
      <p:sp>
        <p:nvSpPr>
          <p:cNvPr id="30" name="TextBox 29"/>
          <p:cNvSpPr txBox="1"/>
          <p:nvPr/>
        </p:nvSpPr>
        <p:spPr>
          <a:xfrm>
            <a:off x="3730752" y="3154680"/>
            <a:ext cx="1956816" cy="1600200"/>
          </a:xfrm>
          <a:prstGeom prst="rect">
            <a:avLst/>
          </a:prstGeom>
          <a:noFill/>
        </p:spPr>
        <p:txBody>
          <a:bodyPr wrap="square" lIns="64008" tIns="27432" rIns="64008" bIns="27432" anchor="t">
            <a:spAutoFit/>
          </a:bodyPr>
          <a:lstStyle/>
          <a:p>
            <a:pPr algn="ctr">
              <a:lnSpc>
                <a:spcPct val="110000"/>
              </a:lnSpc>
            </a:pPr>
            <a:r>
              <a:rPr sz="1100" b="0" i="0">
                <a:solidFill>
                  <a:srgbClr val="222222"/>
                </a:solidFill>
                <a:latin typeface="Calibri"/>
              </a:rPr>
              <a:t>the hub: routes the photos,</a:t>
            </a:r>
          </a:p>
          <a:p>
            <a:pPr algn="ctr">
              <a:lnSpc>
                <a:spcPct val="110000"/>
              </a:lnSpc>
            </a:pPr>
            <a:r>
              <a:rPr sz="1100" b="0" i="0">
                <a:solidFill>
                  <a:srgbClr val="222222"/>
                </a:solidFill>
                <a:latin typeface="Calibri"/>
              </a:rPr>
              <a:t>writes the question,</a:t>
            </a:r>
          </a:p>
          <a:p>
            <a:pPr algn="ctr">
              <a:lnSpc>
                <a:spcPct val="110000"/>
              </a:lnSpc>
            </a:pPr>
            <a:r>
              <a:rPr sz="1100" b="0" i="0">
                <a:solidFill>
                  <a:srgbClr val="222222"/>
                </a:solidFill>
                <a:latin typeface="Calibri"/>
              </a:rPr>
              <a:t>delivers the answer</a:t>
            </a:r>
          </a:p>
        </p:txBody>
      </p:sp>
      <p:sp>
        <p:nvSpPr>
          <p:cNvPr id="31" name="Rounded Rectangle 30"/>
          <p:cNvSpPr/>
          <p:nvPr/>
        </p:nvSpPr>
        <p:spPr>
          <a:xfrm>
            <a:off x="3246120" y="1143000"/>
            <a:ext cx="2926080" cy="1005840"/>
          </a:xfrm>
          <a:prstGeom prst="roundRect">
            <a:avLst/>
          </a:prstGeom>
          <a:solidFill>
            <a:srgbClr val="EBE8E0"/>
          </a:solidFill>
          <a:ln w="15875">
            <a:solidFill>
              <a:srgbClr val="D2C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383280" y="1143000"/>
            <a:ext cx="2651760" cy="73152"/>
          </a:xfrm>
          <a:prstGeom prst="rect">
            <a:avLst/>
          </a:prstGeom>
          <a:solidFill>
            <a:srgbClr val="D2C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291840" y="1252728"/>
            <a:ext cx="2834640" cy="384048"/>
          </a:xfrm>
          <a:prstGeom prst="rect">
            <a:avLst/>
          </a:prstGeom>
          <a:noFill/>
        </p:spPr>
        <p:txBody>
          <a:bodyPr wrap="square" lIns="64008" tIns="27432" rIns="64008" bIns="27432" anchor="t">
            <a:spAutoFit/>
          </a:bodyPr>
          <a:lstStyle/>
          <a:p>
            <a:pPr algn="ctr">
              <a:lnSpc>
                <a:spcPct val="108000"/>
              </a:lnSpc>
            </a:pPr>
            <a:r>
              <a:rPr sz="1400" b="1" i="0">
                <a:solidFill>
                  <a:srgbClr val="A8A398"/>
                </a:solidFill>
                <a:latin typeface="Calibri"/>
              </a:rPr>
              <a:t>MODEL 1 · Plant disease</a:t>
            </a:r>
          </a:p>
        </p:txBody>
      </p:sp>
      <p:sp>
        <p:nvSpPr>
          <p:cNvPr id="34" name="TextBox 33"/>
          <p:cNvSpPr txBox="1"/>
          <p:nvPr/>
        </p:nvSpPr>
        <p:spPr>
          <a:xfrm>
            <a:off x="3319272" y="1600200"/>
            <a:ext cx="2779776" cy="502920"/>
          </a:xfrm>
          <a:prstGeom prst="rect">
            <a:avLst/>
          </a:prstGeom>
          <a:noFill/>
        </p:spPr>
        <p:txBody>
          <a:bodyPr wrap="square" lIns="64008" tIns="27432" rIns="64008" bIns="27432" anchor="t">
            <a:spAutoFit/>
          </a:bodyPr>
          <a:lstStyle/>
          <a:p>
            <a:pPr algn="ctr">
              <a:lnSpc>
                <a:spcPct val="110000"/>
              </a:lnSpc>
            </a:pPr>
            <a:r>
              <a:rPr sz="1100" b="0" i="0">
                <a:solidFill>
                  <a:srgbClr val="A8A398"/>
                </a:solidFill>
                <a:latin typeface="Calibri"/>
              </a:rPr>
              <a:t>leaf photo → disease name, healthy/diseased, confidence, heat-map</a:t>
            </a:r>
          </a:p>
        </p:txBody>
      </p:sp>
      <p:sp>
        <p:nvSpPr>
          <p:cNvPr id="35" name="Rounded Rectangle 34"/>
          <p:cNvSpPr/>
          <p:nvPr/>
        </p:nvSpPr>
        <p:spPr>
          <a:xfrm>
            <a:off x="3246120" y="4983480"/>
            <a:ext cx="2926080" cy="1051560"/>
          </a:xfrm>
          <a:prstGeom prst="roundRect">
            <a:avLst/>
          </a:prstGeom>
          <a:solidFill>
            <a:srgbClr val="EBE8E0"/>
          </a:solidFill>
          <a:ln w="15875">
            <a:solidFill>
              <a:srgbClr val="D2C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383280" y="4983480"/>
            <a:ext cx="2651760" cy="73152"/>
          </a:xfrm>
          <a:prstGeom prst="rect">
            <a:avLst/>
          </a:prstGeom>
          <a:solidFill>
            <a:srgbClr val="D2C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291840" y="5093208"/>
            <a:ext cx="2834640" cy="384048"/>
          </a:xfrm>
          <a:prstGeom prst="rect">
            <a:avLst/>
          </a:prstGeom>
          <a:noFill/>
        </p:spPr>
        <p:txBody>
          <a:bodyPr wrap="square" lIns="64008" tIns="27432" rIns="64008" bIns="27432" anchor="t">
            <a:spAutoFit/>
          </a:bodyPr>
          <a:lstStyle/>
          <a:p>
            <a:pPr algn="ctr">
              <a:lnSpc>
                <a:spcPct val="108000"/>
              </a:lnSpc>
            </a:pPr>
            <a:r>
              <a:rPr sz="1400" b="1" i="0">
                <a:solidFill>
                  <a:srgbClr val="A8A398"/>
                </a:solidFill>
                <a:latin typeface="Calibri"/>
              </a:rPr>
              <a:t>MODEL 2 · Soil</a:t>
            </a:r>
          </a:p>
        </p:txBody>
      </p:sp>
      <p:sp>
        <p:nvSpPr>
          <p:cNvPr id="38" name="TextBox 37"/>
          <p:cNvSpPr txBox="1"/>
          <p:nvPr/>
        </p:nvSpPr>
        <p:spPr>
          <a:xfrm>
            <a:off x="3319272" y="5440680"/>
            <a:ext cx="2779776" cy="548640"/>
          </a:xfrm>
          <a:prstGeom prst="rect">
            <a:avLst/>
          </a:prstGeom>
          <a:noFill/>
        </p:spPr>
        <p:txBody>
          <a:bodyPr wrap="square" lIns="64008" tIns="27432" rIns="64008" bIns="27432" anchor="t">
            <a:spAutoFit/>
          </a:bodyPr>
          <a:lstStyle/>
          <a:p>
            <a:pPr algn="ctr">
              <a:lnSpc>
                <a:spcPct val="110000"/>
              </a:lnSpc>
            </a:pPr>
            <a:r>
              <a:rPr sz="1100" b="0" i="0">
                <a:solidFill>
                  <a:srgbClr val="A8A398"/>
                </a:solidFill>
                <a:latin typeface="Calibri"/>
              </a:rPr>
              <a:t>soil photo → soil type, moisture, texture (visual only)</a:t>
            </a:r>
          </a:p>
        </p:txBody>
      </p:sp>
      <p:sp>
        <p:nvSpPr>
          <p:cNvPr id="39" name="Rounded Rectangle 38"/>
          <p:cNvSpPr/>
          <p:nvPr/>
        </p:nvSpPr>
        <p:spPr>
          <a:xfrm>
            <a:off x="8229600" y="1143000"/>
            <a:ext cx="3474720" cy="1143000"/>
          </a:xfrm>
          <a:prstGeom prst="roundRect">
            <a:avLst/>
          </a:prstGeom>
          <a:solidFill>
            <a:srgbClr val="EBE8E0"/>
          </a:solidFill>
          <a:ln w="15875">
            <a:solidFill>
              <a:srgbClr val="D2C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366760" y="1143000"/>
            <a:ext cx="3200400" cy="73152"/>
          </a:xfrm>
          <a:prstGeom prst="rect">
            <a:avLst/>
          </a:prstGeom>
          <a:solidFill>
            <a:srgbClr val="D2C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75320" y="1252728"/>
            <a:ext cx="3383280" cy="384048"/>
          </a:xfrm>
          <a:prstGeom prst="rect">
            <a:avLst/>
          </a:prstGeom>
          <a:noFill/>
        </p:spPr>
        <p:txBody>
          <a:bodyPr wrap="square" lIns="64008" tIns="27432" rIns="64008" bIns="27432" anchor="t">
            <a:spAutoFit/>
          </a:bodyPr>
          <a:lstStyle/>
          <a:p>
            <a:pPr algn="ctr">
              <a:lnSpc>
                <a:spcPct val="108000"/>
              </a:lnSpc>
            </a:pPr>
            <a:r>
              <a:rPr sz="1400" b="1" i="0">
                <a:solidFill>
                  <a:srgbClr val="A8A398"/>
                </a:solidFill>
                <a:latin typeface="Calibri"/>
              </a:rPr>
              <a:t>KNOWLEDGE BASE</a:t>
            </a:r>
          </a:p>
        </p:txBody>
      </p:sp>
      <p:sp>
        <p:nvSpPr>
          <p:cNvPr id="42" name="TextBox 41"/>
          <p:cNvSpPr txBox="1"/>
          <p:nvPr/>
        </p:nvSpPr>
        <p:spPr>
          <a:xfrm>
            <a:off x="8302752" y="1600200"/>
            <a:ext cx="3328416" cy="640080"/>
          </a:xfrm>
          <a:prstGeom prst="rect">
            <a:avLst/>
          </a:prstGeom>
          <a:noFill/>
        </p:spPr>
        <p:txBody>
          <a:bodyPr wrap="square" lIns="64008" tIns="27432" rIns="64008" bIns="27432" anchor="t">
            <a:spAutoFit/>
          </a:bodyPr>
          <a:lstStyle/>
          <a:p>
            <a:pPr algn="ctr">
              <a:lnSpc>
                <a:spcPct val="110000"/>
              </a:lnSpc>
            </a:pPr>
            <a:r>
              <a:rPr sz="1100" b="0" i="0">
                <a:solidFill>
                  <a:srgbClr val="A8A398"/>
                </a:solidFill>
                <a:latin typeface="Calibri"/>
              </a:rPr>
              <a:t>six classical texts → 327 numbered passages</a:t>
            </a:r>
          </a:p>
          <a:p>
            <a:pPr algn="ctr">
              <a:lnSpc>
                <a:spcPct val="110000"/>
              </a:lnSpc>
            </a:pPr>
            <a:r>
              <a:rPr sz="1100" b="0" i="0">
                <a:solidFill>
                  <a:srgbClr val="A8A398"/>
                </a:solidFill>
                <a:latin typeface="Calibri"/>
              </a:rPr>
              <a:t>search by meaning + by keyword</a:t>
            </a:r>
          </a:p>
        </p:txBody>
      </p:sp>
      <p:sp>
        <p:nvSpPr>
          <p:cNvPr id="43" name="Rounded Rectangle 42"/>
          <p:cNvSpPr/>
          <p:nvPr/>
        </p:nvSpPr>
        <p:spPr>
          <a:xfrm>
            <a:off x="8229600" y="2788920"/>
            <a:ext cx="3474720" cy="1371600"/>
          </a:xfrm>
          <a:prstGeom prst="roundRect">
            <a:avLst/>
          </a:prstGeom>
          <a:solidFill>
            <a:srgbClr val="EBE8E0"/>
          </a:solidFill>
          <a:ln w="15875">
            <a:solidFill>
              <a:srgbClr val="D2C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8366760" y="2788920"/>
            <a:ext cx="3200400" cy="73152"/>
          </a:xfrm>
          <a:prstGeom prst="rect">
            <a:avLst/>
          </a:prstGeom>
          <a:solidFill>
            <a:srgbClr val="D2C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275320" y="2898648"/>
            <a:ext cx="3383280" cy="384048"/>
          </a:xfrm>
          <a:prstGeom prst="rect">
            <a:avLst/>
          </a:prstGeom>
          <a:noFill/>
        </p:spPr>
        <p:txBody>
          <a:bodyPr wrap="square" lIns="64008" tIns="27432" rIns="64008" bIns="27432" anchor="t">
            <a:spAutoFit/>
          </a:bodyPr>
          <a:lstStyle/>
          <a:p>
            <a:pPr algn="ctr">
              <a:lnSpc>
                <a:spcPct val="108000"/>
              </a:lnSpc>
            </a:pPr>
            <a:r>
              <a:rPr sz="1400" b="1" i="0">
                <a:solidFill>
                  <a:srgbClr val="A8A398"/>
                </a:solidFill>
                <a:latin typeface="Calibri"/>
              </a:rPr>
              <a:t>ANSWER WRITER</a:t>
            </a:r>
          </a:p>
        </p:txBody>
      </p:sp>
      <p:sp>
        <p:nvSpPr>
          <p:cNvPr id="46" name="TextBox 45"/>
          <p:cNvSpPr txBox="1"/>
          <p:nvPr/>
        </p:nvSpPr>
        <p:spPr>
          <a:xfrm>
            <a:off x="8302752" y="3246120"/>
            <a:ext cx="3328416" cy="868680"/>
          </a:xfrm>
          <a:prstGeom prst="rect">
            <a:avLst/>
          </a:prstGeom>
          <a:noFill/>
        </p:spPr>
        <p:txBody>
          <a:bodyPr wrap="square" lIns="64008" tIns="27432" rIns="64008" bIns="27432" anchor="t">
            <a:spAutoFit/>
          </a:bodyPr>
          <a:lstStyle/>
          <a:p>
            <a:pPr algn="ctr">
              <a:lnSpc>
                <a:spcPct val="110000"/>
              </a:lnSpc>
            </a:pPr>
            <a:r>
              <a:rPr sz="1100" b="0" i="0">
                <a:solidFill>
                  <a:srgbClr val="A8A398"/>
                </a:solidFill>
                <a:latin typeface="Calibri"/>
              </a:rPr>
              <a:t>language model — may use ONLY the passages found;</a:t>
            </a:r>
          </a:p>
          <a:p>
            <a:pPr algn="ctr">
              <a:lnSpc>
                <a:spcPct val="110000"/>
              </a:lnSpc>
            </a:pPr>
            <a:r>
              <a:rPr sz="1100" b="0" i="0">
                <a:solidFill>
                  <a:srgbClr val="A8A398"/>
                </a:solidFill>
                <a:latin typeface="Calibri"/>
              </a:rPr>
              <a:t>every line cites the verse; refuses if nothing fits</a:t>
            </a:r>
          </a:p>
        </p:txBody>
      </p:sp>
      <p:sp>
        <p:nvSpPr>
          <p:cNvPr id="47" name="Rounded Rectangle 46"/>
          <p:cNvSpPr/>
          <p:nvPr/>
        </p:nvSpPr>
        <p:spPr>
          <a:xfrm>
            <a:off x="8229600" y="4800600"/>
            <a:ext cx="3474720" cy="1051560"/>
          </a:xfrm>
          <a:prstGeom prst="roundRect">
            <a:avLst/>
          </a:prstGeom>
          <a:solidFill>
            <a:srgbClr val="EBE8E0"/>
          </a:solidFill>
          <a:ln w="15875">
            <a:solidFill>
              <a:srgbClr val="D2C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8366760" y="4800600"/>
            <a:ext cx="3200400" cy="73152"/>
          </a:xfrm>
          <a:prstGeom prst="rect">
            <a:avLst/>
          </a:prstGeom>
          <a:solidFill>
            <a:srgbClr val="D2C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275320" y="4910328"/>
            <a:ext cx="3383280" cy="384048"/>
          </a:xfrm>
          <a:prstGeom prst="rect">
            <a:avLst/>
          </a:prstGeom>
          <a:noFill/>
        </p:spPr>
        <p:txBody>
          <a:bodyPr wrap="square" lIns="64008" tIns="27432" rIns="64008" bIns="27432" anchor="t">
            <a:spAutoFit/>
          </a:bodyPr>
          <a:lstStyle/>
          <a:p>
            <a:pPr algn="ctr">
              <a:lnSpc>
                <a:spcPct val="108000"/>
              </a:lnSpc>
            </a:pPr>
            <a:r>
              <a:rPr sz="1400" b="1" i="0">
                <a:solidFill>
                  <a:srgbClr val="A8A398"/>
                </a:solidFill>
                <a:latin typeface="Calibri"/>
              </a:rPr>
              <a:t>EXPLAIN &amp; DELIVER</a:t>
            </a:r>
          </a:p>
        </p:txBody>
      </p:sp>
      <p:sp>
        <p:nvSpPr>
          <p:cNvPr id="50" name="TextBox 49"/>
          <p:cNvSpPr txBox="1"/>
          <p:nvPr/>
        </p:nvSpPr>
        <p:spPr>
          <a:xfrm>
            <a:off x="8302752" y="5257800"/>
            <a:ext cx="3328416" cy="548640"/>
          </a:xfrm>
          <a:prstGeom prst="rect">
            <a:avLst/>
          </a:prstGeom>
          <a:noFill/>
        </p:spPr>
        <p:txBody>
          <a:bodyPr wrap="square" lIns="64008" tIns="27432" rIns="64008" bIns="27432" anchor="t">
            <a:spAutoFit/>
          </a:bodyPr>
          <a:lstStyle/>
          <a:p>
            <a:pPr algn="ctr">
              <a:lnSpc>
                <a:spcPct val="110000"/>
              </a:lnSpc>
            </a:pPr>
            <a:r>
              <a:rPr sz="1100" b="0" i="0">
                <a:solidFill>
                  <a:srgbClr val="A8A398"/>
                </a:solidFill>
                <a:latin typeface="Calibri"/>
              </a:rPr>
              <a:t>heat-map of the leaf region used</a:t>
            </a:r>
          </a:p>
          <a:p>
            <a:pPr algn="ctr">
              <a:lnSpc>
                <a:spcPct val="110000"/>
              </a:lnSpc>
            </a:pPr>
            <a:r>
              <a:rPr sz="1100" b="0" i="0">
                <a:solidFill>
                  <a:srgbClr val="A8A398"/>
                </a:solidFill>
                <a:latin typeface="Calibri"/>
              </a:rPr>
              <a:t>+ the passages, so anyone can verify</a:t>
            </a:r>
          </a:p>
        </p:txBody>
      </p:sp>
      <p:pic>
        <p:nvPicPr>
          <p:cNvPr id="51" name="Picture 50" descr="_sq_leaf_apple_scab.jpg"/>
          <p:cNvPicPr>
            <a:picLocks noChangeAspect="1"/>
          </p:cNvPicPr>
          <p:nvPr/>
        </p:nvPicPr>
        <p:blipFill>
          <a:blip r:embed="rId3"/>
          <a:stretch>
            <a:fillRect/>
          </a:stretch>
        </p:blipFill>
        <p:spPr>
          <a:xfrm>
            <a:off x="2606040" y="3611880"/>
            <a:ext cx="457200" cy="457200"/>
          </a:xfrm>
          <a:prstGeom prst="rect">
            <a:avLst/>
          </a:prstGeom>
        </p:spPr>
      </p:pic>
      <p:pic>
        <p:nvPicPr>
          <p:cNvPr id="52" name="Picture 51" descr="_sq_soil_alluvial.jpg"/>
          <p:cNvPicPr>
            <a:picLocks noChangeAspect="1"/>
          </p:cNvPicPr>
          <p:nvPr/>
        </p:nvPicPr>
        <p:blipFill>
          <a:blip r:embed="rId4"/>
          <a:stretch>
            <a:fillRect/>
          </a:stretch>
        </p:blipFill>
        <p:spPr>
          <a:xfrm>
            <a:off x="3108960" y="3611880"/>
            <a:ext cx="457200" cy="457200"/>
          </a:xfrm>
          <a:prstGeom prst="rect">
            <a:avLst/>
          </a:prstGeom>
        </p:spPr>
      </p:pic>
      <p:sp>
        <p:nvSpPr>
          <p:cNvPr id="53" name="Rectangle 52"/>
          <p:cNvSpPr/>
          <p:nvPr/>
        </p:nvSpPr>
        <p:spPr>
          <a:xfrm>
            <a:off x="3566160" y="6382512"/>
            <a:ext cx="109728" cy="256032"/>
          </a:xfrm>
          <a:prstGeom prst="rect">
            <a:avLst/>
          </a:prstGeom>
          <a:solidFill>
            <a:srgbClr val="C88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3749039" y="6336792"/>
            <a:ext cx="7955279" cy="365760"/>
          </a:xfrm>
          <a:prstGeom prst="rect">
            <a:avLst/>
          </a:prstGeom>
          <a:noFill/>
        </p:spPr>
        <p:txBody>
          <a:bodyPr wrap="square" lIns="64008" tIns="27432" rIns="64008" bIns="27432" anchor="t">
            <a:spAutoFit/>
          </a:bodyPr>
          <a:lstStyle/>
          <a:p>
            <a:pPr algn="l">
              <a:lnSpc>
                <a:spcPct val="108000"/>
              </a:lnSpc>
            </a:pPr>
            <a:r>
              <a:rPr sz="1300" b="1" i="0">
                <a:solidFill>
                  <a:srgbClr val="1F4D2E"/>
                </a:solidFill>
                <a:latin typeface="Calibri"/>
              </a:rPr>
              <a:t>Step 1 of 5 - the farmer sends two photos, the crop and a suspected cause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F4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56032"/>
            <a:ext cx="8229600" cy="320040"/>
          </a:xfrm>
          <a:prstGeom prst="rect">
            <a:avLst/>
          </a:prstGeom>
          <a:noFill/>
        </p:spPr>
        <p:txBody>
          <a:bodyPr wrap="square" lIns="64008" tIns="27432" rIns="64008" bIns="27432" anchor="t">
            <a:spAutoFit/>
          </a:bodyPr>
          <a:lstStyle/>
          <a:p>
            <a:pPr algn="l">
              <a:lnSpc>
                <a:spcPct val="108000"/>
              </a:lnSpc>
            </a:pPr>
            <a:r>
              <a:rPr sz="1200" b="1" i="0">
                <a:solidFill>
                  <a:srgbClr val="C8891E"/>
                </a:solidFill>
                <a:latin typeface="Calibri"/>
              </a:rPr>
              <a:t>ARCHITECTURE  ·  PRESS → TO ADVANCE</a:t>
            </a:r>
          </a:p>
        </p:txBody>
      </p:sp>
      <p:sp>
        <p:nvSpPr>
          <p:cNvPr id="5" name="TextBox 4"/>
          <p:cNvSpPr txBox="1"/>
          <p:nvPr/>
        </p:nvSpPr>
        <p:spPr>
          <a:xfrm>
            <a:off x="457200" y="502920"/>
            <a:ext cx="11247120" cy="731520"/>
          </a:xfrm>
          <a:prstGeom prst="rect">
            <a:avLst/>
          </a:prstGeom>
          <a:noFill/>
        </p:spPr>
        <p:txBody>
          <a:bodyPr wrap="square" lIns="64008" tIns="27432" rIns="64008" bIns="27432" anchor="t">
            <a:spAutoFit/>
          </a:bodyPr>
          <a:lstStyle/>
          <a:p>
            <a:pPr algn="l">
              <a:lnSpc>
                <a:spcPct val="108000"/>
              </a:lnSpc>
            </a:pPr>
            <a:r>
              <a:rPr sz="3000" b="1" i="0">
                <a:solidFill>
                  <a:srgbClr val="1F4D2E"/>
                </a:solidFill>
                <a:latin typeface="Georgia"/>
              </a:rPr>
              <a:t>How it works — from photo to cited advice</a:t>
            </a:r>
          </a:p>
        </p:txBody>
      </p:sp>
      <p:cxnSp>
        <p:nvCxnSpPr>
          <p:cNvPr id="6" name="Connector 5"/>
          <p:cNvCxnSpPr/>
          <p:nvPr/>
        </p:nvCxnSpPr>
        <p:spPr>
          <a:xfrm flipV="1">
            <a:off x="2286000" y="3108960"/>
            <a:ext cx="1371600" cy="182880"/>
          </a:xfrm>
          <a:prstGeom prst="line">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194560" y="2651760"/>
            <a:ext cx="1554480" cy="457200"/>
          </a:xfrm>
          <a:prstGeom prst="rect">
            <a:avLst/>
          </a:prstGeom>
          <a:noFill/>
        </p:spPr>
        <p:txBody>
          <a:bodyPr wrap="square" lIns="64008" tIns="27432" rIns="64008" bIns="27432" anchor="t">
            <a:spAutoFit/>
          </a:bodyPr>
          <a:lstStyle/>
          <a:p>
            <a:pPr algn="ctr">
              <a:lnSpc>
                <a:spcPct val="108000"/>
              </a:lnSpc>
            </a:pPr>
            <a:r>
              <a:rPr sz="1100" b="0" i="1">
                <a:solidFill>
                  <a:srgbClr val="A8A398"/>
                </a:solidFill>
                <a:latin typeface="Calibri"/>
              </a:rPr>
              <a:t>leaf + soil photo, crop, cause</a:t>
            </a:r>
          </a:p>
        </p:txBody>
      </p:sp>
      <p:cxnSp>
        <p:nvCxnSpPr>
          <p:cNvPr id="8" name="Connector 7"/>
          <p:cNvCxnSpPr/>
          <p:nvPr/>
        </p:nvCxnSpPr>
        <p:spPr>
          <a:xfrm flipV="1">
            <a:off x="4480560" y="2148840"/>
            <a:ext cx="0" cy="274320"/>
          </a:xfrm>
          <a:prstGeom prst="line">
            <a:avLst/>
          </a:prstGeom>
          <a:ln w="38100">
            <a:solidFill>
              <a:srgbClr val="C8891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937760" y="2148840"/>
            <a:ext cx="0" cy="274320"/>
          </a:xfrm>
          <a:prstGeom prst="line">
            <a:avLst/>
          </a:prstGeom>
          <a:ln w="38100">
            <a:solidFill>
              <a:srgbClr val="C8891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480560" y="4526280"/>
            <a:ext cx="0" cy="457200"/>
          </a:xfrm>
          <a:prstGeom prst="line">
            <a:avLst/>
          </a:prstGeom>
          <a:ln w="38100">
            <a:solidFill>
              <a:srgbClr val="C8891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4937760" y="4526280"/>
            <a:ext cx="0" cy="457200"/>
          </a:xfrm>
          <a:prstGeom prst="line">
            <a:avLst/>
          </a:prstGeom>
          <a:ln w="38100">
            <a:solidFill>
              <a:srgbClr val="C889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029200" y="2194560"/>
            <a:ext cx="2011680" cy="457200"/>
          </a:xfrm>
          <a:prstGeom prst="rect">
            <a:avLst/>
          </a:prstGeom>
          <a:noFill/>
        </p:spPr>
        <p:txBody>
          <a:bodyPr wrap="square" lIns="64008" tIns="27432" rIns="64008" bIns="27432" anchor="t">
            <a:spAutoFit/>
          </a:bodyPr>
          <a:lstStyle/>
          <a:p>
            <a:pPr algn="l">
              <a:lnSpc>
                <a:spcPct val="108000"/>
              </a:lnSpc>
            </a:pPr>
            <a:r>
              <a:rPr sz="1100" b="1" i="1">
                <a:solidFill>
                  <a:srgbClr val="C8891E"/>
                </a:solidFill>
                <a:latin typeface="Calibri"/>
              </a:rPr>
              <a:t>disease · confidence</a:t>
            </a:r>
          </a:p>
        </p:txBody>
      </p:sp>
      <p:sp>
        <p:nvSpPr>
          <p:cNvPr id="13" name="TextBox 12"/>
          <p:cNvSpPr txBox="1"/>
          <p:nvPr/>
        </p:nvSpPr>
        <p:spPr>
          <a:xfrm>
            <a:off x="5029200" y="4572000"/>
            <a:ext cx="2194560" cy="457200"/>
          </a:xfrm>
          <a:prstGeom prst="rect">
            <a:avLst/>
          </a:prstGeom>
          <a:noFill/>
        </p:spPr>
        <p:txBody>
          <a:bodyPr wrap="square" lIns="64008" tIns="27432" rIns="64008" bIns="27432" anchor="t">
            <a:spAutoFit/>
          </a:bodyPr>
          <a:lstStyle/>
          <a:p>
            <a:pPr algn="l">
              <a:lnSpc>
                <a:spcPct val="108000"/>
              </a:lnSpc>
            </a:pPr>
            <a:r>
              <a:rPr sz="1100" b="1" i="1">
                <a:solidFill>
                  <a:srgbClr val="C8891E"/>
                </a:solidFill>
                <a:latin typeface="Calibri"/>
              </a:rPr>
              <a:t>soil type · moisture · texture</a:t>
            </a:r>
          </a:p>
        </p:txBody>
      </p:sp>
      <p:cxnSp>
        <p:nvCxnSpPr>
          <p:cNvPr id="14" name="Connector 13"/>
          <p:cNvCxnSpPr/>
          <p:nvPr/>
        </p:nvCxnSpPr>
        <p:spPr>
          <a:xfrm flipV="1">
            <a:off x="5623560" y="2057400"/>
            <a:ext cx="2606040" cy="868680"/>
          </a:xfrm>
          <a:prstGeom prst="line">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989320" y="1920240"/>
            <a:ext cx="2103120" cy="457200"/>
          </a:xfrm>
          <a:prstGeom prst="rect">
            <a:avLst/>
          </a:prstGeom>
          <a:noFill/>
        </p:spPr>
        <p:txBody>
          <a:bodyPr wrap="square" lIns="64008" tIns="27432" rIns="64008" bIns="27432" anchor="t">
            <a:spAutoFit/>
          </a:bodyPr>
          <a:lstStyle/>
          <a:p>
            <a:pPr algn="ctr">
              <a:lnSpc>
                <a:spcPct val="108000"/>
              </a:lnSpc>
            </a:pPr>
            <a:r>
              <a:rPr sz="1100" b="0" i="1">
                <a:solidFill>
                  <a:srgbClr val="A8A398"/>
                </a:solidFill>
                <a:latin typeface="Calibri"/>
              </a:rPr>
              <a:t>symptom question</a:t>
            </a:r>
          </a:p>
        </p:txBody>
      </p:sp>
      <p:cxnSp>
        <p:nvCxnSpPr>
          <p:cNvPr id="16" name="Connector 15"/>
          <p:cNvCxnSpPr/>
          <p:nvPr/>
        </p:nvCxnSpPr>
        <p:spPr>
          <a:xfrm>
            <a:off x="9966960" y="2286000"/>
            <a:ext cx="0" cy="502920"/>
          </a:xfrm>
          <a:prstGeom prst="line">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0058400" y="2395728"/>
            <a:ext cx="1828800" cy="457200"/>
          </a:xfrm>
          <a:prstGeom prst="rect">
            <a:avLst/>
          </a:prstGeom>
          <a:noFill/>
        </p:spPr>
        <p:txBody>
          <a:bodyPr wrap="square" lIns="64008" tIns="27432" rIns="64008" bIns="27432" anchor="t">
            <a:spAutoFit/>
          </a:bodyPr>
          <a:lstStyle/>
          <a:p>
            <a:pPr algn="l">
              <a:lnSpc>
                <a:spcPct val="108000"/>
              </a:lnSpc>
            </a:pPr>
            <a:r>
              <a:rPr sz="1100" b="0" i="1">
                <a:solidFill>
                  <a:srgbClr val="A8A398"/>
                </a:solidFill>
                <a:latin typeface="Calibri"/>
              </a:rPr>
              <a:t>5 best passages</a:t>
            </a:r>
          </a:p>
        </p:txBody>
      </p:sp>
      <p:cxnSp>
        <p:nvCxnSpPr>
          <p:cNvPr id="18" name="Connector 17"/>
          <p:cNvCxnSpPr/>
          <p:nvPr/>
        </p:nvCxnSpPr>
        <p:spPr>
          <a:xfrm>
            <a:off x="9966960" y="4160520"/>
            <a:ext cx="0" cy="640080"/>
          </a:xfrm>
          <a:prstGeom prst="line">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058400" y="4270248"/>
            <a:ext cx="2194560" cy="457200"/>
          </a:xfrm>
          <a:prstGeom prst="rect">
            <a:avLst/>
          </a:prstGeom>
          <a:noFill/>
        </p:spPr>
        <p:txBody>
          <a:bodyPr wrap="square" lIns="64008" tIns="27432" rIns="64008" bIns="27432" anchor="t">
            <a:spAutoFit/>
          </a:bodyPr>
          <a:lstStyle/>
          <a:p>
            <a:pPr algn="l">
              <a:lnSpc>
                <a:spcPct val="108000"/>
              </a:lnSpc>
            </a:pPr>
            <a:r>
              <a:rPr sz="1100" b="0" i="1">
                <a:solidFill>
                  <a:srgbClr val="A8A398"/>
                </a:solidFill>
                <a:latin typeface="Calibri"/>
              </a:rPr>
              <a:t>cited advice · or honest refusal</a:t>
            </a:r>
          </a:p>
        </p:txBody>
      </p:sp>
      <p:cxnSp>
        <p:nvCxnSpPr>
          <p:cNvPr id="20" name="Connector 19"/>
          <p:cNvCxnSpPr/>
          <p:nvPr/>
        </p:nvCxnSpPr>
        <p:spPr>
          <a:xfrm flipH="1" flipV="1">
            <a:off x="1371600" y="4526280"/>
            <a:ext cx="6858000" cy="1143000"/>
          </a:xfrm>
          <a:prstGeom prst="bentConnector3">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57200" y="6053328"/>
            <a:ext cx="2926080" cy="457200"/>
          </a:xfrm>
          <a:prstGeom prst="rect">
            <a:avLst/>
          </a:prstGeom>
          <a:noFill/>
        </p:spPr>
        <p:txBody>
          <a:bodyPr wrap="square" lIns="64008" tIns="27432" rIns="64008" bIns="27432" anchor="t">
            <a:spAutoFit/>
          </a:bodyPr>
          <a:lstStyle/>
          <a:p>
            <a:pPr algn="l">
              <a:lnSpc>
                <a:spcPct val="108000"/>
              </a:lnSpc>
            </a:pPr>
            <a:r>
              <a:rPr sz="1100" b="0" i="1">
                <a:solidFill>
                  <a:srgbClr val="A8A398"/>
                </a:solidFill>
                <a:latin typeface="Calibri"/>
              </a:rPr>
              <a:t>advice + verse + heat-map + passages</a:t>
            </a:r>
          </a:p>
        </p:txBody>
      </p:sp>
      <p:sp>
        <p:nvSpPr>
          <p:cNvPr id="22" name="Rounded Rectangle 21"/>
          <p:cNvSpPr/>
          <p:nvPr/>
        </p:nvSpPr>
        <p:spPr>
          <a:xfrm>
            <a:off x="457200" y="2606040"/>
            <a:ext cx="1828800" cy="1920240"/>
          </a:xfrm>
          <a:prstGeom prst="roundRect">
            <a:avLst/>
          </a:prstGeom>
          <a:solidFill>
            <a:srgbClr val="EBE8E0"/>
          </a:solidFill>
          <a:ln w="15875">
            <a:solidFill>
              <a:srgbClr val="D2C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94360" y="2606040"/>
            <a:ext cx="1554480" cy="73152"/>
          </a:xfrm>
          <a:prstGeom prst="rect">
            <a:avLst/>
          </a:prstGeom>
          <a:solidFill>
            <a:srgbClr val="D2C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2920" y="2715768"/>
            <a:ext cx="1737360" cy="384048"/>
          </a:xfrm>
          <a:prstGeom prst="rect">
            <a:avLst/>
          </a:prstGeom>
          <a:noFill/>
        </p:spPr>
        <p:txBody>
          <a:bodyPr wrap="square" lIns="64008" tIns="27432" rIns="64008" bIns="27432" anchor="t">
            <a:spAutoFit/>
          </a:bodyPr>
          <a:lstStyle/>
          <a:p>
            <a:pPr algn="ctr">
              <a:lnSpc>
                <a:spcPct val="108000"/>
              </a:lnSpc>
            </a:pPr>
            <a:r>
              <a:rPr sz="1500" b="1" i="0">
                <a:solidFill>
                  <a:srgbClr val="A8A398"/>
                </a:solidFill>
                <a:latin typeface="Calibri"/>
              </a:rPr>
              <a:t>FARMER</a:t>
            </a:r>
          </a:p>
        </p:txBody>
      </p:sp>
      <p:sp>
        <p:nvSpPr>
          <p:cNvPr id="25" name="TextBox 24"/>
          <p:cNvSpPr txBox="1"/>
          <p:nvPr/>
        </p:nvSpPr>
        <p:spPr>
          <a:xfrm>
            <a:off x="530352" y="3063240"/>
            <a:ext cx="1682496" cy="1417320"/>
          </a:xfrm>
          <a:prstGeom prst="rect">
            <a:avLst/>
          </a:prstGeom>
          <a:noFill/>
        </p:spPr>
        <p:txBody>
          <a:bodyPr wrap="square" lIns="64008" tIns="27432" rIns="64008" bIns="27432" anchor="t">
            <a:spAutoFit/>
          </a:bodyPr>
          <a:lstStyle/>
          <a:p>
            <a:pPr algn="ctr">
              <a:lnSpc>
                <a:spcPct val="110000"/>
              </a:lnSpc>
            </a:pPr>
            <a:r>
              <a:rPr sz="1200" b="0" i="0">
                <a:solidFill>
                  <a:srgbClr val="A8A398"/>
                </a:solidFill>
                <a:latin typeface="Calibri"/>
              </a:rPr>
              <a:t>leaf photo</a:t>
            </a:r>
          </a:p>
          <a:p>
            <a:pPr algn="ctr">
              <a:lnSpc>
                <a:spcPct val="110000"/>
              </a:lnSpc>
            </a:pPr>
            <a:r>
              <a:rPr sz="1200" b="0" i="0">
                <a:solidFill>
                  <a:srgbClr val="A8A398"/>
                </a:solidFill>
                <a:latin typeface="Calibri"/>
              </a:rPr>
              <a:t>soil photo</a:t>
            </a:r>
          </a:p>
          <a:p>
            <a:pPr algn="ctr">
              <a:lnSpc>
                <a:spcPct val="110000"/>
              </a:lnSpc>
            </a:pPr>
            <a:r>
              <a:rPr sz="1200" b="0" i="0">
                <a:solidFill>
                  <a:srgbClr val="A8A398"/>
                </a:solidFill>
                <a:latin typeface="Calibri"/>
              </a:rPr>
              <a:t>crop · suspected cause</a:t>
            </a:r>
          </a:p>
        </p:txBody>
      </p:sp>
      <p:sp>
        <p:nvSpPr>
          <p:cNvPr id="26" name="Oval 25"/>
          <p:cNvSpPr/>
          <p:nvPr/>
        </p:nvSpPr>
        <p:spPr>
          <a:xfrm>
            <a:off x="3657600" y="2423160"/>
            <a:ext cx="2103120" cy="2103120"/>
          </a:xfrm>
          <a:prstGeom prst="ellipse">
            <a:avLst/>
          </a:prstGeom>
          <a:solidFill>
            <a:srgbClr val="FFFCF5"/>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703320" y="2743200"/>
            <a:ext cx="2011680" cy="384048"/>
          </a:xfrm>
          <a:prstGeom prst="rect">
            <a:avLst/>
          </a:prstGeom>
          <a:noFill/>
        </p:spPr>
        <p:txBody>
          <a:bodyPr wrap="square" lIns="64008" tIns="27432" rIns="64008" bIns="27432" anchor="t">
            <a:spAutoFit/>
          </a:bodyPr>
          <a:lstStyle/>
          <a:p>
            <a:pPr algn="ctr">
              <a:lnSpc>
                <a:spcPct val="108000"/>
              </a:lnSpc>
            </a:pPr>
            <a:r>
              <a:rPr sz="1500" b="1" i="0">
                <a:solidFill>
                  <a:srgbClr val="1F4D2E"/>
                </a:solidFill>
                <a:latin typeface="Calibri"/>
              </a:rPr>
              <a:t>THE COMBINER</a:t>
            </a:r>
          </a:p>
        </p:txBody>
      </p:sp>
      <p:sp>
        <p:nvSpPr>
          <p:cNvPr id="28" name="TextBox 27"/>
          <p:cNvSpPr txBox="1"/>
          <p:nvPr/>
        </p:nvSpPr>
        <p:spPr>
          <a:xfrm>
            <a:off x="3730752" y="3154680"/>
            <a:ext cx="1956816" cy="1600200"/>
          </a:xfrm>
          <a:prstGeom prst="rect">
            <a:avLst/>
          </a:prstGeom>
          <a:noFill/>
        </p:spPr>
        <p:txBody>
          <a:bodyPr wrap="square" lIns="64008" tIns="27432" rIns="64008" bIns="27432" anchor="t">
            <a:spAutoFit/>
          </a:bodyPr>
          <a:lstStyle/>
          <a:p>
            <a:pPr algn="ctr">
              <a:lnSpc>
                <a:spcPct val="110000"/>
              </a:lnSpc>
            </a:pPr>
            <a:r>
              <a:rPr sz="1100" b="0" i="0">
                <a:solidFill>
                  <a:srgbClr val="222222"/>
                </a:solidFill>
                <a:latin typeface="Calibri"/>
              </a:rPr>
              <a:t>the hub: routes the photos,</a:t>
            </a:r>
          </a:p>
          <a:p>
            <a:pPr algn="ctr">
              <a:lnSpc>
                <a:spcPct val="110000"/>
              </a:lnSpc>
            </a:pPr>
            <a:r>
              <a:rPr sz="1100" b="0" i="0">
                <a:solidFill>
                  <a:srgbClr val="222222"/>
                </a:solidFill>
                <a:latin typeface="Calibri"/>
              </a:rPr>
              <a:t>writes the question,</a:t>
            </a:r>
          </a:p>
          <a:p>
            <a:pPr algn="ctr">
              <a:lnSpc>
                <a:spcPct val="110000"/>
              </a:lnSpc>
            </a:pPr>
            <a:r>
              <a:rPr sz="1100" b="0" i="0">
                <a:solidFill>
                  <a:srgbClr val="222222"/>
                </a:solidFill>
                <a:latin typeface="Calibri"/>
              </a:rPr>
              <a:t>delivers the answer</a:t>
            </a:r>
          </a:p>
        </p:txBody>
      </p:sp>
      <p:sp>
        <p:nvSpPr>
          <p:cNvPr id="29" name="Rounded Rectangle 28"/>
          <p:cNvSpPr/>
          <p:nvPr/>
        </p:nvSpPr>
        <p:spPr>
          <a:xfrm>
            <a:off x="3246120" y="1143000"/>
            <a:ext cx="2926080" cy="1005840"/>
          </a:xfrm>
          <a:prstGeom prst="roundRect">
            <a:avLst/>
          </a:prstGeom>
          <a:solidFill>
            <a:srgbClr val="FFFCF5"/>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3383280" y="1143000"/>
            <a:ext cx="2651760" cy="73152"/>
          </a:xfrm>
          <a:prstGeom prst="rect">
            <a:avLst/>
          </a:prstGeom>
          <a:solidFill>
            <a:srgbClr val="1F4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291840" y="1252728"/>
            <a:ext cx="2834640" cy="384048"/>
          </a:xfrm>
          <a:prstGeom prst="rect">
            <a:avLst/>
          </a:prstGeom>
          <a:noFill/>
        </p:spPr>
        <p:txBody>
          <a:bodyPr wrap="square" lIns="64008" tIns="27432" rIns="64008" bIns="27432" anchor="t">
            <a:spAutoFit/>
          </a:bodyPr>
          <a:lstStyle/>
          <a:p>
            <a:pPr algn="ctr">
              <a:lnSpc>
                <a:spcPct val="108000"/>
              </a:lnSpc>
            </a:pPr>
            <a:r>
              <a:rPr sz="1400" b="1" i="0">
                <a:solidFill>
                  <a:srgbClr val="1F4D2E"/>
                </a:solidFill>
                <a:latin typeface="Calibri"/>
              </a:rPr>
              <a:t>MODEL 1 · Plant disease</a:t>
            </a:r>
          </a:p>
        </p:txBody>
      </p:sp>
      <p:sp>
        <p:nvSpPr>
          <p:cNvPr id="32" name="TextBox 31"/>
          <p:cNvSpPr txBox="1"/>
          <p:nvPr/>
        </p:nvSpPr>
        <p:spPr>
          <a:xfrm>
            <a:off x="3319272" y="1600200"/>
            <a:ext cx="2779776" cy="502920"/>
          </a:xfrm>
          <a:prstGeom prst="rect">
            <a:avLst/>
          </a:prstGeom>
          <a:noFill/>
        </p:spPr>
        <p:txBody>
          <a:bodyPr wrap="square" lIns="64008" tIns="27432" rIns="64008" bIns="27432" anchor="t">
            <a:spAutoFit/>
          </a:bodyPr>
          <a:lstStyle/>
          <a:p>
            <a:pPr algn="ctr">
              <a:lnSpc>
                <a:spcPct val="110000"/>
              </a:lnSpc>
            </a:pPr>
            <a:r>
              <a:rPr sz="1100" b="0" i="0">
                <a:solidFill>
                  <a:srgbClr val="222222"/>
                </a:solidFill>
                <a:latin typeface="Calibri"/>
              </a:rPr>
              <a:t>leaf photo → disease name, healthy/diseased, confidence, heat-map</a:t>
            </a:r>
          </a:p>
        </p:txBody>
      </p:sp>
      <p:sp>
        <p:nvSpPr>
          <p:cNvPr id="33" name="Rounded Rectangle 32"/>
          <p:cNvSpPr/>
          <p:nvPr/>
        </p:nvSpPr>
        <p:spPr>
          <a:xfrm>
            <a:off x="3246120" y="4983480"/>
            <a:ext cx="2926080" cy="1051560"/>
          </a:xfrm>
          <a:prstGeom prst="roundRect">
            <a:avLst/>
          </a:prstGeom>
          <a:solidFill>
            <a:srgbClr val="FFFCF5"/>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3383280" y="4983480"/>
            <a:ext cx="2651760" cy="73152"/>
          </a:xfrm>
          <a:prstGeom prst="rect">
            <a:avLst/>
          </a:prstGeom>
          <a:solidFill>
            <a:srgbClr val="1F4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291840" y="5093208"/>
            <a:ext cx="2834640" cy="384048"/>
          </a:xfrm>
          <a:prstGeom prst="rect">
            <a:avLst/>
          </a:prstGeom>
          <a:noFill/>
        </p:spPr>
        <p:txBody>
          <a:bodyPr wrap="square" lIns="64008" tIns="27432" rIns="64008" bIns="27432" anchor="t">
            <a:spAutoFit/>
          </a:bodyPr>
          <a:lstStyle/>
          <a:p>
            <a:pPr algn="ctr">
              <a:lnSpc>
                <a:spcPct val="108000"/>
              </a:lnSpc>
            </a:pPr>
            <a:r>
              <a:rPr sz="1400" b="1" i="0">
                <a:solidFill>
                  <a:srgbClr val="1F4D2E"/>
                </a:solidFill>
                <a:latin typeface="Calibri"/>
              </a:rPr>
              <a:t>MODEL 2 · Soil</a:t>
            </a:r>
          </a:p>
        </p:txBody>
      </p:sp>
      <p:sp>
        <p:nvSpPr>
          <p:cNvPr id="36" name="TextBox 35"/>
          <p:cNvSpPr txBox="1"/>
          <p:nvPr/>
        </p:nvSpPr>
        <p:spPr>
          <a:xfrm>
            <a:off x="3319272" y="5440680"/>
            <a:ext cx="2779776" cy="548640"/>
          </a:xfrm>
          <a:prstGeom prst="rect">
            <a:avLst/>
          </a:prstGeom>
          <a:noFill/>
        </p:spPr>
        <p:txBody>
          <a:bodyPr wrap="square" lIns="64008" tIns="27432" rIns="64008" bIns="27432" anchor="t">
            <a:spAutoFit/>
          </a:bodyPr>
          <a:lstStyle/>
          <a:p>
            <a:pPr algn="ctr">
              <a:lnSpc>
                <a:spcPct val="110000"/>
              </a:lnSpc>
            </a:pPr>
            <a:r>
              <a:rPr sz="1100" b="0" i="0">
                <a:solidFill>
                  <a:srgbClr val="222222"/>
                </a:solidFill>
                <a:latin typeface="Calibri"/>
              </a:rPr>
              <a:t>soil photo → soil type, moisture, texture (visual only)</a:t>
            </a:r>
          </a:p>
        </p:txBody>
      </p:sp>
      <p:sp>
        <p:nvSpPr>
          <p:cNvPr id="37" name="Rounded Rectangle 36"/>
          <p:cNvSpPr/>
          <p:nvPr/>
        </p:nvSpPr>
        <p:spPr>
          <a:xfrm>
            <a:off x="8229600" y="1143000"/>
            <a:ext cx="3474720" cy="1143000"/>
          </a:xfrm>
          <a:prstGeom prst="roundRect">
            <a:avLst/>
          </a:prstGeom>
          <a:solidFill>
            <a:srgbClr val="EBE8E0"/>
          </a:solidFill>
          <a:ln w="15875">
            <a:solidFill>
              <a:srgbClr val="D2C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8366760" y="1143000"/>
            <a:ext cx="3200400" cy="73152"/>
          </a:xfrm>
          <a:prstGeom prst="rect">
            <a:avLst/>
          </a:prstGeom>
          <a:solidFill>
            <a:srgbClr val="D2C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275320" y="1252728"/>
            <a:ext cx="3383280" cy="384048"/>
          </a:xfrm>
          <a:prstGeom prst="rect">
            <a:avLst/>
          </a:prstGeom>
          <a:noFill/>
        </p:spPr>
        <p:txBody>
          <a:bodyPr wrap="square" lIns="64008" tIns="27432" rIns="64008" bIns="27432" anchor="t">
            <a:spAutoFit/>
          </a:bodyPr>
          <a:lstStyle/>
          <a:p>
            <a:pPr algn="ctr">
              <a:lnSpc>
                <a:spcPct val="108000"/>
              </a:lnSpc>
            </a:pPr>
            <a:r>
              <a:rPr sz="1400" b="1" i="0">
                <a:solidFill>
                  <a:srgbClr val="A8A398"/>
                </a:solidFill>
                <a:latin typeface="Calibri"/>
              </a:rPr>
              <a:t>KNOWLEDGE BASE</a:t>
            </a:r>
          </a:p>
        </p:txBody>
      </p:sp>
      <p:sp>
        <p:nvSpPr>
          <p:cNvPr id="40" name="TextBox 39"/>
          <p:cNvSpPr txBox="1"/>
          <p:nvPr/>
        </p:nvSpPr>
        <p:spPr>
          <a:xfrm>
            <a:off x="8302752" y="1600200"/>
            <a:ext cx="3328416" cy="640080"/>
          </a:xfrm>
          <a:prstGeom prst="rect">
            <a:avLst/>
          </a:prstGeom>
          <a:noFill/>
        </p:spPr>
        <p:txBody>
          <a:bodyPr wrap="square" lIns="64008" tIns="27432" rIns="64008" bIns="27432" anchor="t">
            <a:spAutoFit/>
          </a:bodyPr>
          <a:lstStyle/>
          <a:p>
            <a:pPr algn="ctr">
              <a:lnSpc>
                <a:spcPct val="110000"/>
              </a:lnSpc>
            </a:pPr>
            <a:r>
              <a:rPr sz="1100" b="0" i="0">
                <a:solidFill>
                  <a:srgbClr val="A8A398"/>
                </a:solidFill>
                <a:latin typeface="Calibri"/>
              </a:rPr>
              <a:t>six classical texts → 327 numbered passages</a:t>
            </a:r>
          </a:p>
          <a:p>
            <a:pPr algn="ctr">
              <a:lnSpc>
                <a:spcPct val="110000"/>
              </a:lnSpc>
            </a:pPr>
            <a:r>
              <a:rPr sz="1100" b="0" i="0">
                <a:solidFill>
                  <a:srgbClr val="A8A398"/>
                </a:solidFill>
                <a:latin typeface="Calibri"/>
              </a:rPr>
              <a:t>search by meaning + by keyword</a:t>
            </a:r>
          </a:p>
        </p:txBody>
      </p:sp>
      <p:sp>
        <p:nvSpPr>
          <p:cNvPr id="41" name="Rounded Rectangle 40"/>
          <p:cNvSpPr/>
          <p:nvPr/>
        </p:nvSpPr>
        <p:spPr>
          <a:xfrm>
            <a:off x="8229600" y="2788920"/>
            <a:ext cx="3474720" cy="1371600"/>
          </a:xfrm>
          <a:prstGeom prst="roundRect">
            <a:avLst/>
          </a:prstGeom>
          <a:solidFill>
            <a:srgbClr val="EBE8E0"/>
          </a:solidFill>
          <a:ln w="15875">
            <a:solidFill>
              <a:srgbClr val="D2C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8366760" y="2788920"/>
            <a:ext cx="3200400" cy="73152"/>
          </a:xfrm>
          <a:prstGeom prst="rect">
            <a:avLst/>
          </a:prstGeom>
          <a:solidFill>
            <a:srgbClr val="D2C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275320" y="2898648"/>
            <a:ext cx="3383280" cy="384048"/>
          </a:xfrm>
          <a:prstGeom prst="rect">
            <a:avLst/>
          </a:prstGeom>
          <a:noFill/>
        </p:spPr>
        <p:txBody>
          <a:bodyPr wrap="square" lIns="64008" tIns="27432" rIns="64008" bIns="27432" anchor="t">
            <a:spAutoFit/>
          </a:bodyPr>
          <a:lstStyle/>
          <a:p>
            <a:pPr algn="ctr">
              <a:lnSpc>
                <a:spcPct val="108000"/>
              </a:lnSpc>
            </a:pPr>
            <a:r>
              <a:rPr sz="1400" b="1" i="0">
                <a:solidFill>
                  <a:srgbClr val="A8A398"/>
                </a:solidFill>
                <a:latin typeface="Calibri"/>
              </a:rPr>
              <a:t>ANSWER WRITER</a:t>
            </a:r>
          </a:p>
        </p:txBody>
      </p:sp>
      <p:sp>
        <p:nvSpPr>
          <p:cNvPr id="44" name="TextBox 43"/>
          <p:cNvSpPr txBox="1"/>
          <p:nvPr/>
        </p:nvSpPr>
        <p:spPr>
          <a:xfrm>
            <a:off x="8302752" y="3246120"/>
            <a:ext cx="3328416" cy="868680"/>
          </a:xfrm>
          <a:prstGeom prst="rect">
            <a:avLst/>
          </a:prstGeom>
          <a:noFill/>
        </p:spPr>
        <p:txBody>
          <a:bodyPr wrap="square" lIns="64008" tIns="27432" rIns="64008" bIns="27432" anchor="t">
            <a:spAutoFit/>
          </a:bodyPr>
          <a:lstStyle/>
          <a:p>
            <a:pPr algn="ctr">
              <a:lnSpc>
                <a:spcPct val="110000"/>
              </a:lnSpc>
            </a:pPr>
            <a:r>
              <a:rPr sz="1100" b="0" i="0">
                <a:solidFill>
                  <a:srgbClr val="A8A398"/>
                </a:solidFill>
                <a:latin typeface="Calibri"/>
              </a:rPr>
              <a:t>language model — may use ONLY the passages found;</a:t>
            </a:r>
          </a:p>
          <a:p>
            <a:pPr algn="ctr">
              <a:lnSpc>
                <a:spcPct val="110000"/>
              </a:lnSpc>
            </a:pPr>
            <a:r>
              <a:rPr sz="1100" b="0" i="0">
                <a:solidFill>
                  <a:srgbClr val="A8A398"/>
                </a:solidFill>
                <a:latin typeface="Calibri"/>
              </a:rPr>
              <a:t>every line cites the verse; refuses if nothing fits</a:t>
            </a:r>
          </a:p>
        </p:txBody>
      </p:sp>
      <p:sp>
        <p:nvSpPr>
          <p:cNvPr id="45" name="Rounded Rectangle 44"/>
          <p:cNvSpPr/>
          <p:nvPr/>
        </p:nvSpPr>
        <p:spPr>
          <a:xfrm>
            <a:off x="8229600" y="4800600"/>
            <a:ext cx="3474720" cy="1051560"/>
          </a:xfrm>
          <a:prstGeom prst="roundRect">
            <a:avLst/>
          </a:prstGeom>
          <a:solidFill>
            <a:srgbClr val="EBE8E0"/>
          </a:solidFill>
          <a:ln w="15875">
            <a:solidFill>
              <a:srgbClr val="D2C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8366760" y="4800600"/>
            <a:ext cx="3200400" cy="73152"/>
          </a:xfrm>
          <a:prstGeom prst="rect">
            <a:avLst/>
          </a:prstGeom>
          <a:solidFill>
            <a:srgbClr val="D2C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275320" y="4910328"/>
            <a:ext cx="3383280" cy="384048"/>
          </a:xfrm>
          <a:prstGeom prst="rect">
            <a:avLst/>
          </a:prstGeom>
          <a:noFill/>
        </p:spPr>
        <p:txBody>
          <a:bodyPr wrap="square" lIns="64008" tIns="27432" rIns="64008" bIns="27432" anchor="t">
            <a:spAutoFit/>
          </a:bodyPr>
          <a:lstStyle/>
          <a:p>
            <a:pPr algn="ctr">
              <a:lnSpc>
                <a:spcPct val="108000"/>
              </a:lnSpc>
            </a:pPr>
            <a:r>
              <a:rPr sz="1400" b="1" i="0">
                <a:solidFill>
                  <a:srgbClr val="A8A398"/>
                </a:solidFill>
                <a:latin typeface="Calibri"/>
              </a:rPr>
              <a:t>EXPLAIN &amp; DELIVER</a:t>
            </a:r>
          </a:p>
        </p:txBody>
      </p:sp>
      <p:sp>
        <p:nvSpPr>
          <p:cNvPr id="48" name="TextBox 47"/>
          <p:cNvSpPr txBox="1"/>
          <p:nvPr/>
        </p:nvSpPr>
        <p:spPr>
          <a:xfrm>
            <a:off x="8302752" y="5257800"/>
            <a:ext cx="3328416" cy="548640"/>
          </a:xfrm>
          <a:prstGeom prst="rect">
            <a:avLst/>
          </a:prstGeom>
          <a:noFill/>
        </p:spPr>
        <p:txBody>
          <a:bodyPr wrap="square" lIns="64008" tIns="27432" rIns="64008" bIns="27432" anchor="t">
            <a:spAutoFit/>
          </a:bodyPr>
          <a:lstStyle/>
          <a:p>
            <a:pPr algn="ctr">
              <a:lnSpc>
                <a:spcPct val="110000"/>
              </a:lnSpc>
            </a:pPr>
            <a:r>
              <a:rPr sz="1100" b="0" i="0">
                <a:solidFill>
                  <a:srgbClr val="A8A398"/>
                </a:solidFill>
                <a:latin typeface="Calibri"/>
              </a:rPr>
              <a:t>heat-map of the leaf region used</a:t>
            </a:r>
          </a:p>
          <a:p>
            <a:pPr algn="ctr">
              <a:lnSpc>
                <a:spcPct val="110000"/>
              </a:lnSpc>
            </a:pPr>
            <a:r>
              <a:rPr sz="1100" b="0" i="0">
                <a:solidFill>
                  <a:srgbClr val="A8A398"/>
                </a:solidFill>
                <a:latin typeface="Calibri"/>
              </a:rPr>
              <a:t>+ the passages, so anyone can verify</a:t>
            </a:r>
          </a:p>
        </p:txBody>
      </p:sp>
      <p:sp>
        <p:nvSpPr>
          <p:cNvPr id="49" name="Rounded Rectangle 48"/>
          <p:cNvSpPr/>
          <p:nvPr/>
        </p:nvSpPr>
        <p:spPr>
          <a:xfrm>
            <a:off x="6263640" y="2057400"/>
            <a:ext cx="1828800" cy="384048"/>
          </a:xfrm>
          <a:prstGeom prst="roundRect">
            <a:avLst/>
          </a:prstGeom>
          <a:solidFill>
            <a:srgbClr val="FBEFD9"/>
          </a:solidFill>
          <a:ln w="19050">
            <a:solidFill>
              <a:srgbClr val="C889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309360" y="2057400"/>
            <a:ext cx="1737360" cy="384048"/>
          </a:xfrm>
          <a:prstGeom prst="rect">
            <a:avLst/>
          </a:prstGeom>
          <a:noFill/>
        </p:spPr>
        <p:txBody>
          <a:bodyPr wrap="square" lIns="64008" tIns="27432" rIns="64008" bIns="27432" anchor="ctr">
            <a:spAutoFit/>
          </a:bodyPr>
          <a:lstStyle/>
          <a:p>
            <a:pPr algn="ctr">
              <a:lnSpc>
                <a:spcPct val="108000"/>
              </a:lnSpc>
            </a:pPr>
            <a:r>
              <a:rPr sz="1100" b="1" i="0">
                <a:solidFill>
                  <a:srgbClr val="222222"/>
                </a:solidFill>
                <a:latin typeface="Calibri"/>
              </a:rPr>
              <a:t>apple scab · 0.86</a:t>
            </a:r>
          </a:p>
        </p:txBody>
      </p:sp>
      <p:sp>
        <p:nvSpPr>
          <p:cNvPr id="51" name="Rounded Rectangle 50"/>
          <p:cNvSpPr/>
          <p:nvPr/>
        </p:nvSpPr>
        <p:spPr>
          <a:xfrm>
            <a:off x="6263640" y="4434840"/>
            <a:ext cx="2194560" cy="384048"/>
          </a:xfrm>
          <a:prstGeom prst="roundRect">
            <a:avLst/>
          </a:prstGeom>
          <a:solidFill>
            <a:srgbClr val="FBEFD9"/>
          </a:solidFill>
          <a:ln w="19050">
            <a:solidFill>
              <a:srgbClr val="C889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309360" y="4434840"/>
            <a:ext cx="2103120" cy="384048"/>
          </a:xfrm>
          <a:prstGeom prst="rect">
            <a:avLst/>
          </a:prstGeom>
          <a:noFill/>
        </p:spPr>
        <p:txBody>
          <a:bodyPr wrap="square" lIns="64008" tIns="27432" rIns="64008" bIns="27432" anchor="ctr">
            <a:spAutoFit/>
          </a:bodyPr>
          <a:lstStyle/>
          <a:p>
            <a:pPr algn="ctr">
              <a:lnSpc>
                <a:spcPct val="108000"/>
              </a:lnSpc>
            </a:pPr>
            <a:r>
              <a:rPr sz="1100" b="1" i="0">
                <a:solidFill>
                  <a:srgbClr val="222222"/>
                </a:solidFill>
                <a:latin typeface="Calibri"/>
              </a:rPr>
              <a:t>alluvial · moist · medium</a:t>
            </a:r>
          </a:p>
        </p:txBody>
      </p:sp>
      <p:sp>
        <p:nvSpPr>
          <p:cNvPr id="53" name="Rectangle 52"/>
          <p:cNvSpPr/>
          <p:nvPr/>
        </p:nvSpPr>
        <p:spPr>
          <a:xfrm>
            <a:off x="3566160" y="6382512"/>
            <a:ext cx="109728" cy="256032"/>
          </a:xfrm>
          <a:prstGeom prst="rect">
            <a:avLst/>
          </a:prstGeom>
          <a:solidFill>
            <a:srgbClr val="C88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3749039" y="6336792"/>
            <a:ext cx="7955279" cy="365760"/>
          </a:xfrm>
          <a:prstGeom prst="rect">
            <a:avLst/>
          </a:prstGeom>
          <a:noFill/>
        </p:spPr>
        <p:txBody>
          <a:bodyPr wrap="square" lIns="64008" tIns="27432" rIns="64008" bIns="27432" anchor="t">
            <a:spAutoFit/>
          </a:bodyPr>
          <a:lstStyle/>
          <a:p>
            <a:pPr algn="l">
              <a:lnSpc>
                <a:spcPct val="108000"/>
              </a:lnSpc>
            </a:pPr>
            <a:r>
              <a:rPr sz="1300" b="1" i="0">
                <a:solidFill>
                  <a:srgbClr val="1F4D2E"/>
                </a:solidFill>
                <a:latin typeface="Calibri"/>
              </a:rPr>
              <a:t>Step 2 of 5 - two models read the leaf and the soil, and report back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F4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56032"/>
            <a:ext cx="8229600" cy="320040"/>
          </a:xfrm>
          <a:prstGeom prst="rect">
            <a:avLst/>
          </a:prstGeom>
          <a:noFill/>
        </p:spPr>
        <p:txBody>
          <a:bodyPr wrap="square" lIns="64008" tIns="27432" rIns="64008" bIns="27432" anchor="t">
            <a:spAutoFit/>
          </a:bodyPr>
          <a:lstStyle/>
          <a:p>
            <a:pPr algn="l">
              <a:lnSpc>
                <a:spcPct val="108000"/>
              </a:lnSpc>
            </a:pPr>
            <a:r>
              <a:rPr sz="1200" b="1" i="0">
                <a:solidFill>
                  <a:srgbClr val="C8891E"/>
                </a:solidFill>
                <a:latin typeface="Calibri"/>
              </a:rPr>
              <a:t>ARCHITECTURE  ·  PRESS → TO ADVANCE</a:t>
            </a:r>
          </a:p>
        </p:txBody>
      </p:sp>
      <p:sp>
        <p:nvSpPr>
          <p:cNvPr id="5" name="TextBox 4"/>
          <p:cNvSpPr txBox="1"/>
          <p:nvPr/>
        </p:nvSpPr>
        <p:spPr>
          <a:xfrm>
            <a:off x="457200" y="502920"/>
            <a:ext cx="11247120" cy="731520"/>
          </a:xfrm>
          <a:prstGeom prst="rect">
            <a:avLst/>
          </a:prstGeom>
          <a:noFill/>
        </p:spPr>
        <p:txBody>
          <a:bodyPr wrap="square" lIns="64008" tIns="27432" rIns="64008" bIns="27432" anchor="t">
            <a:spAutoFit/>
          </a:bodyPr>
          <a:lstStyle/>
          <a:p>
            <a:pPr algn="l">
              <a:lnSpc>
                <a:spcPct val="108000"/>
              </a:lnSpc>
            </a:pPr>
            <a:r>
              <a:rPr sz="3000" b="1" i="0">
                <a:solidFill>
                  <a:srgbClr val="1F4D2E"/>
                </a:solidFill>
                <a:latin typeface="Georgia"/>
              </a:rPr>
              <a:t>How it works — from photo to cited advice</a:t>
            </a:r>
          </a:p>
        </p:txBody>
      </p:sp>
      <p:cxnSp>
        <p:nvCxnSpPr>
          <p:cNvPr id="6" name="Connector 5"/>
          <p:cNvCxnSpPr/>
          <p:nvPr/>
        </p:nvCxnSpPr>
        <p:spPr>
          <a:xfrm flipV="1">
            <a:off x="2286000" y="3108960"/>
            <a:ext cx="1371600" cy="182880"/>
          </a:xfrm>
          <a:prstGeom prst="line">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194560" y="2651760"/>
            <a:ext cx="1554480" cy="457200"/>
          </a:xfrm>
          <a:prstGeom prst="rect">
            <a:avLst/>
          </a:prstGeom>
          <a:noFill/>
        </p:spPr>
        <p:txBody>
          <a:bodyPr wrap="square" lIns="64008" tIns="27432" rIns="64008" bIns="27432" anchor="t">
            <a:spAutoFit/>
          </a:bodyPr>
          <a:lstStyle/>
          <a:p>
            <a:pPr algn="ctr">
              <a:lnSpc>
                <a:spcPct val="108000"/>
              </a:lnSpc>
            </a:pPr>
            <a:r>
              <a:rPr sz="1100" b="0" i="1">
                <a:solidFill>
                  <a:srgbClr val="A8A398"/>
                </a:solidFill>
                <a:latin typeface="Calibri"/>
              </a:rPr>
              <a:t>leaf + soil photo, crop, cause</a:t>
            </a:r>
          </a:p>
        </p:txBody>
      </p:sp>
      <p:cxnSp>
        <p:nvCxnSpPr>
          <p:cNvPr id="8" name="Connector 7"/>
          <p:cNvCxnSpPr/>
          <p:nvPr/>
        </p:nvCxnSpPr>
        <p:spPr>
          <a:xfrm flipV="1">
            <a:off x="4480560" y="2148840"/>
            <a:ext cx="0" cy="274320"/>
          </a:xfrm>
          <a:prstGeom prst="line">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937760" y="2148840"/>
            <a:ext cx="0" cy="274320"/>
          </a:xfrm>
          <a:prstGeom prst="line">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480560" y="4526280"/>
            <a:ext cx="0" cy="457200"/>
          </a:xfrm>
          <a:prstGeom prst="line">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4937760" y="4526280"/>
            <a:ext cx="0" cy="457200"/>
          </a:xfrm>
          <a:prstGeom prst="line">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029200" y="2194560"/>
            <a:ext cx="2011680" cy="457200"/>
          </a:xfrm>
          <a:prstGeom prst="rect">
            <a:avLst/>
          </a:prstGeom>
          <a:noFill/>
        </p:spPr>
        <p:txBody>
          <a:bodyPr wrap="square" lIns="64008" tIns="27432" rIns="64008" bIns="27432" anchor="t">
            <a:spAutoFit/>
          </a:bodyPr>
          <a:lstStyle/>
          <a:p>
            <a:pPr algn="l">
              <a:lnSpc>
                <a:spcPct val="108000"/>
              </a:lnSpc>
            </a:pPr>
            <a:r>
              <a:rPr sz="1100" b="0" i="1">
                <a:solidFill>
                  <a:srgbClr val="A8A398"/>
                </a:solidFill>
                <a:latin typeface="Calibri"/>
              </a:rPr>
              <a:t>disease · confidence</a:t>
            </a:r>
          </a:p>
        </p:txBody>
      </p:sp>
      <p:sp>
        <p:nvSpPr>
          <p:cNvPr id="13" name="TextBox 12"/>
          <p:cNvSpPr txBox="1"/>
          <p:nvPr/>
        </p:nvSpPr>
        <p:spPr>
          <a:xfrm>
            <a:off x="5029200" y="4572000"/>
            <a:ext cx="2194560" cy="457200"/>
          </a:xfrm>
          <a:prstGeom prst="rect">
            <a:avLst/>
          </a:prstGeom>
          <a:noFill/>
        </p:spPr>
        <p:txBody>
          <a:bodyPr wrap="square" lIns="64008" tIns="27432" rIns="64008" bIns="27432" anchor="t">
            <a:spAutoFit/>
          </a:bodyPr>
          <a:lstStyle/>
          <a:p>
            <a:pPr algn="l">
              <a:lnSpc>
                <a:spcPct val="108000"/>
              </a:lnSpc>
            </a:pPr>
            <a:r>
              <a:rPr sz="1100" b="0" i="1">
                <a:solidFill>
                  <a:srgbClr val="A8A398"/>
                </a:solidFill>
                <a:latin typeface="Calibri"/>
              </a:rPr>
              <a:t>soil type · moisture · texture</a:t>
            </a:r>
          </a:p>
        </p:txBody>
      </p:sp>
      <p:cxnSp>
        <p:nvCxnSpPr>
          <p:cNvPr id="14" name="Connector 13"/>
          <p:cNvCxnSpPr/>
          <p:nvPr/>
        </p:nvCxnSpPr>
        <p:spPr>
          <a:xfrm flipV="1">
            <a:off x="5623560" y="2057400"/>
            <a:ext cx="2606040" cy="868680"/>
          </a:xfrm>
          <a:prstGeom prst="line">
            <a:avLst/>
          </a:prstGeom>
          <a:ln w="38100">
            <a:solidFill>
              <a:srgbClr val="C889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989320" y="1920240"/>
            <a:ext cx="2103120" cy="457200"/>
          </a:xfrm>
          <a:prstGeom prst="rect">
            <a:avLst/>
          </a:prstGeom>
          <a:noFill/>
        </p:spPr>
        <p:txBody>
          <a:bodyPr wrap="square" lIns="64008" tIns="27432" rIns="64008" bIns="27432" anchor="t">
            <a:spAutoFit/>
          </a:bodyPr>
          <a:lstStyle/>
          <a:p>
            <a:pPr algn="ctr">
              <a:lnSpc>
                <a:spcPct val="108000"/>
              </a:lnSpc>
            </a:pPr>
            <a:r>
              <a:rPr sz="1100" b="1" i="1">
                <a:solidFill>
                  <a:srgbClr val="C8891E"/>
                </a:solidFill>
                <a:latin typeface="Calibri"/>
              </a:rPr>
              <a:t>symptom question</a:t>
            </a:r>
          </a:p>
        </p:txBody>
      </p:sp>
      <p:cxnSp>
        <p:nvCxnSpPr>
          <p:cNvPr id="16" name="Connector 15"/>
          <p:cNvCxnSpPr/>
          <p:nvPr/>
        </p:nvCxnSpPr>
        <p:spPr>
          <a:xfrm>
            <a:off x="9966960" y="2286000"/>
            <a:ext cx="0" cy="502920"/>
          </a:xfrm>
          <a:prstGeom prst="line">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0058400" y="2395728"/>
            <a:ext cx="1828800" cy="457200"/>
          </a:xfrm>
          <a:prstGeom prst="rect">
            <a:avLst/>
          </a:prstGeom>
          <a:noFill/>
        </p:spPr>
        <p:txBody>
          <a:bodyPr wrap="square" lIns="64008" tIns="27432" rIns="64008" bIns="27432" anchor="t">
            <a:spAutoFit/>
          </a:bodyPr>
          <a:lstStyle/>
          <a:p>
            <a:pPr algn="l">
              <a:lnSpc>
                <a:spcPct val="108000"/>
              </a:lnSpc>
            </a:pPr>
            <a:r>
              <a:rPr sz="1100" b="0" i="1">
                <a:solidFill>
                  <a:srgbClr val="A8A398"/>
                </a:solidFill>
                <a:latin typeface="Calibri"/>
              </a:rPr>
              <a:t>5 best passages</a:t>
            </a:r>
          </a:p>
        </p:txBody>
      </p:sp>
      <p:cxnSp>
        <p:nvCxnSpPr>
          <p:cNvPr id="18" name="Connector 17"/>
          <p:cNvCxnSpPr/>
          <p:nvPr/>
        </p:nvCxnSpPr>
        <p:spPr>
          <a:xfrm>
            <a:off x="9966960" y="4160520"/>
            <a:ext cx="0" cy="640080"/>
          </a:xfrm>
          <a:prstGeom prst="line">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058400" y="4270248"/>
            <a:ext cx="2194560" cy="457200"/>
          </a:xfrm>
          <a:prstGeom prst="rect">
            <a:avLst/>
          </a:prstGeom>
          <a:noFill/>
        </p:spPr>
        <p:txBody>
          <a:bodyPr wrap="square" lIns="64008" tIns="27432" rIns="64008" bIns="27432" anchor="t">
            <a:spAutoFit/>
          </a:bodyPr>
          <a:lstStyle/>
          <a:p>
            <a:pPr algn="l">
              <a:lnSpc>
                <a:spcPct val="108000"/>
              </a:lnSpc>
            </a:pPr>
            <a:r>
              <a:rPr sz="1100" b="0" i="1">
                <a:solidFill>
                  <a:srgbClr val="A8A398"/>
                </a:solidFill>
                <a:latin typeface="Calibri"/>
              </a:rPr>
              <a:t>cited advice · or honest refusal</a:t>
            </a:r>
          </a:p>
        </p:txBody>
      </p:sp>
      <p:cxnSp>
        <p:nvCxnSpPr>
          <p:cNvPr id="20" name="Connector 19"/>
          <p:cNvCxnSpPr/>
          <p:nvPr/>
        </p:nvCxnSpPr>
        <p:spPr>
          <a:xfrm flipH="1" flipV="1">
            <a:off x="1371600" y="4526280"/>
            <a:ext cx="6858000" cy="1143000"/>
          </a:xfrm>
          <a:prstGeom prst="bentConnector3">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57200" y="6053328"/>
            <a:ext cx="2926080" cy="457200"/>
          </a:xfrm>
          <a:prstGeom prst="rect">
            <a:avLst/>
          </a:prstGeom>
          <a:noFill/>
        </p:spPr>
        <p:txBody>
          <a:bodyPr wrap="square" lIns="64008" tIns="27432" rIns="64008" bIns="27432" anchor="t">
            <a:spAutoFit/>
          </a:bodyPr>
          <a:lstStyle/>
          <a:p>
            <a:pPr algn="l">
              <a:lnSpc>
                <a:spcPct val="108000"/>
              </a:lnSpc>
            </a:pPr>
            <a:r>
              <a:rPr sz="1100" b="0" i="1">
                <a:solidFill>
                  <a:srgbClr val="A8A398"/>
                </a:solidFill>
                <a:latin typeface="Calibri"/>
              </a:rPr>
              <a:t>advice + verse + heat-map + passages</a:t>
            </a:r>
          </a:p>
        </p:txBody>
      </p:sp>
      <p:sp>
        <p:nvSpPr>
          <p:cNvPr id="22" name="Rounded Rectangle 21"/>
          <p:cNvSpPr/>
          <p:nvPr/>
        </p:nvSpPr>
        <p:spPr>
          <a:xfrm>
            <a:off x="457200" y="2606040"/>
            <a:ext cx="1828800" cy="1920240"/>
          </a:xfrm>
          <a:prstGeom prst="roundRect">
            <a:avLst/>
          </a:prstGeom>
          <a:solidFill>
            <a:srgbClr val="EBE8E0"/>
          </a:solidFill>
          <a:ln w="15875">
            <a:solidFill>
              <a:srgbClr val="D2C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94360" y="2606040"/>
            <a:ext cx="1554480" cy="73152"/>
          </a:xfrm>
          <a:prstGeom prst="rect">
            <a:avLst/>
          </a:prstGeom>
          <a:solidFill>
            <a:srgbClr val="D2C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2920" y="2715768"/>
            <a:ext cx="1737360" cy="384048"/>
          </a:xfrm>
          <a:prstGeom prst="rect">
            <a:avLst/>
          </a:prstGeom>
          <a:noFill/>
        </p:spPr>
        <p:txBody>
          <a:bodyPr wrap="square" lIns="64008" tIns="27432" rIns="64008" bIns="27432" anchor="t">
            <a:spAutoFit/>
          </a:bodyPr>
          <a:lstStyle/>
          <a:p>
            <a:pPr algn="ctr">
              <a:lnSpc>
                <a:spcPct val="108000"/>
              </a:lnSpc>
            </a:pPr>
            <a:r>
              <a:rPr sz="1500" b="1" i="0">
                <a:solidFill>
                  <a:srgbClr val="A8A398"/>
                </a:solidFill>
                <a:latin typeface="Calibri"/>
              </a:rPr>
              <a:t>FARMER</a:t>
            </a:r>
          </a:p>
        </p:txBody>
      </p:sp>
      <p:sp>
        <p:nvSpPr>
          <p:cNvPr id="25" name="TextBox 24"/>
          <p:cNvSpPr txBox="1"/>
          <p:nvPr/>
        </p:nvSpPr>
        <p:spPr>
          <a:xfrm>
            <a:off x="530352" y="3063240"/>
            <a:ext cx="1682496" cy="1417320"/>
          </a:xfrm>
          <a:prstGeom prst="rect">
            <a:avLst/>
          </a:prstGeom>
          <a:noFill/>
        </p:spPr>
        <p:txBody>
          <a:bodyPr wrap="square" lIns="64008" tIns="27432" rIns="64008" bIns="27432" anchor="t">
            <a:spAutoFit/>
          </a:bodyPr>
          <a:lstStyle/>
          <a:p>
            <a:pPr algn="ctr">
              <a:lnSpc>
                <a:spcPct val="110000"/>
              </a:lnSpc>
            </a:pPr>
            <a:r>
              <a:rPr sz="1200" b="0" i="0">
                <a:solidFill>
                  <a:srgbClr val="A8A398"/>
                </a:solidFill>
                <a:latin typeface="Calibri"/>
              </a:rPr>
              <a:t>leaf photo</a:t>
            </a:r>
          </a:p>
          <a:p>
            <a:pPr algn="ctr">
              <a:lnSpc>
                <a:spcPct val="110000"/>
              </a:lnSpc>
            </a:pPr>
            <a:r>
              <a:rPr sz="1200" b="0" i="0">
                <a:solidFill>
                  <a:srgbClr val="A8A398"/>
                </a:solidFill>
                <a:latin typeface="Calibri"/>
              </a:rPr>
              <a:t>soil photo</a:t>
            </a:r>
          </a:p>
          <a:p>
            <a:pPr algn="ctr">
              <a:lnSpc>
                <a:spcPct val="110000"/>
              </a:lnSpc>
            </a:pPr>
            <a:r>
              <a:rPr sz="1200" b="0" i="0">
                <a:solidFill>
                  <a:srgbClr val="A8A398"/>
                </a:solidFill>
                <a:latin typeface="Calibri"/>
              </a:rPr>
              <a:t>crop · suspected cause</a:t>
            </a:r>
          </a:p>
        </p:txBody>
      </p:sp>
      <p:sp>
        <p:nvSpPr>
          <p:cNvPr id="26" name="Oval 25"/>
          <p:cNvSpPr/>
          <p:nvPr/>
        </p:nvSpPr>
        <p:spPr>
          <a:xfrm>
            <a:off x="3657600" y="2423160"/>
            <a:ext cx="2103120" cy="2103120"/>
          </a:xfrm>
          <a:prstGeom prst="ellipse">
            <a:avLst/>
          </a:prstGeom>
          <a:solidFill>
            <a:srgbClr val="FFFCF5"/>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703320" y="2743200"/>
            <a:ext cx="2011680" cy="384048"/>
          </a:xfrm>
          <a:prstGeom prst="rect">
            <a:avLst/>
          </a:prstGeom>
          <a:noFill/>
        </p:spPr>
        <p:txBody>
          <a:bodyPr wrap="square" lIns="64008" tIns="27432" rIns="64008" bIns="27432" anchor="t">
            <a:spAutoFit/>
          </a:bodyPr>
          <a:lstStyle/>
          <a:p>
            <a:pPr algn="ctr">
              <a:lnSpc>
                <a:spcPct val="108000"/>
              </a:lnSpc>
            </a:pPr>
            <a:r>
              <a:rPr sz="1500" b="1" i="0">
                <a:solidFill>
                  <a:srgbClr val="1F4D2E"/>
                </a:solidFill>
                <a:latin typeface="Calibri"/>
              </a:rPr>
              <a:t>THE COMBINER</a:t>
            </a:r>
          </a:p>
        </p:txBody>
      </p:sp>
      <p:sp>
        <p:nvSpPr>
          <p:cNvPr id="28" name="TextBox 27"/>
          <p:cNvSpPr txBox="1"/>
          <p:nvPr/>
        </p:nvSpPr>
        <p:spPr>
          <a:xfrm>
            <a:off x="3730752" y="3154680"/>
            <a:ext cx="1956816" cy="1600200"/>
          </a:xfrm>
          <a:prstGeom prst="rect">
            <a:avLst/>
          </a:prstGeom>
          <a:noFill/>
        </p:spPr>
        <p:txBody>
          <a:bodyPr wrap="square" lIns="64008" tIns="27432" rIns="64008" bIns="27432" anchor="t">
            <a:spAutoFit/>
          </a:bodyPr>
          <a:lstStyle/>
          <a:p>
            <a:pPr algn="ctr">
              <a:lnSpc>
                <a:spcPct val="110000"/>
              </a:lnSpc>
            </a:pPr>
            <a:r>
              <a:rPr sz="1100" b="0" i="0">
                <a:solidFill>
                  <a:srgbClr val="222222"/>
                </a:solidFill>
                <a:latin typeface="Calibri"/>
              </a:rPr>
              <a:t>the hub: routes the photos,</a:t>
            </a:r>
          </a:p>
          <a:p>
            <a:pPr algn="ctr">
              <a:lnSpc>
                <a:spcPct val="110000"/>
              </a:lnSpc>
            </a:pPr>
            <a:r>
              <a:rPr sz="1100" b="0" i="0">
                <a:solidFill>
                  <a:srgbClr val="222222"/>
                </a:solidFill>
                <a:latin typeface="Calibri"/>
              </a:rPr>
              <a:t>writes the question,</a:t>
            </a:r>
          </a:p>
          <a:p>
            <a:pPr algn="ctr">
              <a:lnSpc>
                <a:spcPct val="110000"/>
              </a:lnSpc>
            </a:pPr>
            <a:r>
              <a:rPr sz="1100" b="0" i="0">
                <a:solidFill>
                  <a:srgbClr val="222222"/>
                </a:solidFill>
                <a:latin typeface="Calibri"/>
              </a:rPr>
              <a:t>delivers the answer</a:t>
            </a:r>
          </a:p>
        </p:txBody>
      </p:sp>
      <p:sp>
        <p:nvSpPr>
          <p:cNvPr id="29" name="Rounded Rectangle 28"/>
          <p:cNvSpPr/>
          <p:nvPr/>
        </p:nvSpPr>
        <p:spPr>
          <a:xfrm>
            <a:off x="3246120" y="1143000"/>
            <a:ext cx="2926080" cy="1005840"/>
          </a:xfrm>
          <a:prstGeom prst="roundRect">
            <a:avLst/>
          </a:prstGeom>
          <a:solidFill>
            <a:srgbClr val="EBE8E0"/>
          </a:solidFill>
          <a:ln w="15875">
            <a:solidFill>
              <a:srgbClr val="D2C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3383280" y="1143000"/>
            <a:ext cx="2651760" cy="73152"/>
          </a:xfrm>
          <a:prstGeom prst="rect">
            <a:avLst/>
          </a:prstGeom>
          <a:solidFill>
            <a:srgbClr val="D2C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291840" y="1252728"/>
            <a:ext cx="2834640" cy="384048"/>
          </a:xfrm>
          <a:prstGeom prst="rect">
            <a:avLst/>
          </a:prstGeom>
          <a:noFill/>
        </p:spPr>
        <p:txBody>
          <a:bodyPr wrap="square" lIns="64008" tIns="27432" rIns="64008" bIns="27432" anchor="t">
            <a:spAutoFit/>
          </a:bodyPr>
          <a:lstStyle/>
          <a:p>
            <a:pPr algn="ctr">
              <a:lnSpc>
                <a:spcPct val="108000"/>
              </a:lnSpc>
            </a:pPr>
            <a:r>
              <a:rPr sz="1400" b="1" i="0">
                <a:solidFill>
                  <a:srgbClr val="A8A398"/>
                </a:solidFill>
                <a:latin typeface="Calibri"/>
              </a:rPr>
              <a:t>MODEL 1 · Plant disease</a:t>
            </a:r>
          </a:p>
        </p:txBody>
      </p:sp>
      <p:sp>
        <p:nvSpPr>
          <p:cNvPr id="32" name="TextBox 31"/>
          <p:cNvSpPr txBox="1"/>
          <p:nvPr/>
        </p:nvSpPr>
        <p:spPr>
          <a:xfrm>
            <a:off x="3319272" y="1600200"/>
            <a:ext cx="2779776" cy="502920"/>
          </a:xfrm>
          <a:prstGeom prst="rect">
            <a:avLst/>
          </a:prstGeom>
          <a:noFill/>
        </p:spPr>
        <p:txBody>
          <a:bodyPr wrap="square" lIns="64008" tIns="27432" rIns="64008" bIns="27432" anchor="t">
            <a:spAutoFit/>
          </a:bodyPr>
          <a:lstStyle/>
          <a:p>
            <a:pPr algn="ctr">
              <a:lnSpc>
                <a:spcPct val="110000"/>
              </a:lnSpc>
            </a:pPr>
            <a:r>
              <a:rPr sz="1100" b="0" i="0">
                <a:solidFill>
                  <a:srgbClr val="A8A398"/>
                </a:solidFill>
                <a:latin typeface="Calibri"/>
              </a:rPr>
              <a:t>leaf photo → disease name, healthy/diseased, confidence, heat-map</a:t>
            </a:r>
          </a:p>
        </p:txBody>
      </p:sp>
      <p:sp>
        <p:nvSpPr>
          <p:cNvPr id="33" name="Rounded Rectangle 32"/>
          <p:cNvSpPr/>
          <p:nvPr/>
        </p:nvSpPr>
        <p:spPr>
          <a:xfrm>
            <a:off x="3246120" y="4983480"/>
            <a:ext cx="2926080" cy="1051560"/>
          </a:xfrm>
          <a:prstGeom prst="roundRect">
            <a:avLst/>
          </a:prstGeom>
          <a:solidFill>
            <a:srgbClr val="EBE8E0"/>
          </a:solidFill>
          <a:ln w="15875">
            <a:solidFill>
              <a:srgbClr val="D2C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3383280" y="4983480"/>
            <a:ext cx="2651760" cy="73152"/>
          </a:xfrm>
          <a:prstGeom prst="rect">
            <a:avLst/>
          </a:prstGeom>
          <a:solidFill>
            <a:srgbClr val="D2C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291840" y="5093208"/>
            <a:ext cx="2834640" cy="384048"/>
          </a:xfrm>
          <a:prstGeom prst="rect">
            <a:avLst/>
          </a:prstGeom>
          <a:noFill/>
        </p:spPr>
        <p:txBody>
          <a:bodyPr wrap="square" lIns="64008" tIns="27432" rIns="64008" bIns="27432" anchor="t">
            <a:spAutoFit/>
          </a:bodyPr>
          <a:lstStyle/>
          <a:p>
            <a:pPr algn="ctr">
              <a:lnSpc>
                <a:spcPct val="108000"/>
              </a:lnSpc>
            </a:pPr>
            <a:r>
              <a:rPr sz="1400" b="1" i="0">
                <a:solidFill>
                  <a:srgbClr val="A8A398"/>
                </a:solidFill>
                <a:latin typeface="Calibri"/>
              </a:rPr>
              <a:t>MODEL 2 · Soil</a:t>
            </a:r>
          </a:p>
        </p:txBody>
      </p:sp>
      <p:sp>
        <p:nvSpPr>
          <p:cNvPr id="36" name="TextBox 35"/>
          <p:cNvSpPr txBox="1"/>
          <p:nvPr/>
        </p:nvSpPr>
        <p:spPr>
          <a:xfrm>
            <a:off x="3319272" y="5440680"/>
            <a:ext cx="2779776" cy="548640"/>
          </a:xfrm>
          <a:prstGeom prst="rect">
            <a:avLst/>
          </a:prstGeom>
          <a:noFill/>
        </p:spPr>
        <p:txBody>
          <a:bodyPr wrap="square" lIns="64008" tIns="27432" rIns="64008" bIns="27432" anchor="t">
            <a:spAutoFit/>
          </a:bodyPr>
          <a:lstStyle/>
          <a:p>
            <a:pPr algn="ctr">
              <a:lnSpc>
                <a:spcPct val="110000"/>
              </a:lnSpc>
            </a:pPr>
            <a:r>
              <a:rPr sz="1100" b="0" i="0">
                <a:solidFill>
                  <a:srgbClr val="A8A398"/>
                </a:solidFill>
                <a:latin typeface="Calibri"/>
              </a:rPr>
              <a:t>soil photo → soil type, moisture, texture (visual only)</a:t>
            </a:r>
          </a:p>
        </p:txBody>
      </p:sp>
      <p:sp>
        <p:nvSpPr>
          <p:cNvPr id="37" name="Rounded Rectangle 36"/>
          <p:cNvSpPr/>
          <p:nvPr/>
        </p:nvSpPr>
        <p:spPr>
          <a:xfrm>
            <a:off x="8229600" y="1143000"/>
            <a:ext cx="3474720" cy="1143000"/>
          </a:xfrm>
          <a:prstGeom prst="roundRect">
            <a:avLst/>
          </a:prstGeom>
          <a:solidFill>
            <a:srgbClr val="EBE8E0"/>
          </a:solidFill>
          <a:ln w="15875">
            <a:solidFill>
              <a:srgbClr val="D2C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8366760" y="1143000"/>
            <a:ext cx="3200400" cy="73152"/>
          </a:xfrm>
          <a:prstGeom prst="rect">
            <a:avLst/>
          </a:prstGeom>
          <a:solidFill>
            <a:srgbClr val="D2C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275320" y="1252728"/>
            <a:ext cx="3383280" cy="384048"/>
          </a:xfrm>
          <a:prstGeom prst="rect">
            <a:avLst/>
          </a:prstGeom>
          <a:noFill/>
        </p:spPr>
        <p:txBody>
          <a:bodyPr wrap="square" lIns="64008" tIns="27432" rIns="64008" bIns="27432" anchor="t">
            <a:spAutoFit/>
          </a:bodyPr>
          <a:lstStyle/>
          <a:p>
            <a:pPr algn="ctr">
              <a:lnSpc>
                <a:spcPct val="108000"/>
              </a:lnSpc>
            </a:pPr>
            <a:r>
              <a:rPr sz="1400" b="1" i="0">
                <a:solidFill>
                  <a:srgbClr val="A8A398"/>
                </a:solidFill>
                <a:latin typeface="Calibri"/>
              </a:rPr>
              <a:t>KNOWLEDGE BASE</a:t>
            </a:r>
          </a:p>
        </p:txBody>
      </p:sp>
      <p:sp>
        <p:nvSpPr>
          <p:cNvPr id="40" name="TextBox 39"/>
          <p:cNvSpPr txBox="1"/>
          <p:nvPr/>
        </p:nvSpPr>
        <p:spPr>
          <a:xfrm>
            <a:off x="8302752" y="1600200"/>
            <a:ext cx="3328416" cy="640080"/>
          </a:xfrm>
          <a:prstGeom prst="rect">
            <a:avLst/>
          </a:prstGeom>
          <a:noFill/>
        </p:spPr>
        <p:txBody>
          <a:bodyPr wrap="square" lIns="64008" tIns="27432" rIns="64008" bIns="27432" anchor="t">
            <a:spAutoFit/>
          </a:bodyPr>
          <a:lstStyle/>
          <a:p>
            <a:pPr algn="ctr">
              <a:lnSpc>
                <a:spcPct val="110000"/>
              </a:lnSpc>
            </a:pPr>
            <a:r>
              <a:rPr sz="1100" b="0" i="0">
                <a:solidFill>
                  <a:srgbClr val="A8A398"/>
                </a:solidFill>
                <a:latin typeface="Calibri"/>
              </a:rPr>
              <a:t>six classical texts → 327 numbered passages</a:t>
            </a:r>
          </a:p>
          <a:p>
            <a:pPr algn="ctr">
              <a:lnSpc>
                <a:spcPct val="110000"/>
              </a:lnSpc>
            </a:pPr>
            <a:r>
              <a:rPr sz="1100" b="0" i="0">
                <a:solidFill>
                  <a:srgbClr val="A8A398"/>
                </a:solidFill>
                <a:latin typeface="Calibri"/>
              </a:rPr>
              <a:t>search by meaning + by keyword</a:t>
            </a:r>
          </a:p>
        </p:txBody>
      </p:sp>
      <p:sp>
        <p:nvSpPr>
          <p:cNvPr id="41" name="Rounded Rectangle 40"/>
          <p:cNvSpPr/>
          <p:nvPr/>
        </p:nvSpPr>
        <p:spPr>
          <a:xfrm>
            <a:off x="8229600" y="2788920"/>
            <a:ext cx="3474720" cy="1371600"/>
          </a:xfrm>
          <a:prstGeom prst="roundRect">
            <a:avLst/>
          </a:prstGeom>
          <a:solidFill>
            <a:srgbClr val="EBE8E0"/>
          </a:solidFill>
          <a:ln w="15875">
            <a:solidFill>
              <a:srgbClr val="D2C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8366760" y="2788920"/>
            <a:ext cx="3200400" cy="73152"/>
          </a:xfrm>
          <a:prstGeom prst="rect">
            <a:avLst/>
          </a:prstGeom>
          <a:solidFill>
            <a:srgbClr val="D2C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275320" y="2898648"/>
            <a:ext cx="3383280" cy="384048"/>
          </a:xfrm>
          <a:prstGeom prst="rect">
            <a:avLst/>
          </a:prstGeom>
          <a:noFill/>
        </p:spPr>
        <p:txBody>
          <a:bodyPr wrap="square" lIns="64008" tIns="27432" rIns="64008" bIns="27432" anchor="t">
            <a:spAutoFit/>
          </a:bodyPr>
          <a:lstStyle/>
          <a:p>
            <a:pPr algn="ctr">
              <a:lnSpc>
                <a:spcPct val="108000"/>
              </a:lnSpc>
            </a:pPr>
            <a:r>
              <a:rPr sz="1400" b="1" i="0">
                <a:solidFill>
                  <a:srgbClr val="A8A398"/>
                </a:solidFill>
                <a:latin typeface="Calibri"/>
              </a:rPr>
              <a:t>ANSWER WRITER</a:t>
            </a:r>
          </a:p>
        </p:txBody>
      </p:sp>
      <p:sp>
        <p:nvSpPr>
          <p:cNvPr id="44" name="TextBox 43"/>
          <p:cNvSpPr txBox="1"/>
          <p:nvPr/>
        </p:nvSpPr>
        <p:spPr>
          <a:xfrm>
            <a:off x="8302752" y="3246120"/>
            <a:ext cx="3328416" cy="868680"/>
          </a:xfrm>
          <a:prstGeom prst="rect">
            <a:avLst/>
          </a:prstGeom>
          <a:noFill/>
        </p:spPr>
        <p:txBody>
          <a:bodyPr wrap="square" lIns="64008" tIns="27432" rIns="64008" bIns="27432" anchor="t">
            <a:spAutoFit/>
          </a:bodyPr>
          <a:lstStyle/>
          <a:p>
            <a:pPr algn="ctr">
              <a:lnSpc>
                <a:spcPct val="110000"/>
              </a:lnSpc>
            </a:pPr>
            <a:r>
              <a:rPr sz="1100" b="0" i="0">
                <a:solidFill>
                  <a:srgbClr val="A8A398"/>
                </a:solidFill>
                <a:latin typeface="Calibri"/>
              </a:rPr>
              <a:t>language model — may use ONLY the passages found;</a:t>
            </a:r>
          </a:p>
          <a:p>
            <a:pPr algn="ctr">
              <a:lnSpc>
                <a:spcPct val="110000"/>
              </a:lnSpc>
            </a:pPr>
            <a:r>
              <a:rPr sz="1100" b="0" i="0">
                <a:solidFill>
                  <a:srgbClr val="A8A398"/>
                </a:solidFill>
                <a:latin typeface="Calibri"/>
              </a:rPr>
              <a:t>every line cites the verse; refuses if nothing fits</a:t>
            </a:r>
          </a:p>
        </p:txBody>
      </p:sp>
      <p:sp>
        <p:nvSpPr>
          <p:cNvPr id="45" name="Rounded Rectangle 44"/>
          <p:cNvSpPr/>
          <p:nvPr/>
        </p:nvSpPr>
        <p:spPr>
          <a:xfrm>
            <a:off x="8229600" y="4800600"/>
            <a:ext cx="3474720" cy="1051560"/>
          </a:xfrm>
          <a:prstGeom prst="roundRect">
            <a:avLst/>
          </a:prstGeom>
          <a:solidFill>
            <a:srgbClr val="EBE8E0"/>
          </a:solidFill>
          <a:ln w="15875">
            <a:solidFill>
              <a:srgbClr val="D2C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8366760" y="4800600"/>
            <a:ext cx="3200400" cy="73152"/>
          </a:xfrm>
          <a:prstGeom prst="rect">
            <a:avLst/>
          </a:prstGeom>
          <a:solidFill>
            <a:srgbClr val="D2C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275320" y="4910328"/>
            <a:ext cx="3383280" cy="384048"/>
          </a:xfrm>
          <a:prstGeom prst="rect">
            <a:avLst/>
          </a:prstGeom>
          <a:noFill/>
        </p:spPr>
        <p:txBody>
          <a:bodyPr wrap="square" lIns="64008" tIns="27432" rIns="64008" bIns="27432" anchor="t">
            <a:spAutoFit/>
          </a:bodyPr>
          <a:lstStyle/>
          <a:p>
            <a:pPr algn="ctr">
              <a:lnSpc>
                <a:spcPct val="108000"/>
              </a:lnSpc>
            </a:pPr>
            <a:r>
              <a:rPr sz="1400" b="1" i="0">
                <a:solidFill>
                  <a:srgbClr val="A8A398"/>
                </a:solidFill>
                <a:latin typeface="Calibri"/>
              </a:rPr>
              <a:t>EXPLAIN &amp; DELIVER</a:t>
            </a:r>
          </a:p>
        </p:txBody>
      </p:sp>
      <p:sp>
        <p:nvSpPr>
          <p:cNvPr id="48" name="TextBox 47"/>
          <p:cNvSpPr txBox="1"/>
          <p:nvPr/>
        </p:nvSpPr>
        <p:spPr>
          <a:xfrm>
            <a:off x="8302752" y="5257800"/>
            <a:ext cx="3328416" cy="548640"/>
          </a:xfrm>
          <a:prstGeom prst="rect">
            <a:avLst/>
          </a:prstGeom>
          <a:noFill/>
        </p:spPr>
        <p:txBody>
          <a:bodyPr wrap="square" lIns="64008" tIns="27432" rIns="64008" bIns="27432" anchor="t">
            <a:spAutoFit/>
          </a:bodyPr>
          <a:lstStyle/>
          <a:p>
            <a:pPr algn="ctr">
              <a:lnSpc>
                <a:spcPct val="110000"/>
              </a:lnSpc>
            </a:pPr>
            <a:r>
              <a:rPr sz="1100" b="0" i="0">
                <a:solidFill>
                  <a:srgbClr val="A8A398"/>
                </a:solidFill>
                <a:latin typeface="Calibri"/>
              </a:rPr>
              <a:t>heat-map of the leaf region used</a:t>
            </a:r>
          </a:p>
          <a:p>
            <a:pPr algn="ctr">
              <a:lnSpc>
                <a:spcPct val="110000"/>
              </a:lnSpc>
            </a:pPr>
            <a:r>
              <a:rPr sz="1100" b="0" i="0">
                <a:solidFill>
                  <a:srgbClr val="A8A398"/>
                </a:solidFill>
                <a:latin typeface="Calibri"/>
              </a:rPr>
              <a:t>+ the passages, so anyone can verify</a:t>
            </a:r>
          </a:p>
        </p:txBody>
      </p:sp>
      <p:sp>
        <p:nvSpPr>
          <p:cNvPr id="49" name="Rounded Rectangle 48"/>
          <p:cNvSpPr/>
          <p:nvPr/>
        </p:nvSpPr>
        <p:spPr>
          <a:xfrm>
            <a:off x="4892040" y="2011680"/>
            <a:ext cx="3291840" cy="685800"/>
          </a:xfrm>
          <a:prstGeom prst="roundRect">
            <a:avLst/>
          </a:prstGeom>
          <a:solidFill>
            <a:srgbClr val="FBEFD9"/>
          </a:solidFill>
          <a:ln w="19050">
            <a:solidFill>
              <a:srgbClr val="C889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937760" y="2011680"/>
            <a:ext cx="3200400" cy="685800"/>
          </a:xfrm>
          <a:prstGeom prst="rect">
            <a:avLst/>
          </a:prstGeom>
          <a:noFill/>
        </p:spPr>
        <p:txBody>
          <a:bodyPr wrap="square" lIns="64008" tIns="27432" rIns="64008" bIns="27432" anchor="ctr">
            <a:spAutoFit/>
          </a:bodyPr>
          <a:lstStyle/>
          <a:p>
            <a:pPr algn="ctr">
              <a:lnSpc>
                <a:spcPct val="108000"/>
              </a:lnSpc>
            </a:pPr>
            <a:r>
              <a:rPr sz="1100" b="1" i="0">
                <a:solidFill>
                  <a:srgbClr val="222222"/>
                </a:solidFill>
                <a:latin typeface="Calibri"/>
              </a:rPr>
              <a:t>“dark, rough, scabby patches spreading over the leaf of a tree in moist alluvial soil”</a:t>
            </a:r>
          </a:p>
        </p:txBody>
      </p:sp>
      <p:sp>
        <p:nvSpPr>
          <p:cNvPr id="51" name="Rectangle 50"/>
          <p:cNvSpPr/>
          <p:nvPr/>
        </p:nvSpPr>
        <p:spPr>
          <a:xfrm>
            <a:off x="3566160" y="6382512"/>
            <a:ext cx="109728" cy="256032"/>
          </a:xfrm>
          <a:prstGeom prst="rect">
            <a:avLst/>
          </a:prstGeom>
          <a:solidFill>
            <a:srgbClr val="C88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749039" y="6336792"/>
            <a:ext cx="7955279" cy="365760"/>
          </a:xfrm>
          <a:prstGeom prst="rect">
            <a:avLst/>
          </a:prstGeom>
          <a:noFill/>
        </p:spPr>
        <p:txBody>
          <a:bodyPr wrap="square" lIns="64008" tIns="27432" rIns="64008" bIns="27432" anchor="t">
            <a:spAutoFit/>
          </a:bodyPr>
          <a:lstStyle/>
          <a:p>
            <a:pPr algn="l">
              <a:lnSpc>
                <a:spcPct val="108000"/>
              </a:lnSpc>
            </a:pPr>
            <a:r>
              <a:rPr sz="1300" b="1" i="0">
                <a:solidFill>
                  <a:srgbClr val="1F4D2E"/>
                </a:solidFill>
                <a:latin typeface="Calibri"/>
              </a:rPr>
              <a:t>Step 3 of 5 - the combiner writes one question in the texts' own language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F4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56032"/>
            <a:ext cx="8229600" cy="320040"/>
          </a:xfrm>
          <a:prstGeom prst="rect">
            <a:avLst/>
          </a:prstGeom>
          <a:noFill/>
        </p:spPr>
        <p:txBody>
          <a:bodyPr wrap="square" lIns="64008" tIns="27432" rIns="64008" bIns="27432" anchor="t">
            <a:spAutoFit/>
          </a:bodyPr>
          <a:lstStyle/>
          <a:p>
            <a:pPr algn="l">
              <a:lnSpc>
                <a:spcPct val="108000"/>
              </a:lnSpc>
            </a:pPr>
            <a:r>
              <a:rPr sz="1200" b="1" i="0">
                <a:solidFill>
                  <a:srgbClr val="C8891E"/>
                </a:solidFill>
                <a:latin typeface="Calibri"/>
              </a:rPr>
              <a:t>ARCHITECTURE  ·  PRESS → TO ADVANCE</a:t>
            </a:r>
          </a:p>
        </p:txBody>
      </p:sp>
      <p:sp>
        <p:nvSpPr>
          <p:cNvPr id="5" name="TextBox 4"/>
          <p:cNvSpPr txBox="1"/>
          <p:nvPr/>
        </p:nvSpPr>
        <p:spPr>
          <a:xfrm>
            <a:off x="457200" y="502920"/>
            <a:ext cx="11247120" cy="731520"/>
          </a:xfrm>
          <a:prstGeom prst="rect">
            <a:avLst/>
          </a:prstGeom>
          <a:noFill/>
        </p:spPr>
        <p:txBody>
          <a:bodyPr wrap="square" lIns="64008" tIns="27432" rIns="64008" bIns="27432" anchor="t">
            <a:spAutoFit/>
          </a:bodyPr>
          <a:lstStyle/>
          <a:p>
            <a:pPr algn="l">
              <a:lnSpc>
                <a:spcPct val="108000"/>
              </a:lnSpc>
            </a:pPr>
            <a:r>
              <a:rPr sz="3000" b="1" i="0">
                <a:solidFill>
                  <a:srgbClr val="1F4D2E"/>
                </a:solidFill>
                <a:latin typeface="Georgia"/>
              </a:rPr>
              <a:t>How it works — from photo to cited advice</a:t>
            </a:r>
          </a:p>
        </p:txBody>
      </p:sp>
      <p:cxnSp>
        <p:nvCxnSpPr>
          <p:cNvPr id="6" name="Connector 5"/>
          <p:cNvCxnSpPr/>
          <p:nvPr/>
        </p:nvCxnSpPr>
        <p:spPr>
          <a:xfrm flipV="1">
            <a:off x="2286000" y="3108960"/>
            <a:ext cx="1371600" cy="182880"/>
          </a:xfrm>
          <a:prstGeom prst="line">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194560" y="2651760"/>
            <a:ext cx="1554480" cy="457200"/>
          </a:xfrm>
          <a:prstGeom prst="rect">
            <a:avLst/>
          </a:prstGeom>
          <a:noFill/>
        </p:spPr>
        <p:txBody>
          <a:bodyPr wrap="square" lIns="64008" tIns="27432" rIns="64008" bIns="27432" anchor="t">
            <a:spAutoFit/>
          </a:bodyPr>
          <a:lstStyle/>
          <a:p>
            <a:pPr algn="ctr">
              <a:lnSpc>
                <a:spcPct val="108000"/>
              </a:lnSpc>
            </a:pPr>
            <a:r>
              <a:rPr sz="1100" b="0" i="1">
                <a:solidFill>
                  <a:srgbClr val="A8A398"/>
                </a:solidFill>
                <a:latin typeface="Calibri"/>
              </a:rPr>
              <a:t>leaf + soil photo, crop, cause</a:t>
            </a:r>
          </a:p>
        </p:txBody>
      </p:sp>
      <p:cxnSp>
        <p:nvCxnSpPr>
          <p:cNvPr id="8" name="Connector 7"/>
          <p:cNvCxnSpPr/>
          <p:nvPr/>
        </p:nvCxnSpPr>
        <p:spPr>
          <a:xfrm flipV="1">
            <a:off x="4480560" y="2148840"/>
            <a:ext cx="0" cy="274320"/>
          </a:xfrm>
          <a:prstGeom prst="line">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937760" y="2148840"/>
            <a:ext cx="0" cy="274320"/>
          </a:xfrm>
          <a:prstGeom prst="line">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480560" y="4526280"/>
            <a:ext cx="0" cy="457200"/>
          </a:xfrm>
          <a:prstGeom prst="line">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4937760" y="4526280"/>
            <a:ext cx="0" cy="457200"/>
          </a:xfrm>
          <a:prstGeom prst="line">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029200" y="2194560"/>
            <a:ext cx="2011680" cy="457200"/>
          </a:xfrm>
          <a:prstGeom prst="rect">
            <a:avLst/>
          </a:prstGeom>
          <a:noFill/>
        </p:spPr>
        <p:txBody>
          <a:bodyPr wrap="square" lIns="64008" tIns="27432" rIns="64008" bIns="27432" anchor="t">
            <a:spAutoFit/>
          </a:bodyPr>
          <a:lstStyle/>
          <a:p>
            <a:pPr algn="l">
              <a:lnSpc>
                <a:spcPct val="108000"/>
              </a:lnSpc>
            </a:pPr>
            <a:r>
              <a:rPr sz="1100" b="0" i="1">
                <a:solidFill>
                  <a:srgbClr val="A8A398"/>
                </a:solidFill>
                <a:latin typeface="Calibri"/>
              </a:rPr>
              <a:t>disease · confidence</a:t>
            </a:r>
          </a:p>
        </p:txBody>
      </p:sp>
      <p:sp>
        <p:nvSpPr>
          <p:cNvPr id="13" name="TextBox 12"/>
          <p:cNvSpPr txBox="1"/>
          <p:nvPr/>
        </p:nvSpPr>
        <p:spPr>
          <a:xfrm>
            <a:off x="5029200" y="4572000"/>
            <a:ext cx="2194560" cy="457200"/>
          </a:xfrm>
          <a:prstGeom prst="rect">
            <a:avLst/>
          </a:prstGeom>
          <a:noFill/>
        </p:spPr>
        <p:txBody>
          <a:bodyPr wrap="square" lIns="64008" tIns="27432" rIns="64008" bIns="27432" anchor="t">
            <a:spAutoFit/>
          </a:bodyPr>
          <a:lstStyle/>
          <a:p>
            <a:pPr algn="l">
              <a:lnSpc>
                <a:spcPct val="108000"/>
              </a:lnSpc>
            </a:pPr>
            <a:r>
              <a:rPr sz="1100" b="0" i="1">
                <a:solidFill>
                  <a:srgbClr val="A8A398"/>
                </a:solidFill>
                <a:latin typeface="Calibri"/>
              </a:rPr>
              <a:t>soil type · moisture · texture</a:t>
            </a:r>
          </a:p>
        </p:txBody>
      </p:sp>
      <p:cxnSp>
        <p:nvCxnSpPr>
          <p:cNvPr id="14" name="Connector 13"/>
          <p:cNvCxnSpPr/>
          <p:nvPr/>
        </p:nvCxnSpPr>
        <p:spPr>
          <a:xfrm flipV="1">
            <a:off x="5623560" y="2057400"/>
            <a:ext cx="2606040" cy="868680"/>
          </a:xfrm>
          <a:prstGeom prst="line">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989320" y="1920240"/>
            <a:ext cx="2103120" cy="457200"/>
          </a:xfrm>
          <a:prstGeom prst="rect">
            <a:avLst/>
          </a:prstGeom>
          <a:noFill/>
        </p:spPr>
        <p:txBody>
          <a:bodyPr wrap="square" lIns="64008" tIns="27432" rIns="64008" bIns="27432" anchor="t">
            <a:spAutoFit/>
          </a:bodyPr>
          <a:lstStyle/>
          <a:p>
            <a:pPr algn="ctr">
              <a:lnSpc>
                <a:spcPct val="108000"/>
              </a:lnSpc>
            </a:pPr>
            <a:r>
              <a:rPr sz="1100" b="0" i="1">
                <a:solidFill>
                  <a:srgbClr val="A8A398"/>
                </a:solidFill>
                <a:latin typeface="Calibri"/>
              </a:rPr>
              <a:t>symptom question</a:t>
            </a:r>
          </a:p>
        </p:txBody>
      </p:sp>
      <p:cxnSp>
        <p:nvCxnSpPr>
          <p:cNvPr id="16" name="Connector 15"/>
          <p:cNvCxnSpPr/>
          <p:nvPr/>
        </p:nvCxnSpPr>
        <p:spPr>
          <a:xfrm>
            <a:off x="9966960" y="2286000"/>
            <a:ext cx="0" cy="502920"/>
          </a:xfrm>
          <a:prstGeom prst="line">
            <a:avLst/>
          </a:prstGeom>
          <a:ln w="38100">
            <a:solidFill>
              <a:srgbClr val="C889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0058400" y="2395728"/>
            <a:ext cx="1828800" cy="457200"/>
          </a:xfrm>
          <a:prstGeom prst="rect">
            <a:avLst/>
          </a:prstGeom>
          <a:noFill/>
        </p:spPr>
        <p:txBody>
          <a:bodyPr wrap="square" lIns="64008" tIns="27432" rIns="64008" bIns="27432" anchor="t">
            <a:spAutoFit/>
          </a:bodyPr>
          <a:lstStyle/>
          <a:p>
            <a:pPr algn="l">
              <a:lnSpc>
                <a:spcPct val="108000"/>
              </a:lnSpc>
            </a:pPr>
            <a:r>
              <a:rPr sz="1100" b="1" i="1">
                <a:solidFill>
                  <a:srgbClr val="C8891E"/>
                </a:solidFill>
                <a:latin typeface="Calibri"/>
              </a:rPr>
              <a:t>5 best passages</a:t>
            </a:r>
          </a:p>
        </p:txBody>
      </p:sp>
      <p:cxnSp>
        <p:nvCxnSpPr>
          <p:cNvPr id="18" name="Connector 17"/>
          <p:cNvCxnSpPr/>
          <p:nvPr/>
        </p:nvCxnSpPr>
        <p:spPr>
          <a:xfrm>
            <a:off x="9966960" y="4160520"/>
            <a:ext cx="0" cy="640080"/>
          </a:xfrm>
          <a:prstGeom prst="line">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058400" y="4270248"/>
            <a:ext cx="2194560" cy="457200"/>
          </a:xfrm>
          <a:prstGeom prst="rect">
            <a:avLst/>
          </a:prstGeom>
          <a:noFill/>
        </p:spPr>
        <p:txBody>
          <a:bodyPr wrap="square" lIns="64008" tIns="27432" rIns="64008" bIns="27432" anchor="t">
            <a:spAutoFit/>
          </a:bodyPr>
          <a:lstStyle/>
          <a:p>
            <a:pPr algn="l">
              <a:lnSpc>
                <a:spcPct val="108000"/>
              </a:lnSpc>
            </a:pPr>
            <a:r>
              <a:rPr sz="1100" b="0" i="1">
                <a:solidFill>
                  <a:srgbClr val="A8A398"/>
                </a:solidFill>
                <a:latin typeface="Calibri"/>
              </a:rPr>
              <a:t>cited advice · or honest refusal</a:t>
            </a:r>
          </a:p>
        </p:txBody>
      </p:sp>
      <p:cxnSp>
        <p:nvCxnSpPr>
          <p:cNvPr id="20" name="Connector 19"/>
          <p:cNvCxnSpPr/>
          <p:nvPr/>
        </p:nvCxnSpPr>
        <p:spPr>
          <a:xfrm flipH="1" flipV="1">
            <a:off x="1371600" y="4526280"/>
            <a:ext cx="6858000" cy="1143000"/>
          </a:xfrm>
          <a:prstGeom prst="bentConnector3">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57200" y="6053328"/>
            <a:ext cx="2926080" cy="457200"/>
          </a:xfrm>
          <a:prstGeom prst="rect">
            <a:avLst/>
          </a:prstGeom>
          <a:noFill/>
        </p:spPr>
        <p:txBody>
          <a:bodyPr wrap="square" lIns="64008" tIns="27432" rIns="64008" bIns="27432" anchor="t">
            <a:spAutoFit/>
          </a:bodyPr>
          <a:lstStyle/>
          <a:p>
            <a:pPr algn="l">
              <a:lnSpc>
                <a:spcPct val="108000"/>
              </a:lnSpc>
            </a:pPr>
            <a:r>
              <a:rPr sz="1100" b="0" i="1">
                <a:solidFill>
                  <a:srgbClr val="A8A398"/>
                </a:solidFill>
                <a:latin typeface="Calibri"/>
              </a:rPr>
              <a:t>advice + verse + heat-map + passages</a:t>
            </a:r>
          </a:p>
        </p:txBody>
      </p:sp>
      <p:sp>
        <p:nvSpPr>
          <p:cNvPr id="22" name="Rounded Rectangle 21"/>
          <p:cNvSpPr/>
          <p:nvPr/>
        </p:nvSpPr>
        <p:spPr>
          <a:xfrm>
            <a:off x="457200" y="2606040"/>
            <a:ext cx="1828800" cy="1920240"/>
          </a:xfrm>
          <a:prstGeom prst="roundRect">
            <a:avLst/>
          </a:prstGeom>
          <a:solidFill>
            <a:srgbClr val="EBE8E0"/>
          </a:solidFill>
          <a:ln w="15875">
            <a:solidFill>
              <a:srgbClr val="D2C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94360" y="2606040"/>
            <a:ext cx="1554480" cy="73152"/>
          </a:xfrm>
          <a:prstGeom prst="rect">
            <a:avLst/>
          </a:prstGeom>
          <a:solidFill>
            <a:srgbClr val="D2C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2920" y="2715768"/>
            <a:ext cx="1737360" cy="384048"/>
          </a:xfrm>
          <a:prstGeom prst="rect">
            <a:avLst/>
          </a:prstGeom>
          <a:noFill/>
        </p:spPr>
        <p:txBody>
          <a:bodyPr wrap="square" lIns="64008" tIns="27432" rIns="64008" bIns="27432" anchor="t">
            <a:spAutoFit/>
          </a:bodyPr>
          <a:lstStyle/>
          <a:p>
            <a:pPr algn="ctr">
              <a:lnSpc>
                <a:spcPct val="108000"/>
              </a:lnSpc>
            </a:pPr>
            <a:r>
              <a:rPr sz="1500" b="1" i="0">
                <a:solidFill>
                  <a:srgbClr val="A8A398"/>
                </a:solidFill>
                <a:latin typeface="Calibri"/>
              </a:rPr>
              <a:t>FARMER</a:t>
            </a:r>
          </a:p>
        </p:txBody>
      </p:sp>
      <p:sp>
        <p:nvSpPr>
          <p:cNvPr id="25" name="TextBox 24"/>
          <p:cNvSpPr txBox="1"/>
          <p:nvPr/>
        </p:nvSpPr>
        <p:spPr>
          <a:xfrm>
            <a:off x="530352" y="3063240"/>
            <a:ext cx="1682496" cy="1417320"/>
          </a:xfrm>
          <a:prstGeom prst="rect">
            <a:avLst/>
          </a:prstGeom>
          <a:noFill/>
        </p:spPr>
        <p:txBody>
          <a:bodyPr wrap="square" lIns="64008" tIns="27432" rIns="64008" bIns="27432" anchor="t">
            <a:spAutoFit/>
          </a:bodyPr>
          <a:lstStyle/>
          <a:p>
            <a:pPr algn="ctr">
              <a:lnSpc>
                <a:spcPct val="110000"/>
              </a:lnSpc>
            </a:pPr>
            <a:r>
              <a:rPr sz="1200" b="0" i="0">
                <a:solidFill>
                  <a:srgbClr val="A8A398"/>
                </a:solidFill>
                <a:latin typeface="Calibri"/>
              </a:rPr>
              <a:t>leaf photo</a:t>
            </a:r>
          </a:p>
          <a:p>
            <a:pPr algn="ctr">
              <a:lnSpc>
                <a:spcPct val="110000"/>
              </a:lnSpc>
            </a:pPr>
            <a:r>
              <a:rPr sz="1200" b="0" i="0">
                <a:solidFill>
                  <a:srgbClr val="A8A398"/>
                </a:solidFill>
                <a:latin typeface="Calibri"/>
              </a:rPr>
              <a:t>soil photo</a:t>
            </a:r>
          </a:p>
          <a:p>
            <a:pPr algn="ctr">
              <a:lnSpc>
                <a:spcPct val="110000"/>
              </a:lnSpc>
            </a:pPr>
            <a:r>
              <a:rPr sz="1200" b="0" i="0">
                <a:solidFill>
                  <a:srgbClr val="A8A398"/>
                </a:solidFill>
                <a:latin typeface="Calibri"/>
              </a:rPr>
              <a:t>crop · suspected cause</a:t>
            </a:r>
          </a:p>
        </p:txBody>
      </p:sp>
      <p:sp>
        <p:nvSpPr>
          <p:cNvPr id="26" name="Oval 25"/>
          <p:cNvSpPr/>
          <p:nvPr/>
        </p:nvSpPr>
        <p:spPr>
          <a:xfrm>
            <a:off x="3657600" y="2423160"/>
            <a:ext cx="2103120" cy="2103120"/>
          </a:xfrm>
          <a:prstGeom prst="ellipse">
            <a:avLst/>
          </a:prstGeom>
          <a:solidFill>
            <a:srgbClr val="EBE8E0"/>
          </a:solidFill>
          <a:ln w="15875">
            <a:solidFill>
              <a:srgbClr val="D2C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703320" y="2743200"/>
            <a:ext cx="2011680" cy="384048"/>
          </a:xfrm>
          <a:prstGeom prst="rect">
            <a:avLst/>
          </a:prstGeom>
          <a:noFill/>
        </p:spPr>
        <p:txBody>
          <a:bodyPr wrap="square" lIns="64008" tIns="27432" rIns="64008" bIns="27432" anchor="t">
            <a:spAutoFit/>
          </a:bodyPr>
          <a:lstStyle/>
          <a:p>
            <a:pPr algn="ctr">
              <a:lnSpc>
                <a:spcPct val="108000"/>
              </a:lnSpc>
            </a:pPr>
            <a:r>
              <a:rPr sz="1500" b="1" i="0">
                <a:solidFill>
                  <a:srgbClr val="A8A398"/>
                </a:solidFill>
                <a:latin typeface="Calibri"/>
              </a:rPr>
              <a:t>THE COMBINER</a:t>
            </a:r>
          </a:p>
        </p:txBody>
      </p:sp>
      <p:sp>
        <p:nvSpPr>
          <p:cNvPr id="28" name="TextBox 27"/>
          <p:cNvSpPr txBox="1"/>
          <p:nvPr/>
        </p:nvSpPr>
        <p:spPr>
          <a:xfrm>
            <a:off x="3730752" y="3154680"/>
            <a:ext cx="1956816" cy="1600200"/>
          </a:xfrm>
          <a:prstGeom prst="rect">
            <a:avLst/>
          </a:prstGeom>
          <a:noFill/>
        </p:spPr>
        <p:txBody>
          <a:bodyPr wrap="square" lIns="64008" tIns="27432" rIns="64008" bIns="27432" anchor="t">
            <a:spAutoFit/>
          </a:bodyPr>
          <a:lstStyle/>
          <a:p>
            <a:pPr algn="ctr">
              <a:lnSpc>
                <a:spcPct val="110000"/>
              </a:lnSpc>
            </a:pPr>
            <a:r>
              <a:rPr sz="1100" b="0" i="0">
                <a:solidFill>
                  <a:srgbClr val="A8A398"/>
                </a:solidFill>
                <a:latin typeface="Calibri"/>
              </a:rPr>
              <a:t>the hub: routes the photos,</a:t>
            </a:r>
          </a:p>
          <a:p>
            <a:pPr algn="ctr">
              <a:lnSpc>
                <a:spcPct val="110000"/>
              </a:lnSpc>
            </a:pPr>
            <a:r>
              <a:rPr sz="1100" b="0" i="0">
                <a:solidFill>
                  <a:srgbClr val="A8A398"/>
                </a:solidFill>
                <a:latin typeface="Calibri"/>
              </a:rPr>
              <a:t>writes the question,</a:t>
            </a:r>
          </a:p>
          <a:p>
            <a:pPr algn="ctr">
              <a:lnSpc>
                <a:spcPct val="110000"/>
              </a:lnSpc>
            </a:pPr>
            <a:r>
              <a:rPr sz="1100" b="0" i="0">
                <a:solidFill>
                  <a:srgbClr val="A8A398"/>
                </a:solidFill>
                <a:latin typeface="Calibri"/>
              </a:rPr>
              <a:t>delivers the answer</a:t>
            </a:r>
          </a:p>
        </p:txBody>
      </p:sp>
      <p:sp>
        <p:nvSpPr>
          <p:cNvPr id="29" name="Rounded Rectangle 28"/>
          <p:cNvSpPr/>
          <p:nvPr/>
        </p:nvSpPr>
        <p:spPr>
          <a:xfrm>
            <a:off x="3246120" y="1143000"/>
            <a:ext cx="2926080" cy="1005840"/>
          </a:xfrm>
          <a:prstGeom prst="roundRect">
            <a:avLst/>
          </a:prstGeom>
          <a:solidFill>
            <a:srgbClr val="EBE8E0"/>
          </a:solidFill>
          <a:ln w="15875">
            <a:solidFill>
              <a:srgbClr val="D2C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3383280" y="1143000"/>
            <a:ext cx="2651760" cy="73152"/>
          </a:xfrm>
          <a:prstGeom prst="rect">
            <a:avLst/>
          </a:prstGeom>
          <a:solidFill>
            <a:srgbClr val="D2C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291840" y="1252728"/>
            <a:ext cx="2834640" cy="384048"/>
          </a:xfrm>
          <a:prstGeom prst="rect">
            <a:avLst/>
          </a:prstGeom>
          <a:noFill/>
        </p:spPr>
        <p:txBody>
          <a:bodyPr wrap="square" lIns="64008" tIns="27432" rIns="64008" bIns="27432" anchor="t">
            <a:spAutoFit/>
          </a:bodyPr>
          <a:lstStyle/>
          <a:p>
            <a:pPr algn="ctr">
              <a:lnSpc>
                <a:spcPct val="108000"/>
              </a:lnSpc>
            </a:pPr>
            <a:r>
              <a:rPr sz="1400" b="1" i="0">
                <a:solidFill>
                  <a:srgbClr val="A8A398"/>
                </a:solidFill>
                <a:latin typeface="Calibri"/>
              </a:rPr>
              <a:t>MODEL 1 · Plant disease</a:t>
            </a:r>
          </a:p>
        </p:txBody>
      </p:sp>
      <p:sp>
        <p:nvSpPr>
          <p:cNvPr id="32" name="TextBox 31"/>
          <p:cNvSpPr txBox="1"/>
          <p:nvPr/>
        </p:nvSpPr>
        <p:spPr>
          <a:xfrm>
            <a:off x="3319272" y="1600200"/>
            <a:ext cx="2779776" cy="502920"/>
          </a:xfrm>
          <a:prstGeom prst="rect">
            <a:avLst/>
          </a:prstGeom>
          <a:noFill/>
        </p:spPr>
        <p:txBody>
          <a:bodyPr wrap="square" lIns="64008" tIns="27432" rIns="64008" bIns="27432" anchor="t">
            <a:spAutoFit/>
          </a:bodyPr>
          <a:lstStyle/>
          <a:p>
            <a:pPr algn="ctr">
              <a:lnSpc>
                <a:spcPct val="110000"/>
              </a:lnSpc>
            </a:pPr>
            <a:r>
              <a:rPr sz="1100" b="0" i="0">
                <a:solidFill>
                  <a:srgbClr val="A8A398"/>
                </a:solidFill>
                <a:latin typeface="Calibri"/>
              </a:rPr>
              <a:t>leaf photo → disease name, healthy/diseased, confidence, heat-map</a:t>
            </a:r>
          </a:p>
        </p:txBody>
      </p:sp>
      <p:sp>
        <p:nvSpPr>
          <p:cNvPr id="33" name="Rounded Rectangle 32"/>
          <p:cNvSpPr/>
          <p:nvPr/>
        </p:nvSpPr>
        <p:spPr>
          <a:xfrm>
            <a:off x="3246120" y="4983480"/>
            <a:ext cx="2926080" cy="1051560"/>
          </a:xfrm>
          <a:prstGeom prst="roundRect">
            <a:avLst/>
          </a:prstGeom>
          <a:solidFill>
            <a:srgbClr val="EBE8E0"/>
          </a:solidFill>
          <a:ln w="15875">
            <a:solidFill>
              <a:srgbClr val="D2C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3383280" y="4983480"/>
            <a:ext cx="2651760" cy="73152"/>
          </a:xfrm>
          <a:prstGeom prst="rect">
            <a:avLst/>
          </a:prstGeom>
          <a:solidFill>
            <a:srgbClr val="D2C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291840" y="5093208"/>
            <a:ext cx="2834640" cy="384048"/>
          </a:xfrm>
          <a:prstGeom prst="rect">
            <a:avLst/>
          </a:prstGeom>
          <a:noFill/>
        </p:spPr>
        <p:txBody>
          <a:bodyPr wrap="square" lIns="64008" tIns="27432" rIns="64008" bIns="27432" anchor="t">
            <a:spAutoFit/>
          </a:bodyPr>
          <a:lstStyle/>
          <a:p>
            <a:pPr algn="ctr">
              <a:lnSpc>
                <a:spcPct val="108000"/>
              </a:lnSpc>
            </a:pPr>
            <a:r>
              <a:rPr sz="1400" b="1" i="0">
                <a:solidFill>
                  <a:srgbClr val="A8A398"/>
                </a:solidFill>
                <a:latin typeface="Calibri"/>
              </a:rPr>
              <a:t>MODEL 2 · Soil</a:t>
            </a:r>
          </a:p>
        </p:txBody>
      </p:sp>
      <p:sp>
        <p:nvSpPr>
          <p:cNvPr id="36" name="TextBox 35"/>
          <p:cNvSpPr txBox="1"/>
          <p:nvPr/>
        </p:nvSpPr>
        <p:spPr>
          <a:xfrm>
            <a:off x="3319272" y="5440680"/>
            <a:ext cx="2779776" cy="548640"/>
          </a:xfrm>
          <a:prstGeom prst="rect">
            <a:avLst/>
          </a:prstGeom>
          <a:noFill/>
        </p:spPr>
        <p:txBody>
          <a:bodyPr wrap="square" lIns="64008" tIns="27432" rIns="64008" bIns="27432" anchor="t">
            <a:spAutoFit/>
          </a:bodyPr>
          <a:lstStyle/>
          <a:p>
            <a:pPr algn="ctr">
              <a:lnSpc>
                <a:spcPct val="110000"/>
              </a:lnSpc>
            </a:pPr>
            <a:r>
              <a:rPr sz="1100" b="0" i="0">
                <a:solidFill>
                  <a:srgbClr val="A8A398"/>
                </a:solidFill>
                <a:latin typeface="Calibri"/>
              </a:rPr>
              <a:t>soil photo → soil type, moisture, texture (visual only)</a:t>
            </a:r>
          </a:p>
        </p:txBody>
      </p:sp>
      <p:sp>
        <p:nvSpPr>
          <p:cNvPr id="37" name="Rounded Rectangle 36"/>
          <p:cNvSpPr/>
          <p:nvPr/>
        </p:nvSpPr>
        <p:spPr>
          <a:xfrm>
            <a:off x="8229600" y="1143000"/>
            <a:ext cx="3474720" cy="1143000"/>
          </a:xfrm>
          <a:prstGeom prst="roundRect">
            <a:avLst/>
          </a:prstGeom>
          <a:solidFill>
            <a:srgbClr val="FFFCF5"/>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8366760" y="1143000"/>
            <a:ext cx="3200400" cy="73152"/>
          </a:xfrm>
          <a:prstGeom prst="rect">
            <a:avLst/>
          </a:prstGeom>
          <a:solidFill>
            <a:srgbClr val="2E6B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275320" y="1252728"/>
            <a:ext cx="3383280" cy="384048"/>
          </a:xfrm>
          <a:prstGeom prst="rect">
            <a:avLst/>
          </a:prstGeom>
          <a:noFill/>
        </p:spPr>
        <p:txBody>
          <a:bodyPr wrap="square" lIns="64008" tIns="27432" rIns="64008" bIns="27432" anchor="t">
            <a:spAutoFit/>
          </a:bodyPr>
          <a:lstStyle/>
          <a:p>
            <a:pPr algn="ctr">
              <a:lnSpc>
                <a:spcPct val="108000"/>
              </a:lnSpc>
            </a:pPr>
            <a:r>
              <a:rPr sz="1400" b="1" i="0">
                <a:solidFill>
                  <a:srgbClr val="1F4D2E"/>
                </a:solidFill>
                <a:latin typeface="Calibri"/>
              </a:rPr>
              <a:t>KNOWLEDGE BASE</a:t>
            </a:r>
          </a:p>
        </p:txBody>
      </p:sp>
      <p:sp>
        <p:nvSpPr>
          <p:cNvPr id="40" name="TextBox 39"/>
          <p:cNvSpPr txBox="1"/>
          <p:nvPr/>
        </p:nvSpPr>
        <p:spPr>
          <a:xfrm>
            <a:off x="8302752" y="1600200"/>
            <a:ext cx="3328416" cy="640080"/>
          </a:xfrm>
          <a:prstGeom prst="rect">
            <a:avLst/>
          </a:prstGeom>
          <a:noFill/>
        </p:spPr>
        <p:txBody>
          <a:bodyPr wrap="square" lIns="64008" tIns="27432" rIns="64008" bIns="27432" anchor="t">
            <a:spAutoFit/>
          </a:bodyPr>
          <a:lstStyle/>
          <a:p>
            <a:pPr algn="ctr">
              <a:lnSpc>
                <a:spcPct val="110000"/>
              </a:lnSpc>
            </a:pPr>
            <a:r>
              <a:rPr sz="1100" b="0" i="0">
                <a:solidFill>
                  <a:srgbClr val="222222"/>
                </a:solidFill>
                <a:latin typeface="Calibri"/>
              </a:rPr>
              <a:t>six classical texts → 327 numbered passages</a:t>
            </a:r>
          </a:p>
          <a:p>
            <a:pPr algn="ctr">
              <a:lnSpc>
                <a:spcPct val="110000"/>
              </a:lnSpc>
            </a:pPr>
            <a:r>
              <a:rPr sz="1100" b="0" i="0">
                <a:solidFill>
                  <a:srgbClr val="222222"/>
                </a:solidFill>
                <a:latin typeface="Calibri"/>
              </a:rPr>
              <a:t>search by meaning + by keyword</a:t>
            </a:r>
          </a:p>
        </p:txBody>
      </p:sp>
      <p:sp>
        <p:nvSpPr>
          <p:cNvPr id="41" name="Rounded Rectangle 40"/>
          <p:cNvSpPr/>
          <p:nvPr/>
        </p:nvSpPr>
        <p:spPr>
          <a:xfrm>
            <a:off x="8229600" y="2788920"/>
            <a:ext cx="3474720" cy="1371600"/>
          </a:xfrm>
          <a:prstGeom prst="roundRect">
            <a:avLst/>
          </a:prstGeom>
          <a:solidFill>
            <a:srgbClr val="EBE8E0"/>
          </a:solidFill>
          <a:ln w="15875">
            <a:solidFill>
              <a:srgbClr val="D2C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8366760" y="2788920"/>
            <a:ext cx="3200400" cy="73152"/>
          </a:xfrm>
          <a:prstGeom prst="rect">
            <a:avLst/>
          </a:prstGeom>
          <a:solidFill>
            <a:srgbClr val="D2C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275320" y="2898648"/>
            <a:ext cx="3383280" cy="384048"/>
          </a:xfrm>
          <a:prstGeom prst="rect">
            <a:avLst/>
          </a:prstGeom>
          <a:noFill/>
        </p:spPr>
        <p:txBody>
          <a:bodyPr wrap="square" lIns="64008" tIns="27432" rIns="64008" bIns="27432" anchor="t">
            <a:spAutoFit/>
          </a:bodyPr>
          <a:lstStyle/>
          <a:p>
            <a:pPr algn="ctr">
              <a:lnSpc>
                <a:spcPct val="108000"/>
              </a:lnSpc>
            </a:pPr>
            <a:r>
              <a:rPr sz="1400" b="1" i="0">
                <a:solidFill>
                  <a:srgbClr val="A8A398"/>
                </a:solidFill>
                <a:latin typeface="Calibri"/>
              </a:rPr>
              <a:t>ANSWER WRITER</a:t>
            </a:r>
          </a:p>
        </p:txBody>
      </p:sp>
      <p:sp>
        <p:nvSpPr>
          <p:cNvPr id="44" name="TextBox 43"/>
          <p:cNvSpPr txBox="1"/>
          <p:nvPr/>
        </p:nvSpPr>
        <p:spPr>
          <a:xfrm>
            <a:off x="8302752" y="3246120"/>
            <a:ext cx="3328416" cy="868680"/>
          </a:xfrm>
          <a:prstGeom prst="rect">
            <a:avLst/>
          </a:prstGeom>
          <a:noFill/>
        </p:spPr>
        <p:txBody>
          <a:bodyPr wrap="square" lIns="64008" tIns="27432" rIns="64008" bIns="27432" anchor="t">
            <a:spAutoFit/>
          </a:bodyPr>
          <a:lstStyle/>
          <a:p>
            <a:pPr algn="ctr">
              <a:lnSpc>
                <a:spcPct val="110000"/>
              </a:lnSpc>
            </a:pPr>
            <a:r>
              <a:rPr sz="1100" b="0" i="0">
                <a:solidFill>
                  <a:srgbClr val="A8A398"/>
                </a:solidFill>
                <a:latin typeface="Calibri"/>
              </a:rPr>
              <a:t>language model — may use ONLY the passages found;</a:t>
            </a:r>
          </a:p>
          <a:p>
            <a:pPr algn="ctr">
              <a:lnSpc>
                <a:spcPct val="110000"/>
              </a:lnSpc>
            </a:pPr>
            <a:r>
              <a:rPr sz="1100" b="0" i="0">
                <a:solidFill>
                  <a:srgbClr val="A8A398"/>
                </a:solidFill>
                <a:latin typeface="Calibri"/>
              </a:rPr>
              <a:t>every line cites the verse; refuses if nothing fits</a:t>
            </a:r>
          </a:p>
        </p:txBody>
      </p:sp>
      <p:sp>
        <p:nvSpPr>
          <p:cNvPr id="45" name="Rounded Rectangle 44"/>
          <p:cNvSpPr/>
          <p:nvPr/>
        </p:nvSpPr>
        <p:spPr>
          <a:xfrm>
            <a:off x="8229600" y="4800600"/>
            <a:ext cx="3474720" cy="1051560"/>
          </a:xfrm>
          <a:prstGeom prst="roundRect">
            <a:avLst/>
          </a:prstGeom>
          <a:solidFill>
            <a:srgbClr val="EBE8E0"/>
          </a:solidFill>
          <a:ln w="15875">
            <a:solidFill>
              <a:srgbClr val="D2C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8366760" y="4800600"/>
            <a:ext cx="3200400" cy="73152"/>
          </a:xfrm>
          <a:prstGeom prst="rect">
            <a:avLst/>
          </a:prstGeom>
          <a:solidFill>
            <a:srgbClr val="D2C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275320" y="4910328"/>
            <a:ext cx="3383280" cy="384048"/>
          </a:xfrm>
          <a:prstGeom prst="rect">
            <a:avLst/>
          </a:prstGeom>
          <a:noFill/>
        </p:spPr>
        <p:txBody>
          <a:bodyPr wrap="square" lIns="64008" tIns="27432" rIns="64008" bIns="27432" anchor="t">
            <a:spAutoFit/>
          </a:bodyPr>
          <a:lstStyle/>
          <a:p>
            <a:pPr algn="ctr">
              <a:lnSpc>
                <a:spcPct val="108000"/>
              </a:lnSpc>
            </a:pPr>
            <a:r>
              <a:rPr sz="1400" b="1" i="0">
                <a:solidFill>
                  <a:srgbClr val="A8A398"/>
                </a:solidFill>
                <a:latin typeface="Calibri"/>
              </a:rPr>
              <a:t>EXPLAIN &amp; DELIVER</a:t>
            </a:r>
          </a:p>
        </p:txBody>
      </p:sp>
      <p:sp>
        <p:nvSpPr>
          <p:cNvPr id="48" name="TextBox 47"/>
          <p:cNvSpPr txBox="1"/>
          <p:nvPr/>
        </p:nvSpPr>
        <p:spPr>
          <a:xfrm>
            <a:off x="8302752" y="5257800"/>
            <a:ext cx="3328416" cy="548640"/>
          </a:xfrm>
          <a:prstGeom prst="rect">
            <a:avLst/>
          </a:prstGeom>
          <a:noFill/>
        </p:spPr>
        <p:txBody>
          <a:bodyPr wrap="square" lIns="64008" tIns="27432" rIns="64008" bIns="27432" anchor="t">
            <a:spAutoFit/>
          </a:bodyPr>
          <a:lstStyle/>
          <a:p>
            <a:pPr algn="ctr">
              <a:lnSpc>
                <a:spcPct val="110000"/>
              </a:lnSpc>
            </a:pPr>
            <a:r>
              <a:rPr sz="1100" b="0" i="0">
                <a:solidFill>
                  <a:srgbClr val="A8A398"/>
                </a:solidFill>
                <a:latin typeface="Calibri"/>
              </a:rPr>
              <a:t>heat-map of the leaf region used</a:t>
            </a:r>
          </a:p>
          <a:p>
            <a:pPr algn="ctr">
              <a:lnSpc>
                <a:spcPct val="110000"/>
              </a:lnSpc>
            </a:pPr>
            <a:r>
              <a:rPr sz="1100" b="0" i="0">
                <a:solidFill>
                  <a:srgbClr val="A8A398"/>
                </a:solidFill>
                <a:latin typeface="Calibri"/>
              </a:rPr>
              <a:t>+ the passages, so anyone can verify</a:t>
            </a:r>
          </a:p>
        </p:txBody>
      </p:sp>
      <p:sp>
        <p:nvSpPr>
          <p:cNvPr id="49" name="Rounded Rectangle 48"/>
          <p:cNvSpPr/>
          <p:nvPr/>
        </p:nvSpPr>
        <p:spPr>
          <a:xfrm>
            <a:off x="8366760" y="2212848"/>
            <a:ext cx="3200400" cy="457200"/>
          </a:xfrm>
          <a:prstGeom prst="roundRect">
            <a:avLst/>
          </a:prstGeom>
          <a:solidFill>
            <a:srgbClr val="FBEFD9"/>
          </a:solidFill>
          <a:ln w="19050">
            <a:solidFill>
              <a:srgbClr val="C889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412480" y="2212848"/>
            <a:ext cx="3108960" cy="457200"/>
          </a:xfrm>
          <a:prstGeom prst="rect">
            <a:avLst/>
          </a:prstGeom>
          <a:noFill/>
        </p:spPr>
        <p:txBody>
          <a:bodyPr wrap="square" lIns="64008" tIns="27432" rIns="64008" bIns="27432" anchor="ctr">
            <a:spAutoFit/>
          </a:bodyPr>
          <a:lstStyle/>
          <a:p>
            <a:pPr algn="ctr">
              <a:lnSpc>
                <a:spcPct val="108000"/>
              </a:lnSpc>
            </a:pPr>
            <a:r>
              <a:rPr sz="1000" b="1" i="0">
                <a:solidFill>
                  <a:srgbClr val="222222"/>
                </a:solidFill>
                <a:latin typeface="Calibri"/>
              </a:rPr>
              <a:t>Vrikshayurveda v.173, 191, 193, 194 · Upavanavinoda …</a:t>
            </a:r>
          </a:p>
        </p:txBody>
      </p:sp>
      <p:sp>
        <p:nvSpPr>
          <p:cNvPr id="51" name="Rectangle 50"/>
          <p:cNvSpPr/>
          <p:nvPr/>
        </p:nvSpPr>
        <p:spPr>
          <a:xfrm>
            <a:off x="3566160" y="6382512"/>
            <a:ext cx="109728" cy="256032"/>
          </a:xfrm>
          <a:prstGeom prst="rect">
            <a:avLst/>
          </a:prstGeom>
          <a:solidFill>
            <a:srgbClr val="C88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749039" y="6336792"/>
            <a:ext cx="7955279" cy="365760"/>
          </a:xfrm>
          <a:prstGeom prst="rect">
            <a:avLst/>
          </a:prstGeom>
          <a:noFill/>
        </p:spPr>
        <p:txBody>
          <a:bodyPr wrap="square" lIns="64008" tIns="27432" rIns="64008" bIns="27432" anchor="t">
            <a:spAutoFit/>
          </a:bodyPr>
          <a:lstStyle/>
          <a:p>
            <a:pPr algn="l">
              <a:lnSpc>
                <a:spcPct val="108000"/>
              </a:lnSpc>
            </a:pPr>
            <a:r>
              <a:rPr sz="1300" b="1" i="0">
                <a:solidFill>
                  <a:srgbClr val="1F4D2E"/>
                </a:solidFill>
                <a:latin typeface="Calibri"/>
              </a:rPr>
              <a:t>Step 4 of 5 - the question searches 327 numbered passages; the 5 best come back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F4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56032"/>
            <a:ext cx="8229600" cy="320040"/>
          </a:xfrm>
          <a:prstGeom prst="rect">
            <a:avLst/>
          </a:prstGeom>
          <a:noFill/>
        </p:spPr>
        <p:txBody>
          <a:bodyPr wrap="square" lIns="64008" tIns="27432" rIns="64008" bIns="27432" anchor="t">
            <a:spAutoFit/>
          </a:bodyPr>
          <a:lstStyle/>
          <a:p>
            <a:pPr algn="l">
              <a:lnSpc>
                <a:spcPct val="108000"/>
              </a:lnSpc>
            </a:pPr>
            <a:r>
              <a:rPr sz="1200" b="1" i="0">
                <a:solidFill>
                  <a:srgbClr val="C8891E"/>
                </a:solidFill>
                <a:latin typeface="Calibri"/>
              </a:rPr>
              <a:t>ARCHITECTURE  ·  PRESS → TO ADVANCE</a:t>
            </a:r>
          </a:p>
        </p:txBody>
      </p:sp>
      <p:sp>
        <p:nvSpPr>
          <p:cNvPr id="5" name="TextBox 4"/>
          <p:cNvSpPr txBox="1"/>
          <p:nvPr/>
        </p:nvSpPr>
        <p:spPr>
          <a:xfrm>
            <a:off x="457200" y="502920"/>
            <a:ext cx="11247120" cy="731520"/>
          </a:xfrm>
          <a:prstGeom prst="rect">
            <a:avLst/>
          </a:prstGeom>
          <a:noFill/>
        </p:spPr>
        <p:txBody>
          <a:bodyPr wrap="square" lIns="64008" tIns="27432" rIns="64008" bIns="27432" anchor="t">
            <a:spAutoFit/>
          </a:bodyPr>
          <a:lstStyle/>
          <a:p>
            <a:pPr algn="l">
              <a:lnSpc>
                <a:spcPct val="108000"/>
              </a:lnSpc>
            </a:pPr>
            <a:r>
              <a:rPr sz="3000" b="1" i="0">
                <a:solidFill>
                  <a:srgbClr val="1F4D2E"/>
                </a:solidFill>
                <a:latin typeface="Georgia"/>
              </a:rPr>
              <a:t>How it works — from photo to cited advice</a:t>
            </a:r>
          </a:p>
        </p:txBody>
      </p:sp>
      <p:cxnSp>
        <p:nvCxnSpPr>
          <p:cNvPr id="6" name="Connector 5"/>
          <p:cNvCxnSpPr/>
          <p:nvPr/>
        </p:nvCxnSpPr>
        <p:spPr>
          <a:xfrm flipV="1">
            <a:off x="2286000" y="3108960"/>
            <a:ext cx="1371600" cy="182880"/>
          </a:xfrm>
          <a:prstGeom prst="line">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194560" y="2651760"/>
            <a:ext cx="1554480" cy="457200"/>
          </a:xfrm>
          <a:prstGeom prst="rect">
            <a:avLst/>
          </a:prstGeom>
          <a:noFill/>
        </p:spPr>
        <p:txBody>
          <a:bodyPr wrap="square" lIns="64008" tIns="27432" rIns="64008" bIns="27432" anchor="t">
            <a:spAutoFit/>
          </a:bodyPr>
          <a:lstStyle/>
          <a:p>
            <a:pPr algn="ctr">
              <a:lnSpc>
                <a:spcPct val="108000"/>
              </a:lnSpc>
            </a:pPr>
            <a:r>
              <a:rPr sz="1100" b="0" i="1">
                <a:solidFill>
                  <a:srgbClr val="A8A398"/>
                </a:solidFill>
                <a:latin typeface="Calibri"/>
              </a:rPr>
              <a:t>leaf + soil photo, crop, cause</a:t>
            </a:r>
          </a:p>
        </p:txBody>
      </p:sp>
      <p:cxnSp>
        <p:nvCxnSpPr>
          <p:cNvPr id="8" name="Connector 7"/>
          <p:cNvCxnSpPr/>
          <p:nvPr/>
        </p:nvCxnSpPr>
        <p:spPr>
          <a:xfrm flipV="1">
            <a:off x="4480560" y="2148840"/>
            <a:ext cx="0" cy="274320"/>
          </a:xfrm>
          <a:prstGeom prst="line">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937760" y="2148840"/>
            <a:ext cx="0" cy="274320"/>
          </a:xfrm>
          <a:prstGeom prst="line">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480560" y="4526280"/>
            <a:ext cx="0" cy="457200"/>
          </a:xfrm>
          <a:prstGeom prst="line">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4937760" y="4526280"/>
            <a:ext cx="0" cy="457200"/>
          </a:xfrm>
          <a:prstGeom prst="line">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029200" y="2194560"/>
            <a:ext cx="2011680" cy="457200"/>
          </a:xfrm>
          <a:prstGeom prst="rect">
            <a:avLst/>
          </a:prstGeom>
          <a:noFill/>
        </p:spPr>
        <p:txBody>
          <a:bodyPr wrap="square" lIns="64008" tIns="27432" rIns="64008" bIns="27432" anchor="t">
            <a:spAutoFit/>
          </a:bodyPr>
          <a:lstStyle/>
          <a:p>
            <a:pPr algn="l">
              <a:lnSpc>
                <a:spcPct val="108000"/>
              </a:lnSpc>
            </a:pPr>
            <a:r>
              <a:rPr sz="1100" b="0" i="1">
                <a:solidFill>
                  <a:srgbClr val="A8A398"/>
                </a:solidFill>
                <a:latin typeface="Calibri"/>
              </a:rPr>
              <a:t>disease · confidence</a:t>
            </a:r>
          </a:p>
        </p:txBody>
      </p:sp>
      <p:sp>
        <p:nvSpPr>
          <p:cNvPr id="13" name="TextBox 12"/>
          <p:cNvSpPr txBox="1"/>
          <p:nvPr/>
        </p:nvSpPr>
        <p:spPr>
          <a:xfrm>
            <a:off x="5029200" y="4572000"/>
            <a:ext cx="2194560" cy="457200"/>
          </a:xfrm>
          <a:prstGeom prst="rect">
            <a:avLst/>
          </a:prstGeom>
          <a:noFill/>
        </p:spPr>
        <p:txBody>
          <a:bodyPr wrap="square" lIns="64008" tIns="27432" rIns="64008" bIns="27432" anchor="t">
            <a:spAutoFit/>
          </a:bodyPr>
          <a:lstStyle/>
          <a:p>
            <a:pPr algn="l">
              <a:lnSpc>
                <a:spcPct val="108000"/>
              </a:lnSpc>
            </a:pPr>
            <a:r>
              <a:rPr sz="1100" b="0" i="1">
                <a:solidFill>
                  <a:srgbClr val="A8A398"/>
                </a:solidFill>
                <a:latin typeface="Calibri"/>
              </a:rPr>
              <a:t>soil type · moisture · texture</a:t>
            </a:r>
          </a:p>
        </p:txBody>
      </p:sp>
      <p:cxnSp>
        <p:nvCxnSpPr>
          <p:cNvPr id="14" name="Connector 13"/>
          <p:cNvCxnSpPr/>
          <p:nvPr/>
        </p:nvCxnSpPr>
        <p:spPr>
          <a:xfrm flipV="1">
            <a:off x="5623560" y="2057400"/>
            <a:ext cx="2606040" cy="868680"/>
          </a:xfrm>
          <a:prstGeom prst="line">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989320" y="1920240"/>
            <a:ext cx="2103120" cy="457200"/>
          </a:xfrm>
          <a:prstGeom prst="rect">
            <a:avLst/>
          </a:prstGeom>
          <a:noFill/>
        </p:spPr>
        <p:txBody>
          <a:bodyPr wrap="square" lIns="64008" tIns="27432" rIns="64008" bIns="27432" anchor="t">
            <a:spAutoFit/>
          </a:bodyPr>
          <a:lstStyle/>
          <a:p>
            <a:pPr algn="ctr">
              <a:lnSpc>
                <a:spcPct val="108000"/>
              </a:lnSpc>
            </a:pPr>
            <a:r>
              <a:rPr sz="1100" b="0" i="1">
                <a:solidFill>
                  <a:srgbClr val="A8A398"/>
                </a:solidFill>
                <a:latin typeface="Calibri"/>
              </a:rPr>
              <a:t>symptom question</a:t>
            </a:r>
          </a:p>
        </p:txBody>
      </p:sp>
      <p:cxnSp>
        <p:nvCxnSpPr>
          <p:cNvPr id="16" name="Connector 15"/>
          <p:cNvCxnSpPr/>
          <p:nvPr/>
        </p:nvCxnSpPr>
        <p:spPr>
          <a:xfrm>
            <a:off x="9966960" y="2286000"/>
            <a:ext cx="0" cy="502920"/>
          </a:xfrm>
          <a:prstGeom prst="line">
            <a:avLst/>
          </a:prstGeom>
          <a:ln w="19050">
            <a:solidFill>
              <a:srgbClr val="D2CDC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0058400" y="2395728"/>
            <a:ext cx="1828800" cy="457200"/>
          </a:xfrm>
          <a:prstGeom prst="rect">
            <a:avLst/>
          </a:prstGeom>
          <a:noFill/>
        </p:spPr>
        <p:txBody>
          <a:bodyPr wrap="square" lIns="64008" tIns="27432" rIns="64008" bIns="27432" anchor="t">
            <a:spAutoFit/>
          </a:bodyPr>
          <a:lstStyle/>
          <a:p>
            <a:pPr algn="l">
              <a:lnSpc>
                <a:spcPct val="108000"/>
              </a:lnSpc>
            </a:pPr>
            <a:r>
              <a:rPr sz="1100" b="0" i="1">
                <a:solidFill>
                  <a:srgbClr val="A8A398"/>
                </a:solidFill>
                <a:latin typeface="Calibri"/>
              </a:rPr>
              <a:t>5 best passages</a:t>
            </a:r>
          </a:p>
        </p:txBody>
      </p:sp>
      <p:cxnSp>
        <p:nvCxnSpPr>
          <p:cNvPr id="18" name="Connector 17"/>
          <p:cNvCxnSpPr/>
          <p:nvPr/>
        </p:nvCxnSpPr>
        <p:spPr>
          <a:xfrm>
            <a:off x="9966960" y="4160520"/>
            <a:ext cx="0" cy="640080"/>
          </a:xfrm>
          <a:prstGeom prst="line">
            <a:avLst/>
          </a:prstGeom>
          <a:ln w="38100">
            <a:solidFill>
              <a:srgbClr val="C889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058400" y="4270248"/>
            <a:ext cx="2194560" cy="457200"/>
          </a:xfrm>
          <a:prstGeom prst="rect">
            <a:avLst/>
          </a:prstGeom>
          <a:noFill/>
        </p:spPr>
        <p:txBody>
          <a:bodyPr wrap="square" lIns="64008" tIns="27432" rIns="64008" bIns="27432" anchor="t">
            <a:spAutoFit/>
          </a:bodyPr>
          <a:lstStyle/>
          <a:p>
            <a:pPr algn="l">
              <a:lnSpc>
                <a:spcPct val="108000"/>
              </a:lnSpc>
            </a:pPr>
            <a:r>
              <a:rPr sz="1100" b="1" i="1">
                <a:solidFill>
                  <a:srgbClr val="C8891E"/>
                </a:solidFill>
                <a:latin typeface="Calibri"/>
              </a:rPr>
              <a:t>cited advice · or honest refusal</a:t>
            </a:r>
          </a:p>
        </p:txBody>
      </p:sp>
      <p:cxnSp>
        <p:nvCxnSpPr>
          <p:cNvPr id="20" name="Connector 19"/>
          <p:cNvCxnSpPr/>
          <p:nvPr/>
        </p:nvCxnSpPr>
        <p:spPr>
          <a:xfrm flipH="1" flipV="1">
            <a:off x="1371600" y="4526280"/>
            <a:ext cx="6858000" cy="1143000"/>
          </a:xfrm>
          <a:prstGeom prst="bentConnector3">
            <a:avLst/>
          </a:prstGeom>
          <a:ln w="38100">
            <a:solidFill>
              <a:srgbClr val="C889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57200" y="6053328"/>
            <a:ext cx="2926080" cy="457200"/>
          </a:xfrm>
          <a:prstGeom prst="rect">
            <a:avLst/>
          </a:prstGeom>
          <a:noFill/>
        </p:spPr>
        <p:txBody>
          <a:bodyPr wrap="square" lIns="64008" tIns="27432" rIns="64008" bIns="27432" anchor="t">
            <a:spAutoFit/>
          </a:bodyPr>
          <a:lstStyle/>
          <a:p>
            <a:pPr algn="l">
              <a:lnSpc>
                <a:spcPct val="108000"/>
              </a:lnSpc>
            </a:pPr>
            <a:r>
              <a:rPr sz="1100" b="1" i="1">
                <a:solidFill>
                  <a:srgbClr val="C8891E"/>
                </a:solidFill>
                <a:latin typeface="Calibri"/>
              </a:rPr>
              <a:t>advice + verse + heat-map + passages</a:t>
            </a:r>
          </a:p>
        </p:txBody>
      </p:sp>
      <p:sp>
        <p:nvSpPr>
          <p:cNvPr id="22" name="Rounded Rectangle 21"/>
          <p:cNvSpPr/>
          <p:nvPr/>
        </p:nvSpPr>
        <p:spPr>
          <a:xfrm>
            <a:off x="457200" y="2606040"/>
            <a:ext cx="1828800" cy="1920240"/>
          </a:xfrm>
          <a:prstGeom prst="roundRect">
            <a:avLst/>
          </a:prstGeom>
          <a:solidFill>
            <a:srgbClr val="FFFCF5"/>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94360" y="2606040"/>
            <a:ext cx="1554480" cy="73152"/>
          </a:xfrm>
          <a:prstGeom prst="rect">
            <a:avLst/>
          </a:prstGeom>
          <a:solidFill>
            <a:srgbClr val="C88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2920" y="2715768"/>
            <a:ext cx="1737360" cy="384048"/>
          </a:xfrm>
          <a:prstGeom prst="rect">
            <a:avLst/>
          </a:prstGeom>
          <a:noFill/>
        </p:spPr>
        <p:txBody>
          <a:bodyPr wrap="square" lIns="64008" tIns="27432" rIns="64008" bIns="27432" anchor="t">
            <a:spAutoFit/>
          </a:bodyPr>
          <a:lstStyle/>
          <a:p>
            <a:pPr algn="ctr">
              <a:lnSpc>
                <a:spcPct val="108000"/>
              </a:lnSpc>
            </a:pPr>
            <a:r>
              <a:rPr sz="1500" b="1" i="0">
                <a:solidFill>
                  <a:srgbClr val="1F4D2E"/>
                </a:solidFill>
                <a:latin typeface="Calibri"/>
              </a:rPr>
              <a:t>FARMER</a:t>
            </a:r>
          </a:p>
        </p:txBody>
      </p:sp>
      <p:sp>
        <p:nvSpPr>
          <p:cNvPr id="25" name="TextBox 24"/>
          <p:cNvSpPr txBox="1"/>
          <p:nvPr/>
        </p:nvSpPr>
        <p:spPr>
          <a:xfrm>
            <a:off x="530352" y="3063240"/>
            <a:ext cx="1682496" cy="1417320"/>
          </a:xfrm>
          <a:prstGeom prst="rect">
            <a:avLst/>
          </a:prstGeom>
          <a:noFill/>
        </p:spPr>
        <p:txBody>
          <a:bodyPr wrap="square" lIns="64008" tIns="27432" rIns="64008" bIns="27432" anchor="t">
            <a:spAutoFit/>
          </a:bodyPr>
          <a:lstStyle/>
          <a:p>
            <a:pPr algn="ctr">
              <a:lnSpc>
                <a:spcPct val="110000"/>
              </a:lnSpc>
            </a:pPr>
            <a:r>
              <a:rPr sz="1200" b="0" i="0">
                <a:solidFill>
                  <a:srgbClr val="222222"/>
                </a:solidFill>
                <a:latin typeface="Calibri"/>
              </a:rPr>
              <a:t>leaf photo</a:t>
            </a:r>
          </a:p>
          <a:p>
            <a:pPr algn="ctr">
              <a:lnSpc>
                <a:spcPct val="110000"/>
              </a:lnSpc>
            </a:pPr>
            <a:r>
              <a:rPr sz="1200" b="0" i="0">
                <a:solidFill>
                  <a:srgbClr val="222222"/>
                </a:solidFill>
                <a:latin typeface="Calibri"/>
              </a:rPr>
              <a:t>soil photo</a:t>
            </a:r>
          </a:p>
          <a:p>
            <a:pPr algn="ctr">
              <a:lnSpc>
                <a:spcPct val="110000"/>
              </a:lnSpc>
            </a:pPr>
            <a:r>
              <a:rPr sz="1200" b="0" i="0">
                <a:solidFill>
                  <a:srgbClr val="222222"/>
                </a:solidFill>
                <a:latin typeface="Calibri"/>
              </a:rPr>
              <a:t>crop · suspected cause</a:t>
            </a:r>
          </a:p>
        </p:txBody>
      </p:sp>
      <p:pic>
        <p:nvPicPr>
          <p:cNvPr id="26" name="Picture 25" descr="_sq_leaf_apple_scab.jpg"/>
          <p:cNvPicPr>
            <a:picLocks noChangeAspect="1"/>
          </p:cNvPicPr>
          <p:nvPr/>
        </p:nvPicPr>
        <p:blipFill>
          <a:blip r:embed="rId3"/>
          <a:stretch>
            <a:fillRect/>
          </a:stretch>
        </p:blipFill>
        <p:spPr>
          <a:xfrm>
            <a:off x="777240" y="3794760"/>
            <a:ext cx="548640" cy="548640"/>
          </a:xfrm>
          <a:prstGeom prst="rect">
            <a:avLst/>
          </a:prstGeom>
        </p:spPr>
      </p:pic>
      <p:pic>
        <p:nvPicPr>
          <p:cNvPr id="27" name="Picture 26" descr="_sq_soil_alluvial.jpg"/>
          <p:cNvPicPr>
            <a:picLocks noChangeAspect="1"/>
          </p:cNvPicPr>
          <p:nvPr/>
        </p:nvPicPr>
        <p:blipFill>
          <a:blip r:embed="rId4"/>
          <a:stretch>
            <a:fillRect/>
          </a:stretch>
        </p:blipFill>
        <p:spPr>
          <a:xfrm>
            <a:off x="1417320" y="3794760"/>
            <a:ext cx="548640" cy="548640"/>
          </a:xfrm>
          <a:prstGeom prst="rect">
            <a:avLst/>
          </a:prstGeom>
        </p:spPr>
      </p:pic>
      <p:sp>
        <p:nvSpPr>
          <p:cNvPr id="28" name="Oval 27"/>
          <p:cNvSpPr/>
          <p:nvPr/>
        </p:nvSpPr>
        <p:spPr>
          <a:xfrm>
            <a:off x="3657600" y="2423160"/>
            <a:ext cx="2103120" cy="2103120"/>
          </a:xfrm>
          <a:prstGeom prst="ellipse">
            <a:avLst/>
          </a:prstGeom>
          <a:solidFill>
            <a:srgbClr val="FFFCF5"/>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703320" y="2743200"/>
            <a:ext cx="2011680" cy="384048"/>
          </a:xfrm>
          <a:prstGeom prst="rect">
            <a:avLst/>
          </a:prstGeom>
          <a:noFill/>
        </p:spPr>
        <p:txBody>
          <a:bodyPr wrap="square" lIns="64008" tIns="27432" rIns="64008" bIns="27432" anchor="t">
            <a:spAutoFit/>
          </a:bodyPr>
          <a:lstStyle/>
          <a:p>
            <a:pPr algn="ctr">
              <a:lnSpc>
                <a:spcPct val="108000"/>
              </a:lnSpc>
            </a:pPr>
            <a:r>
              <a:rPr sz="1500" b="1" i="0">
                <a:solidFill>
                  <a:srgbClr val="1F4D2E"/>
                </a:solidFill>
                <a:latin typeface="Calibri"/>
              </a:rPr>
              <a:t>THE COMBINER</a:t>
            </a:r>
          </a:p>
        </p:txBody>
      </p:sp>
      <p:sp>
        <p:nvSpPr>
          <p:cNvPr id="30" name="TextBox 29"/>
          <p:cNvSpPr txBox="1"/>
          <p:nvPr/>
        </p:nvSpPr>
        <p:spPr>
          <a:xfrm>
            <a:off x="3730752" y="3154680"/>
            <a:ext cx="1956816" cy="1600200"/>
          </a:xfrm>
          <a:prstGeom prst="rect">
            <a:avLst/>
          </a:prstGeom>
          <a:noFill/>
        </p:spPr>
        <p:txBody>
          <a:bodyPr wrap="square" lIns="64008" tIns="27432" rIns="64008" bIns="27432" anchor="t">
            <a:spAutoFit/>
          </a:bodyPr>
          <a:lstStyle/>
          <a:p>
            <a:pPr algn="ctr">
              <a:lnSpc>
                <a:spcPct val="110000"/>
              </a:lnSpc>
            </a:pPr>
            <a:r>
              <a:rPr sz="1100" b="0" i="0">
                <a:solidFill>
                  <a:srgbClr val="222222"/>
                </a:solidFill>
                <a:latin typeface="Calibri"/>
              </a:rPr>
              <a:t>the hub: routes the photos,</a:t>
            </a:r>
          </a:p>
          <a:p>
            <a:pPr algn="ctr">
              <a:lnSpc>
                <a:spcPct val="110000"/>
              </a:lnSpc>
            </a:pPr>
            <a:r>
              <a:rPr sz="1100" b="0" i="0">
                <a:solidFill>
                  <a:srgbClr val="222222"/>
                </a:solidFill>
                <a:latin typeface="Calibri"/>
              </a:rPr>
              <a:t>writes the question,</a:t>
            </a:r>
          </a:p>
          <a:p>
            <a:pPr algn="ctr">
              <a:lnSpc>
                <a:spcPct val="110000"/>
              </a:lnSpc>
            </a:pPr>
            <a:r>
              <a:rPr sz="1100" b="0" i="0">
                <a:solidFill>
                  <a:srgbClr val="222222"/>
                </a:solidFill>
                <a:latin typeface="Calibri"/>
              </a:rPr>
              <a:t>delivers the answer</a:t>
            </a:r>
          </a:p>
        </p:txBody>
      </p:sp>
      <p:sp>
        <p:nvSpPr>
          <p:cNvPr id="31" name="Rounded Rectangle 30"/>
          <p:cNvSpPr/>
          <p:nvPr/>
        </p:nvSpPr>
        <p:spPr>
          <a:xfrm>
            <a:off x="3246120" y="1143000"/>
            <a:ext cx="2926080" cy="1005840"/>
          </a:xfrm>
          <a:prstGeom prst="roundRect">
            <a:avLst/>
          </a:prstGeom>
          <a:solidFill>
            <a:srgbClr val="EBE8E0"/>
          </a:solidFill>
          <a:ln w="15875">
            <a:solidFill>
              <a:srgbClr val="D2C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383280" y="1143000"/>
            <a:ext cx="2651760" cy="73152"/>
          </a:xfrm>
          <a:prstGeom prst="rect">
            <a:avLst/>
          </a:prstGeom>
          <a:solidFill>
            <a:srgbClr val="D2C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291840" y="1252728"/>
            <a:ext cx="2834640" cy="384048"/>
          </a:xfrm>
          <a:prstGeom prst="rect">
            <a:avLst/>
          </a:prstGeom>
          <a:noFill/>
        </p:spPr>
        <p:txBody>
          <a:bodyPr wrap="square" lIns="64008" tIns="27432" rIns="64008" bIns="27432" anchor="t">
            <a:spAutoFit/>
          </a:bodyPr>
          <a:lstStyle/>
          <a:p>
            <a:pPr algn="ctr">
              <a:lnSpc>
                <a:spcPct val="108000"/>
              </a:lnSpc>
            </a:pPr>
            <a:r>
              <a:rPr sz="1400" b="1" i="0">
                <a:solidFill>
                  <a:srgbClr val="A8A398"/>
                </a:solidFill>
                <a:latin typeface="Calibri"/>
              </a:rPr>
              <a:t>MODEL 1 · Plant disease</a:t>
            </a:r>
          </a:p>
        </p:txBody>
      </p:sp>
      <p:sp>
        <p:nvSpPr>
          <p:cNvPr id="34" name="TextBox 33"/>
          <p:cNvSpPr txBox="1"/>
          <p:nvPr/>
        </p:nvSpPr>
        <p:spPr>
          <a:xfrm>
            <a:off x="3319272" y="1600200"/>
            <a:ext cx="2779776" cy="502920"/>
          </a:xfrm>
          <a:prstGeom prst="rect">
            <a:avLst/>
          </a:prstGeom>
          <a:noFill/>
        </p:spPr>
        <p:txBody>
          <a:bodyPr wrap="square" lIns="64008" tIns="27432" rIns="64008" bIns="27432" anchor="t">
            <a:spAutoFit/>
          </a:bodyPr>
          <a:lstStyle/>
          <a:p>
            <a:pPr algn="ctr">
              <a:lnSpc>
                <a:spcPct val="110000"/>
              </a:lnSpc>
            </a:pPr>
            <a:r>
              <a:rPr sz="1100" b="0" i="0">
                <a:solidFill>
                  <a:srgbClr val="A8A398"/>
                </a:solidFill>
                <a:latin typeface="Calibri"/>
              </a:rPr>
              <a:t>leaf photo → disease name, healthy/diseased, confidence, heat-map</a:t>
            </a:r>
          </a:p>
        </p:txBody>
      </p:sp>
      <p:sp>
        <p:nvSpPr>
          <p:cNvPr id="35" name="Rounded Rectangle 34"/>
          <p:cNvSpPr/>
          <p:nvPr/>
        </p:nvSpPr>
        <p:spPr>
          <a:xfrm>
            <a:off x="3246120" y="4983480"/>
            <a:ext cx="2926080" cy="1051560"/>
          </a:xfrm>
          <a:prstGeom prst="roundRect">
            <a:avLst/>
          </a:prstGeom>
          <a:solidFill>
            <a:srgbClr val="EBE8E0"/>
          </a:solidFill>
          <a:ln w="15875">
            <a:solidFill>
              <a:srgbClr val="D2C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383280" y="4983480"/>
            <a:ext cx="2651760" cy="73152"/>
          </a:xfrm>
          <a:prstGeom prst="rect">
            <a:avLst/>
          </a:prstGeom>
          <a:solidFill>
            <a:srgbClr val="D2C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291840" y="5093208"/>
            <a:ext cx="2834640" cy="384048"/>
          </a:xfrm>
          <a:prstGeom prst="rect">
            <a:avLst/>
          </a:prstGeom>
          <a:noFill/>
        </p:spPr>
        <p:txBody>
          <a:bodyPr wrap="square" lIns="64008" tIns="27432" rIns="64008" bIns="27432" anchor="t">
            <a:spAutoFit/>
          </a:bodyPr>
          <a:lstStyle/>
          <a:p>
            <a:pPr algn="ctr">
              <a:lnSpc>
                <a:spcPct val="108000"/>
              </a:lnSpc>
            </a:pPr>
            <a:r>
              <a:rPr sz="1400" b="1" i="0">
                <a:solidFill>
                  <a:srgbClr val="A8A398"/>
                </a:solidFill>
                <a:latin typeface="Calibri"/>
              </a:rPr>
              <a:t>MODEL 2 · Soil</a:t>
            </a:r>
          </a:p>
        </p:txBody>
      </p:sp>
      <p:sp>
        <p:nvSpPr>
          <p:cNvPr id="38" name="TextBox 37"/>
          <p:cNvSpPr txBox="1"/>
          <p:nvPr/>
        </p:nvSpPr>
        <p:spPr>
          <a:xfrm>
            <a:off x="3319272" y="5440680"/>
            <a:ext cx="2779776" cy="548640"/>
          </a:xfrm>
          <a:prstGeom prst="rect">
            <a:avLst/>
          </a:prstGeom>
          <a:noFill/>
        </p:spPr>
        <p:txBody>
          <a:bodyPr wrap="square" lIns="64008" tIns="27432" rIns="64008" bIns="27432" anchor="t">
            <a:spAutoFit/>
          </a:bodyPr>
          <a:lstStyle/>
          <a:p>
            <a:pPr algn="ctr">
              <a:lnSpc>
                <a:spcPct val="110000"/>
              </a:lnSpc>
            </a:pPr>
            <a:r>
              <a:rPr sz="1100" b="0" i="0">
                <a:solidFill>
                  <a:srgbClr val="A8A398"/>
                </a:solidFill>
                <a:latin typeface="Calibri"/>
              </a:rPr>
              <a:t>soil photo → soil type, moisture, texture (visual only)</a:t>
            </a:r>
          </a:p>
        </p:txBody>
      </p:sp>
      <p:sp>
        <p:nvSpPr>
          <p:cNvPr id="39" name="Rounded Rectangle 38"/>
          <p:cNvSpPr/>
          <p:nvPr/>
        </p:nvSpPr>
        <p:spPr>
          <a:xfrm>
            <a:off x="8229600" y="1143000"/>
            <a:ext cx="3474720" cy="1143000"/>
          </a:xfrm>
          <a:prstGeom prst="roundRect">
            <a:avLst/>
          </a:prstGeom>
          <a:solidFill>
            <a:srgbClr val="EBE8E0"/>
          </a:solidFill>
          <a:ln w="15875">
            <a:solidFill>
              <a:srgbClr val="D2C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366760" y="1143000"/>
            <a:ext cx="3200400" cy="73152"/>
          </a:xfrm>
          <a:prstGeom prst="rect">
            <a:avLst/>
          </a:prstGeom>
          <a:solidFill>
            <a:srgbClr val="D2C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75320" y="1252728"/>
            <a:ext cx="3383280" cy="384048"/>
          </a:xfrm>
          <a:prstGeom prst="rect">
            <a:avLst/>
          </a:prstGeom>
          <a:noFill/>
        </p:spPr>
        <p:txBody>
          <a:bodyPr wrap="square" lIns="64008" tIns="27432" rIns="64008" bIns="27432" anchor="t">
            <a:spAutoFit/>
          </a:bodyPr>
          <a:lstStyle/>
          <a:p>
            <a:pPr algn="ctr">
              <a:lnSpc>
                <a:spcPct val="108000"/>
              </a:lnSpc>
            </a:pPr>
            <a:r>
              <a:rPr sz="1400" b="1" i="0">
                <a:solidFill>
                  <a:srgbClr val="A8A398"/>
                </a:solidFill>
                <a:latin typeface="Calibri"/>
              </a:rPr>
              <a:t>KNOWLEDGE BASE</a:t>
            </a:r>
          </a:p>
        </p:txBody>
      </p:sp>
      <p:sp>
        <p:nvSpPr>
          <p:cNvPr id="42" name="TextBox 41"/>
          <p:cNvSpPr txBox="1"/>
          <p:nvPr/>
        </p:nvSpPr>
        <p:spPr>
          <a:xfrm>
            <a:off x="8302752" y="1600200"/>
            <a:ext cx="3328416" cy="640080"/>
          </a:xfrm>
          <a:prstGeom prst="rect">
            <a:avLst/>
          </a:prstGeom>
          <a:noFill/>
        </p:spPr>
        <p:txBody>
          <a:bodyPr wrap="square" lIns="64008" tIns="27432" rIns="64008" bIns="27432" anchor="t">
            <a:spAutoFit/>
          </a:bodyPr>
          <a:lstStyle/>
          <a:p>
            <a:pPr algn="ctr">
              <a:lnSpc>
                <a:spcPct val="110000"/>
              </a:lnSpc>
            </a:pPr>
            <a:r>
              <a:rPr sz="1100" b="0" i="0">
                <a:solidFill>
                  <a:srgbClr val="A8A398"/>
                </a:solidFill>
                <a:latin typeface="Calibri"/>
              </a:rPr>
              <a:t>six classical texts → 327 numbered passages</a:t>
            </a:r>
          </a:p>
          <a:p>
            <a:pPr algn="ctr">
              <a:lnSpc>
                <a:spcPct val="110000"/>
              </a:lnSpc>
            </a:pPr>
            <a:r>
              <a:rPr sz="1100" b="0" i="0">
                <a:solidFill>
                  <a:srgbClr val="A8A398"/>
                </a:solidFill>
                <a:latin typeface="Calibri"/>
              </a:rPr>
              <a:t>search by meaning + by keyword</a:t>
            </a:r>
          </a:p>
        </p:txBody>
      </p:sp>
      <p:sp>
        <p:nvSpPr>
          <p:cNvPr id="43" name="Rounded Rectangle 42"/>
          <p:cNvSpPr/>
          <p:nvPr/>
        </p:nvSpPr>
        <p:spPr>
          <a:xfrm>
            <a:off x="8229600" y="2788920"/>
            <a:ext cx="3474720" cy="1371600"/>
          </a:xfrm>
          <a:prstGeom prst="roundRect">
            <a:avLst/>
          </a:prstGeom>
          <a:solidFill>
            <a:srgbClr val="FFFCF5"/>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8366760" y="2788920"/>
            <a:ext cx="3200400" cy="73152"/>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275320" y="2898648"/>
            <a:ext cx="3383280" cy="384048"/>
          </a:xfrm>
          <a:prstGeom prst="rect">
            <a:avLst/>
          </a:prstGeom>
          <a:noFill/>
        </p:spPr>
        <p:txBody>
          <a:bodyPr wrap="square" lIns="64008" tIns="27432" rIns="64008" bIns="27432" anchor="t">
            <a:spAutoFit/>
          </a:bodyPr>
          <a:lstStyle/>
          <a:p>
            <a:pPr algn="ctr">
              <a:lnSpc>
                <a:spcPct val="108000"/>
              </a:lnSpc>
            </a:pPr>
            <a:r>
              <a:rPr sz="1400" b="1" i="0">
                <a:solidFill>
                  <a:srgbClr val="1F4D2E"/>
                </a:solidFill>
                <a:latin typeface="Calibri"/>
              </a:rPr>
              <a:t>ANSWER WRITER</a:t>
            </a:r>
          </a:p>
        </p:txBody>
      </p:sp>
      <p:sp>
        <p:nvSpPr>
          <p:cNvPr id="46" name="TextBox 45"/>
          <p:cNvSpPr txBox="1"/>
          <p:nvPr/>
        </p:nvSpPr>
        <p:spPr>
          <a:xfrm>
            <a:off x="8302752" y="3246120"/>
            <a:ext cx="3328416" cy="868680"/>
          </a:xfrm>
          <a:prstGeom prst="rect">
            <a:avLst/>
          </a:prstGeom>
          <a:noFill/>
        </p:spPr>
        <p:txBody>
          <a:bodyPr wrap="square" lIns="64008" tIns="27432" rIns="64008" bIns="27432" anchor="t">
            <a:spAutoFit/>
          </a:bodyPr>
          <a:lstStyle/>
          <a:p>
            <a:pPr algn="ctr">
              <a:lnSpc>
                <a:spcPct val="110000"/>
              </a:lnSpc>
            </a:pPr>
            <a:r>
              <a:rPr sz="1100" b="0" i="0">
                <a:solidFill>
                  <a:srgbClr val="222222"/>
                </a:solidFill>
                <a:latin typeface="Calibri"/>
              </a:rPr>
              <a:t>language model — may use ONLY the passages found;</a:t>
            </a:r>
          </a:p>
          <a:p>
            <a:pPr algn="ctr">
              <a:lnSpc>
                <a:spcPct val="110000"/>
              </a:lnSpc>
            </a:pPr>
            <a:r>
              <a:rPr sz="1100" b="0" i="0">
                <a:solidFill>
                  <a:srgbClr val="222222"/>
                </a:solidFill>
                <a:latin typeface="Calibri"/>
              </a:rPr>
              <a:t>every line cites the verse; refuses if nothing fits</a:t>
            </a:r>
          </a:p>
        </p:txBody>
      </p:sp>
      <p:sp>
        <p:nvSpPr>
          <p:cNvPr id="47" name="Rounded Rectangle 46"/>
          <p:cNvSpPr/>
          <p:nvPr/>
        </p:nvSpPr>
        <p:spPr>
          <a:xfrm>
            <a:off x="8229600" y="4800600"/>
            <a:ext cx="3474720" cy="1051560"/>
          </a:xfrm>
          <a:prstGeom prst="roundRect">
            <a:avLst/>
          </a:prstGeom>
          <a:solidFill>
            <a:srgbClr val="FFFCF5"/>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8366760" y="4800600"/>
            <a:ext cx="3200400" cy="73152"/>
          </a:xfrm>
          <a:prstGeom prst="rect">
            <a:avLst/>
          </a:prstGeom>
          <a:solidFill>
            <a:srgbClr val="5A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275320" y="4910328"/>
            <a:ext cx="3383280" cy="384048"/>
          </a:xfrm>
          <a:prstGeom prst="rect">
            <a:avLst/>
          </a:prstGeom>
          <a:noFill/>
        </p:spPr>
        <p:txBody>
          <a:bodyPr wrap="square" lIns="64008" tIns="27432" rIns="64008" bIns="27432" anchor="t">
            <a:spAutoFit/>
          </a:bodyPr>
          <a:lstStyle/>
          <a:p>
            <a:pPr algn="ctr">
              <a:lnSpc>
                <a:spcPct val="108000"/>
              </a:lnSpc>
            </a:pPr>
            <a:r>
              <a:rPr sz="1400" b="1" i="0">
                <a:solidFill>
                  <a:srgbClr val="1F4D2E"/>
                </a:solidFill>
                <a:latin typeface="Calibri"/>
              </a:rPr>
              <a:t>EXPLAIN &amp; DELIVER</a:t>
            </a:r>
          </a:p>
        </p:txBody>
      </p:sp>
      <p:sp>
        <p:nvSpPr>
          <p:cNvPr id="50" name="TextBox 49"/>
          <p:cNvSpPr txBox="1"/>
          <p:nvPr/>
        </p:nvSpPr>
        <p:spPr>
          <a:xfrm>
            <a:off x="8302752" y="5257800"/>
            <a:ext cx="3328416" cy="548640"/>
          </a:xfrm>
          <a:prstGeom prst="rect">
            <a:avLst/>
          </a:prstGeom>
          <a:noFill/>
        </p:spPr>
        <p:txBody>
          <a:bodyPr wrap="square" lIns="64008" tIns="27432" rIns="64008" bIns="27432" anchor="t">
            <a:spAutoFit/>
          </a:bodyPr>
          <a:lstStyle/>
          <a:p>
            <a:pPr algn="ctr">
              <a:lnSpc>
                <a:spcPct val="110000"/>
              </a:lnSpc>
            </a:pPr>
            <a:r>
              <a:rPr sz="1100" b="0" i="0">
                <a:solidFill>
                  <a:srgbClr val="222222"/>
                </a:solidFill>
                <a:latin typeface="Calibri"/>
              </a:rPr>
              <a:t>heat-map of the leaf region used</a:t>
            </a:r>
          </a:p>
          <a:p>
            <a:pPr algn="ctr">
              <a:lnSpc>
                <a:spcPct val="110000"/>
              </a:lnSpc>
            </a:pPr>
            <a:r>
              <a:rPr sz="1100" b="0" i="0">
                <a:solidFill>
                  <a:srgbClr val="222222"/>
                </a:solidFill>
                <a:latin typeface="Calibri"/>
              </a:rPr>
              <a:t>+ the passages, so anyone can verify</a:t>
            </a:r>
          </a:p>
        </p:txBody>
      </p:sp>
      <p:sp>
        <p:nvSpPr>
          <p:cNvPr id="51" name="Rounded Rectangle 50"/>
          <p:cNvSpPr/>
          <p:nvPr/>
        </p:nvSpPr>
        <p:spPr>
          <a:xfrm>
            <a:off x="5897880" y="3246120"/>
            <a:ext cx="2240280" cy="566928"/>
          </a:xfrm>
          <a:prstGeom prst="roundRect">
            <a:avLst/>
          </a:prstGeom>
          <a:solidFill>
            <a:srgbClr val="FBEFD9"/>
          </a:solidFill>
          <a:ln w="19050">
            <a:solidFill>
              <a:srgbClr val="C889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943600" y="3246120"/>
            <a:ext cx="2148840" cy="566928"/>
          </a:xfrm>
          <a:prstGeom prst="rect">
            <a:avLst/>
          </a:prstGeom>
          <a:noFill/>
        </p:spPr>
        <p:txBody>
          <a:bodyPr wrap="square" lIns="64008" tIns="27432" rIns="64008" bIns="27432" anchor="ctr">
            <a:spAutoFit/>
          </a:bodyPr>
          <a:lstStyle/>
          <a:p>
            <a:pPr algn="ctr">
              <a:lnSpc>
                <a:spcPct val="108000"/>
              </a:lnSpc>
            </a:pPr>
            <a:r>
              <a:rPr sz="1000" b="1" i="0">
                <a:solidFill>
                  <a:srgbClr val="222222"/>
                </a:solidFill>
                <a:latin typeface="Calibri"/>
              </a:rPr>
              <a:t>“water with cold water for seven days…” [Vrikshayurveda v.193]</a:t>
            </a:r>
          </a:p>
        </p:txBody>
      </p:sp>
      <p:sp>
        <p:nvSpPr>
          <p:cNvPr id="53" name="Rectangle 52"/>
          <p:cNvSpPr/>
          <p:nvPr/>
        </p:nvSpPr>
        <p:spPr>
          <a:xfrm>
            <a:off x="3566160" y="6382512"/>
            <a:ext cx="109728" cy="256032"/>
          </a:xfrm>
          <a:prstGeom prst="rect">
            <a:avLst/>
          </a:prstGeom>
          <a:solidFill>
            <a:srgbClr val="C88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3749039" y="6336792"/>
            <a:ext cx="7955279" cy="365760"/>
          </a:xfrm>
          <a:prstGeom prst="rect">
            <a:avLst/>
          </a:prstGeom>
          <a:noFill/>
        </p:spPr>
        <p:txBody>
          <a:bodyPr wrap="square" lIns="64008" tIns="27432" rIns="64008" bIns="27432" anchor="t">
            <a:spAutoFit/>
          </a:bodyPr>
          <a:lstStyle/>
          <a:p>
            <a:pPr algn="l">
              <a:lnSpc>
                <a:spcPct val="108000"/>
              </a:lnSpc>
            </a:pPr>
            <a:r>
              <a:rPr sz="1300" b="1" i="0">
                <a:solidFill>
                  <a:srgbClr val="1F4D2E"/>
                </a:solidFill>
                <a:latin typeface="Calibri"/>
              </a:rPr>
              <a:t>Step 5 of 5 - advice is written only from those passages, cited, and returned with the heat-map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F4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56032"/>
            <a:ext cx="8229600" cy="320040"/>
          </a:xfrm>
          <a:prstGeom prst="rect">
            <a:avLst/>
          </a:prstGeom>
          <a:noFill/>
        </p:spPr>
        <p:txBody>
          <a:bodyPr wrap="square" lIns="64008" tIns="27432" rIns="64008" bIns="27432" anchor="t">
            <a:spAutoFit/>
          </a:bodyPr>
          <a:lstStyle/>
          <a:p>
            <a:pPr algn="l">
              <a:lnSpc>
                <a:spcPct val="108000"/>
              </a:lnSpc>
            </a:pPr>
            <a:r>
              <a:rPr sz="1200" b="1" i="0">
                <a:solidFill>
                  <a:srgbClr val="C8891E"/>
                </a:solidFill>
                <a:latin typeface="Calibri"/>
              </a:rPr>
              <a:t>WHY THE COMBINER IS THE KEY IDEA</a:t>
            </a:r>
          </a:p>
        </p:txBody>
      </p:sp>
      <p:sp>
        <p:nvSpPr>
          <p:cNvPr id="5" name="TextBox 4"/>
          <p:cNvSpPr txBox="1"/>
          <p:nvPr/>
        </p:nvSpPr>
        <p:spPr>
          <a:xfrm>
            <a:off x="457200" y="502920"/>
            <a:ext cx="11247120" cy="731520"/>
          </a:xfrm>
          <a:prstGeom prst="rect">
            <a:avLst/>
          </a:prstGeom>
          <a:noFill/>
        </p:spPr>
        <p:txBody>
          <a:bodyPr wrap="square" lIns="64008" tIns="27432" rIns="64008" bIns="27432" anchor="t">
            <a:spAutoFit/>
          </a:bodyPr>
          <a:lstStyle/>
          <a:p>
            <a:pPr algn="l">
              <a:lnSpc>
                <a:spcPct val="108000"/>
              </a:lnSpc>
            </a:pPr>
            <a:r>
              <a:rPr sz="3000" b="1" i="0">
                <a:solidFill>
                  <a:srgbClr val="1F4D2E"/>
                </a:solidFill>
                <a:latin typeface="Georgia"/>
              </a:rPr>
              <a:t>The contribution: search by symptom, not by name</a:t>
            </a:r>
          </a:p>
        </p:txBody>
      </p:sp>
      <p:sp>
        <p:nvSpPr>
          <p:cNvPr id="6" name="TextBox 5"/>
          <p:cNvSpPr txBox="1"/>
          <p:nvPr/>
        </p:nvSpPr>
        <p:spPr>
          <a:xfrm>
            <a:off x="457200" y="6473952"/>
            <a:ext cx="8229600" cy="274320"/>
          </a:xfrm>
          <a:prstGeom prst="rect">
            <a:avLst/>
          </a:prstGeom>
          <a:noFill/>
        </p:spPr>
        <p:txBody>
          <a:bodyPr wrap="square" lIns="64008" tIns="27432" rIns="64008" bIns="27432" anchor="t">
            <a:spAutoFit/>
          </a:bodyPr>
          <a:lstStyle/>
          <a:p>
            <a:pPr algn="l">
              <a:lnSpc>
                <a:spcPct val="108000"/>
              </a:lnSpc>
            </a:pPr>
            <a:r>
              <a:rPr sz="1000" b="0" i="0">
                <a:solidFill>
                  <a:srgbClr val="666666"/>
                </a:solidFill>
                <a:latin typeface="Calibri"/>
              </a:rPr>
              <a:t>Ankit Pawar · Dr. Akshay Pandey  |  PDPM IIITDM Jabalpur</a:t>
            </a:r>
          </a:p>
        </p:txBody>
      </p:sp>
      <p:sp>
        <p:nvSpPr>
          <p:cNvPr id="7" name="Rounded Rectangle 6"/>
          <p:cNvSpPr/>
          <p:nvPr/>
        </p:nvSpPr>
        <p:spPr>
          <a:xfrm>
            <a:off x="457200" y="1371600"/>
            <a:ext cx="5440680" cy="2880360"/>
          </a:xfrm>
          <a:prstGeom prst="roundRect">
            <a:avLst/>
          </a:prstGeom>
          <a:solidFill>
            <a:srgbClr val="FFFCF5"/>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94360" y="1371600"/>
            <a:ext cx="5166360" cy="73152"/>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508760"/>
            <a:ext cx="5074920" cy="365760"/>
          </a:xfrm>
          <a:prstGeom prst="rect">
            <a:avLst/>
          </a:prstGeom>
          <a:noFill/>
        </p:spPr>
        <p:txBody>
          <a:bodyPr wrap="square" lIns="64008" tIns="27432" rIns="64008" bIns="27432" anchor="t">
            <a:spAutoFit/>
          </a:bodyPr>
          <a:lstStyle/>
          <a:p>
            <a:pPr algn="l">
              <a:lnSpc>
                <a:spcPct val="108000"/>
              </a:lnSpc>
            </a:pPr>
            <a:r>
              <a:rPr sz="1200" b="1" i="0">
                <a:solidFill>
                  <a:srgbClr val="B03A2E"/>
                </a:solidFill>
                <a:latin typeface="Calibri"/>
              </a:rPr>
              <a:t>SEARCH WITH THE MODERN LABEL</a:t>
            </a:r>
          </a:p>
        </p:txBody>
      </p:sp>
      <p:sp>
        <p:nvSpPr>
          <p:cNvPr id="10" name="TextBox 9"/>
          <p:cNvSpPr txBox="1"/>
          <p:nvPr/>
        </p:nvSpPr>
        <p:spPr>
          <a:xfrm>
            <a:off x="640080" y="1874519"/>
            <a:ext cx="5074920" cy="548640"/>
          </a:xfrm>
          <a:prstGeom prst="rect">
            <a:avLst/>
          </a:prstGeom>
          <a:noFill/>
        </p:spPr>
        <p:txBody>
          <a:bodyPr wrap="square" lIns="64008" tIns="27432" rIns="64008" bIns="27432" anchor="t">
            <a:spAutoFit/>
          </a:bodyPr>
          <a:lstStyle/>
          <a:p>
            <a:pPr algn="l">
              <a:lnSpc>
                <a:spcPct val="108000"/>
              </a:lnSpc>
            </a:pPr>
            <a:r>
              <a:rPr sz="2600" b="1" i="0">
                <a:solidFill>
                  <a:srgbClr val="222222"/>
                </a:solidFill>
                <a:latin typeface="Georgia"/>
              </a:rPr>
              <a:t>“Apple scab”</a:t>
            </a:r>
          </a:p>
        </p:txBody>
      </p:sp>
      <p:sp>
        <p:nvSpPr>
          <p:cNvPr id="11" name="TextBox 10"/>
          <p:cNvSpPr txBox="1"/>
          <p:nvPr/>
        </p:nvSpPr>
        <p:spPr>
          <a:xfrm>
            <a:off x="640080" y="2468880"/>
            <a:ext cx="5074920" cy="457200"/>
          </a:xfrm>
          <a:prstGeom prst="rect">
            <a:avLst/>
          </a:prstGeom>
          <a:noFill/>
        </p:spPr>
        <p:txBody>
          <a:bodyPr wrap="square" lIns="64008" tIns="27432" rIns="64008" bIns="27432" anchor="t">
            <a:spAutoFit/>
          </a:bodyPr>
          <a:lstStyle/>
          <a:p>
            <a:pPr algn="l">
              <a:lnSpc>
                <a:spcPct val="108000"/>
              </a:lnSpc>
            </a:pPr>
            <a:r>
              <a:rPr sz="1400" b="0" i="0">
                <a:solidFill>
                  <a:srgbClr val="666666"/>
                </a:solidFill>
                <a:latin typeface="Calibri"/>
              </a:rPr>
              <a:t>→ the texts return almost nothing. The phrase does not exist in them.</a:t>
            </a:r>
          </a:p>
        </p:txBody>
      </p:sp>
      <p:sp>
        <p:nvSpPr>
          <p:cNvPr id="12" name="TextBox 11"/>
          <p:cNvSpPr txBox="1"/>
          <p:nvPr/>
        </p:nvSpPr>
        <p:spPr>
          <a:xfrm>
            <a:off x="640080" y="3063240"/>
            <a:ext cx="5074920" cy="822960"/>
          </a:xfrm>
          <a:prstGeom prst="rect">
            <a:avLst/>
          </a:prstGeom>
          <a:noFill/>
        </p:spPr>
        <p:txBody>
          <a:bodyPr wrap="square" lIns="64008" tIns="27432" rIns="64008" bIns="27432" anchor="t">
            <a:spAutoFit/>
          </a:bodyPr>
          <a:lstStyle/>
          <a:p>
            <a:pPr algn="l">
              <a:lnSpc>
                <a:spcPct val="108000"/>
              </a:lnSpc>
            </a:pPr>
            <a:r>
              <a:rPr sz="2800" b="1" i="0">
                <a:solidFill>
                  <a:srgbClr val="B03A2E"/>
                </a:solidFill>
                <a:latin typeface="Calibri"/>
              </a:rPr>
              <a:t>relevance  0.01 – 0.04</a:t>
            </a:r>
          </a:p>
        </p:txBody>
      </p:sp>
      <p:sp>
        <p:nvSpPr>
          <p:cNvPr id="13" name="Rounded Rectangle 12"/>
          <p:cNvSpPr/>
          <p:nvPr/>
        </p:nvSpPr>
        <p:spPr>
          <a:xfrm>
            <a:off x="6263640" y="1371600"/>
            <a:ext cx="5440680" cy="2880360"/>
          </a:xfrm>
          <a:prstGeom prst="roundRect">
            <a:avLst/>
          </a:prstGeom>
          <a:solidFill>
            <a:srgbClr val="FFFCF5"/>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0" y="1371600"/>
            <a:ext cx="5166360" cy="73152"/>
          </a:xfrm>
          <a:prstGeom prst="rect">
            <a:avLst/>
          </a:prstGeom>
          <a:solidFill>
            <a:srgbClr val="1F4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46520" y="1508760"/>
            <a:ext cx="5074920" cy="365760"/>
          </a:xfrm>
          <a:prstGeom prst="rect">
            <a:avLst/>
          </a:prstGeom>
          <a:noFill/>
        </p:spPr>
        <p:txBody>
          <a:bodyPr wrap="square" lIns="64008" tIns="27432" rIns="64008" bIns="27432" anchor="t">
            <a:spAutoFit/>
          </a:bodyPr>
          <a:lstStyle/>
          <a:p>
            <a:pPr algn="l">
              <a:lnSpc>
                <a:spcPct val="108000"/>
              </a:lnSpc>
            </a:pPr>
            <a:r>
              <a:rPr sz="1200" b="1" i="0">
                <a:solidFill>
                  <a:srgbClr val="1F4D2E"/>
                </a:solidFill>
                <a:latin typeface="Calibri"/>
              </a:rPr>
              <a:t>RE-DESCRIBE AS THE SYMPTOM</a:t>
            </a:r>
          </a:p>
        </p:txBody>
      </p:sp>
      <p:sp>
        <p:nvSpPr>
          <p:cNvPr id="16" name="TextBox 15"/>
          <p:cNvSpPr txBox="1"/>
          <p:nvPr/>
        </p:nvSpPr>
        <p:spPr>
          <a:xfrm>
            <a:off x="6446520" y="1874519"/>
            <a:ext cx="5074920" cy="822960"/>
          </a:xfrm>
          <a:prstGeom prst="rect">
            <a:avLst/>
          </a:prstGeom>
          <a:noFill/>
        </p:spPr>
        <p:txBody>
          <a:bodyPr wrap="square" lIns="64008" tIns="27432" rIns="64008" bIns="27432" anchor="t">
            <a:spAutoFit/>
          </a:bodyPr>
          <a:lstStyle/>
          <a:p>
            <a:pPr algn="l">
              <a:lnSpc>
                <a:spcPct val="108000"/>
              </a:lnSpc>
            </a:pPr>
            <a:r>
              <a:rPr sz="2000" b="1" i="0">
                <a:solidFill>
                  <a:srgbClr val="222222"/>
                </a:solidFill>
                <a:latin typeface="Georgia"/>
              </a:rPr>
              <a:t>“dark, rough, scabby patches spreading over the leaf”</a:t>
            </a:r>
          </a:p>
        </p:txBody>
      </p:sp>
      <p:sp>
        <p:nvSpPr>
          <p:cNvPr id="17" name="TextBox 16"/>
          <p:cNvSpPr txBox="1"/>
          <p:nvPr/>
        </p:nvSpPr>
        <p:spPr>
          <a:xfrm>
            <a:off x="6446520" y="2606040"/>
            <a:ext cx="5074920" cy="457200"/>
          </a:xfrm>
          <a:prstGeom prst="rect">
            <a:avLst/>
          </a:prstGeom>
          <a:noFill/>
        </p:spPr>
        <p:txBody>
          <a:bodyPr wrap="square" lIns="64008" tIns="27432" rIns="64008" bIns="27432" anchor="t">
            <a:spAutoFit/>
          </a:bodyPr>
          <a:lstStyle/>
          <a:p>
            <a:pPr algn="l">
              <a:lnSpc>
                <a:spcPct val="108000"/>
              </a:lnSpc>
            </a:pPr>
            <a:r>
              <a:rPr sz="1400" b="0" i="0">
                <a:solidFill>
                  <a:srgbClr val="666666"/>
                </a:solidFill>
                <a:latin typeface="Calibri"/>
              </a:rPr>
              <a:t>→ strong matches — the texts speak this language.</a:t>
            </a:r>
          </a:p>
        </p:txBody>
      </p:sp>
      <p:sp>
        <p:nvSpPr>
          <p:cNvPr id="18" name="TextBox 17"/>
          <p:cNvSpPr txBox="1"/>
          <p:nvPr/>
        </p:nvSpPr>
        <p:spPr>
          <a:xfrm>
            <a:off x="6446520" y="3063240"/>
            <a:ext cx="5074920" cy="822960"/>
          </a:xfrm>
          <a:prstGeom prst="rect">
            <a:avLst/>
          </a:prstGeom>
          <a:noFill/>
        </p:spPr>
        <p:txBody>
          <a:bodyPr wrap="square" lIns="64008" tIns="27432" rIns="64008" bIns="27432" anchor="t">
            <a:spAutoFit/>
          </a:bodyPr>
          <a:lstStyle/>
          <a:p>
            <a:pPr algn="l">
              <a:lnSpc>
                <a:spcPct val="108000"/>
              </a:lnSpc>
            </a:pPr>
            <a:r>
              <a:rPr sz="2800" b="1" i="0">
                <a:solidFill>
                  <a:srgbClr val="1F4D2E"/>
                </a:solidFill>
                <a:latin typeface="Calibri"/>
              </a:rPr>
              <a:t>relevance  0.59 – 0.96</a:t>
            </a:r>
          </a:p>
        </p:txBody>
      </p:sp>
      <p:sp>
        <p:nvSpPr>
          <p:cNvPr id="19" name="Rounded Rectangle 18"/>
          <p:cNvSpPr/>
          <p:nvPr/>
        </p:nvSpPr>
        <p:spPr>
          <a:xfrm>
            <a:off x="457200" y="4480560"/>
            <a:ext cx="11247120" cy="1783080"/>
          </a:xfrm>
          <a:prstGeom prst="roundRect">
            <a:avLst/>
          </a:prstGeom>
          <a:solidFill>
            <a:srgbClr val="E9F0EA"/>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4572000"/>
            <a:ext cx="3657600" cy="365760"/>
          </a:xfrm>
          <a:prstGeom prst="rect">
            <a:avLst/>
          </a:prstGeom>
          <a:noFill/>
        </p:spPr>
        <p:txBody>
          <a:bodyPr wrap="square" lIns="64008" tIns="27432" rIns="64008" bIns="27432" anchor="t">
            <a:spAutoFit/>
          </a:bodyPr>
          <a:lstStyle/>
          <a:p>
            <a:pPr algn="l">
              <a:lnSpc>
                <a:spcPct val="108000"/>
              </a:lnSpc>
            </a:pPr>
            <a:r>
              <a:rPr sz="1400" b="1" i="0">
                <a:solidFill>
                  <a:srgbClr val="1F4D2E"/>
                </a:solidFill>
                <a:latin typeface="Calibri"/>
              </a:rPr>
              <a:t>How the rewriting is done</a:t>
            </a:r>
          </a:p>
        </p:txBody>
      </p:sp>
      <p:sp>
        <p:nvSpPr>
          <p:cNvPr id="21" name="TextBox 20"/>
          <p:cNvSpPr txBox="1"/>
          <p:nvPr/>
        </p:nvSpPr>
        <p:spPr>
          <a:xfrm>
            <a:off x="640080" y="4892040"/>
            <a:ext cx="5120640" cy="1280160"/>
          </a:xfrm>
          <a:prstGeom prst="rect">
            <a:avLst/>
          </a:prstGeom>
          <a:noFill/>
        </p:spPr>
        <p:txBody>
          <a:bodyPr wrap="square" lIns="64008" tIns="27432" rIns="64008" bIns="27432" anchor="t">
            <a:spAutoFit/>
          </a:bodyPr>
          <a:lstStyle/>
          <a:p>
            <a:pPr algn="l">
              <a:lnSpc>
                <a:spcPct val="108000"/>
              </a:lnSpc>
            </a:pPr>
            <a:r>
              <a:rPr sz="1300" b="0" i="0">
                <a:solidFill>
                  <a:srgbClr val="222222"/>
                </a:solidFill>
                <a:latin typeface="Calibri"/>
              </a:rPr>
              <a:t>A language model is given the diagnosis and asked to describe the visible symptoms in plain words — the way a cultivator would describe them. The crop becomes context; the symptom leads.</a:t>
            </a:r>
          </a:p>
        </p:txBody>
      </p:sp>
      <p:sp>
        <p:nvSpPr>
          <p:cNvPr id="22" name="TextBox 21"/>
          <p:cNvSpPr txBox="1"/>
          <p:nvPr/>
        </p:nvSpPr>
        <p:spPr>
          <a:xfrm>
            <a:off x="6126480" y="4572000"/>
            <a:ext cx="5486400" cy="365760"/>
          </a:xfrm>
          <a:prstGeom prst="rect">
            <a:avLst/>
          </a:prstGeom>
          <a:noFill/>
        </p:spPr>
        <p:txBody>
          <a:bodyPr wrap="square" lIns="64008" tIns="27432" rIns="64008" bIns="27432" anchor="t">
            <a:spAutoFit/>
          </a:bodyPr>
          <a:lstStyle/>
          <a:p>
            <a:pPr algn="l">
              <a:lnSpc>
                <a:spcPct val="108000"/>
              </a:lnSpc>
            </a:pPr>
            <a:r>
              <a:rPr sz="1400" b="1" i="0">
                <a:solidFill>
                  <a:srgbClr val="1F4D2E"/>
                </a:solidFill>
                <a:latin typeface="Calibri"/>
              </a:rPr>
              <a:t>What this unlocks</a:t>
            </a:r>
          </a:p>
        </p:txBody>
      </p:sp>
      <p:sp>
        <p:nvSpPr>
          <p:cNvPr id="23" name="TextBox 22"/>
          <p:cNvSpPr txBox="1"/>
          <p:nvPr/>
        </p:nvSpPr>
        <p:spPr>
          <a:xfrm>
            <a:off x="6126480" y="4892040"/>
            <a:ext cx="5486400" cy="1325880"/>
          </a:xfrm>
          <a:prstGeom prst="rect">
            <a:avLst/>
          </a:prstGeom>
          <a:noFill/>
        </p:spPr>
        <p:txBody>
          <a:bodyPr wrap="square" lIns="64008" rIns="64008">
            <a:spAutoFit/>
          </a:bodyPr>
          <a:lstStyle/>
          <a:p>
            <a:pPr>
              <a:spcAft>
                <a:spcPts val="400"/>
              </a:spcAft>
            </a:pPr>
            <a:r>
              <a:rPr sz="1300">
                <a:solidFill>
                  <a:srgbClr val="222222"/>
                </a:solidFill>
                <a:latin typeface="Calibri"/>
              </a:rPr>
              <a:t>•  Searching by meaning beats searching by keywords: 0.94 vs 0.70</a:t>
            </a:r>
          </a:p>
          <a:p>
            <a:pPr>
              <a:spcAft>
                <a:spcPts val="400"/>
              </a:spcAft>
            </a:pPr>
            <a:r>
              <a:rPr sz="1300">
                <a:solidFill>
                  <a:srgbClr val="222222"/>
                </a:solidFill>
                <a:latin typeface="Calibri"/>
              </a:rPr>
              <a:t>•  A symptom carries across plants → cautious advice even for untrained crops, with a confidence figure</a:t>
            </a:r>
          </a:p>
          <a:p>
            <a:pPr>
              <a:spcAft>
                <a:spcPts val="400"/>
              </a:spcAft>
            </a:pPr>
            <a:r>
              <a:rPr sz="1300">
                <a:solidFill>
                  <a:srgbClr val="222222"/>
                </a:solidFill>
                <a:latin typeface="Calibri"/>
              </a:rPr>
              <a:t>•  Matches how the texts themselves prescribe — by symptom, not by crop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F4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56032"/>
            <a:ext cx="8229600" cy="320040"/>
          </a:xfrm>
          <a:prstGeom prst="rect">
            <a:avLst/>
          </a:prstGeom>
          <a:noFill/>
        </p:spPr>
        <p:txBody>
          <a:bodyPr wrap="square" lIns="64008" tIns="27432" rIns="64008" bIns="27432" anchor="t">
            <a:spAutoFit/>
          </a:bodyPr>
          <a:lstStyle/>
          <a:p>
            <a:pPr algn="l">
              <a:lnSpc>
                <a:spcPct val="108000"/>
              </a:lnSpc>
            </a:pPr>
            <a:r>
              <a:rPr sz="1200" b="1" i="0">
                <a:solidFill>
                  <a:srgbClr val="C8891E"/>
                </a:solidFill>
                <a:latin typeface="Calibri"/>
              </a:rPr>
              <a:t>USER INTERFACE</a:t>
            </a:r>
          </a:p>
        </p:txBody>
      </p:sp>
      <p:sp>
        <p:nvSpPr>
          <p:cNvPr id="5" name="TextBox 4"/>
          <p:cNvSpPr txBox="1"/>
          <p:nvPr/>
        </p:nvSpPr>
        <p:spPr>
          <a:xfrm>
            <a:off x="457200" y="502920"/>
            <a:ext cx="11247120" cy="731520"/>
          </a:xfrm>
          <a:prstGeom prst="rect">
            <a:avLst/>
          </a:prstGeom>
          <a:noFill/>
        </p:spPr>
        <p:txBody>
          <a:bodyPr wrap="square" lIns="64008" tIns="27432" rIns="64008" bIns="27432" anchor="t">
            <a:spAutoFit/>
          </a:bodyPr>
          <a:lstStyle/>
          <a:p>
            <a:pPr algn="l">
              <a:lnSpc>
                <a:spcPct val="108000"/>
              </a:lnSpc>
            </a:pPr>
            <a:r>
              <a:rPr sz="3000" b="1" i="0">
                <a:solidFill>
                  <a:srgbClr val="1F4D2E"/>
                </a:solidFill>
                <a:latin typeface="Georgia"/>
              </a:rPr>
              <a:t>What the farmer sees — the interface</a:t>
            </a:r>
          </a:p>
        </p:txBody>
      </p:sp>
      <p:sp>
        <p:nvSpPr>
          <p:cNvPr id="6" name="TextBox 5"/>
          <p:cNvSpPr txBox="1"/>
          <p:nvPr/>
        </p:nvSpPr>
        <p:spPr>
          <a:xfrm>
            <a:off x="457200" y="6473952"/>
            <a:ext cx="8229600" cy="274320"/>
          </a:xfrm>
          <a:prstGeom prst="rect">
            <a:avLst/>
          </a:prstGeom>
          <a:noFill/>
        </p:spPr>
        <p:txBody>
          <a:bodyPr wrap="square" lIns="64008" tIns="27432" rIns="64008" bIns="27432" anchor="t">
            <a:spAutoFit/>
          </a:bodyPr>
          <a:lstStyle/>
          <a:p>
            <a:pPr algn="l">
              <a:lnSpc>
                <a:spcPct val="108000"/>
              </a:lnSpc>
            </a:pPr>
            <a:r>
              <a:rPr sz="1000" b="0" i="0">
                <a:solidFill>
                  <a:srgbClr val="666666"/>
                </a:solidFill>
                <a:latin typeface="Calibri"/>
              </a:rPr>
              <a:t>Ankit Pawar · Dr. Akshay Pandey  |  PDPM IIITDM Jabalpur</a:t>
            </a:r>
          </a:p>
        </p:txBody>
      </p:sp>
      <p:sp>
        <p:nvSpPr>
          <p:cNvPr id="7" name="Rectangle 6"/>
          <p:cNvSpPr/>
          <p:nvPr/>
        </p:nvSpPr>
        <p:spPr>
          <a:xfrm>
            <a:off x="457200" y="1325880"/>
            <a:ext cx="11247120" cy="4846320"/>
          </a:xfrm>
          <a:prstGeom prst="rect">
            <a:avLst/>
          </a:prstGeom>
          <a:solidFill>
            <a:srgbClr val="FFFFFF"/>
          </a:solidFill>
          <a:ln w="1587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325880"/>
            <a:ext cx="11247120" cy="384048"/>
          </a:xfrm>
          <a:prstGeom prst="rect">
            <a:avLst/>
          </a:prstGeom>
          <a:solidFill>
            <a:srgbClr val="1F4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1344168"/>
            <a:ext cx="7315200" cy="365760"/>
          </a:xfrm>
          <a:prstGeom prst="rect">
            <a:avLst/>
          </a:prstGeom>
          <a:noFill/>
        </p:spPr>
        <p:txBody>
          <a:bodyPr wrap="square" lIns="64008" tIns="27432" rIns="64008" bIns="27432" anchor="ctr">
            <a:spAutoFit/>
          </a:bodyPr>
          <a:lstStyle/>
          <a:p>
            <a:pPr algn="l">
              <a:lnSpc>
                <a:spcPct val="108000"/>
              </a:lnSpc>
            </a:pPr>
            <a:r>
              <a:rPr sz="1300" b="1" i="0">
                <a:solidFill>
                  <a:srgbClr val="FFFFFF"/>
                </a:solidFill>
                <a:latin typeface="Calibri"/>
              </a:rPr>
              <a:t>IKS Agricultural Advisory  ·  prototype</a:t>
            </a:r>
          </a:p>
        </p:txBody>
      </p:sp>
      <p:sp>
        <p:nvSpPr>
          <p:cNvPr id="10" name="TextBox 9"/>
          <p:cNvSpPr txBox="1"/>
          <p:nvPr/>
        </p:nvSpPr>
        <p:spPr>
          <a:xfrm>
            <a:off x="640080" y="1874519"/>
            <a:ext cx="3291840" cy="320040"/>
          </a:xfrm>
          <a:prstGeom prst="rect">
            <a:avLst/>
          </a:prstGeom>
          <a:noFill/>
        </p:spPr>
        <p:txBody>
          <a:bodyPr wrap="square" lIns="64008" tIns="27432" rIns="64008" bIns="27432" anchor="t">
            <a:spAutoFit/>
          </a:bodyPr>
          <a:lstStyle/>
          <a:p>
            <a:pPr algn="l">
              <a:lnSpc>
                <a:spcPct val="108000"/>
              </a:lnSpc>
            </a:pPr>
            <a:r>
              <a:rPr sz="1100" b="1" i="0">
                <a:solidFill>
                  <a:srgbClr val="C8891E"/>
                </a:solidFill>
                <a:latin typeface="Calibri"/>
              </a:rPr>
              <a:t>INPUTS</a:t>
            </a:r>
          </a:p>
        </p:txBody>
      </p:sp>
      <p:sp>
        <p:nvSpPr>
          <p:cNvPr id="11" name="TextBox 10"/>
          <p:cNvSpPr txBox="1"/>
          <p:nvPr/>
        </p:nvSpPr>
        <p:spPr>
          <a:xfrm>
            <a:off x="640080" y="2148839"/>
            <a:ext cx="1645920" cy="274320"/>
          </a:xfrm>
          <a:prstGeom prst="rect">
            <a:avLst/>
          </a:prstGeom>
          <a:noFill/>
        </p:spPr>
        <p:txBody>
          <a:bodyPr wrap="square" lIns="64008" tIns="27432" rIns="64008" bIns="27432" anchor="t">
            <a:spAutoFit/>
          </a:bodyPr>
          <a:lstStyle/>
          <a:p>
            <a:pPr algn="l">
              <a:lnSpc>
                <a:spcPct val="108000"/>
              </a:lnSpc>
            </a:pPr>
            <a:r>
              <a:rPr sz="1200" b="1" i="0">
                <a:solidFill>
                  <a:srgbClr val="222222"/>
                </a:solidFill>
                <a:latin typeface="Calibri"/>
              </a:rPr>
              <a:t>Leaf photo</a:t>
            </a:r>
          </a:p>
        </p:txBody>
      </p:sp>
      <p:pic>
        <p:nvPicPr>
          <p:cNvPr id="12" name="Picture 11" descr="_sq_leaf_apple_scab.jpg"/>
          <p:cNvPicPr>
            <a:picLocks noChangeAspect="1"/>
          </p:cNvPicPr>
          <p:nvPr/>
        </p:nvPicPr>
        <p:blipFill>
          <a:blip r:embed="rId3"/>
          <a:stretch>
            <a:fillRect/>
          </a:stretch>
        </p:blipFill>
        <p:spPr>
          <a:xfrm>
            <a:off x="640080" y="2404871"/>
            <a:ext cx="1234440" cy="1234440"/>
          </a:xfrm>
          <a:prstGeom prst="rect">
            <a:avLst/>
          </a:prstGeom>
        </p:spPr>
      </p:pic>
      <p:sp>
        <p:nvSpPr>
          <p:cNvPr id="13" name="TextBox 12"/>
          <p:cNvSpPr txBox="1"/>
          <p:nvPr/>
        </p:nvSpPr>
        <p:spPr>
          <a:xfrm>
            <a:off x="2377440" y="2148839"/>
            <a:ext cx="1645920" cy="274320"/>
          </a:xfrm>
          <a:prstGeom prst="rect">
            <a:avLst/>
          </a:prstGeom>
          <a:noFill/>
        </p:spPr>
        <p:txBody>
          <a:bodyPr wrap="square" lIns="64008" tIns="27432" rIns="64008" bIns="27432" anchor="t">
            <a:spAutoFit/>
          </a:bodyPr>
          <a:lstStyle/>
          <a:p>
            <a:pPr algn="l">
              <a:lnSpc>
                <a:spcPct val="108000"/>
              </a:lnSpc>
            </a:pPr>
            <a:r>
              <a:rPr sz="1200" b="1" i="0">
                <a:solidFill>
                  <a:srgbClr val="222222"/>
                </a:solidFill>
                <a:latin typeface="Calibri"/>
              </a:rPr>
              <a:t>Soil photo</a:t>
            </a:r>
          </a:p>
        </p:txBody>
      </p:sp>
      <p:pic>
        <p:nvPicPr>
          <p:cNvPr id="14" name="Picture 13" descr="_sq_soil_alluvial.jpg"/>
          <p:cNvPicPr>
            <a:picLocks noChangeAspect="1"/>
          </p:cNvPicPr>
          <p:nvPr/>
        </p:nvPicPr>
        <p:blipFill>
          <a:blip r:embed="rId4"/>
          <a:stretch>
            <a:fillRect/>
          </a:stretch>
        </p:blipFill>
        <p:spPr>
          <a:xfrm>
            <a:off x="2377440" y="2404871"/>
            <a:ext cx="1234440" cy="1234440"/>
          </a:xfrm>
          <a:prstGeom prst="rect">
            <a:avLst/>
          </a:prstGeom>
        </p:spPr>
      </p:pic>
      <p:sp>
        <p:nvSpPr>
          <p:cNvPr id="15" name="TextBox 14"/>
          <p:cNvSpPr txBox="1"/>
          <p:nvPr/>
        </p:nvSpPr>
        <p:spPr>
          <a:xfrm>
            <a:off x="640080" y="3840479"/>
            <a:ext cx="3291840" cy="274320"/>
          </a:xfrm>
          <a:prstGeom prst="rect">
            <a:avLst/>
          </a:prstGeom>
          <a:noFill/>
        </p:spPr>
        <p:txBody>
          <a:bodyPr wrap="square" lIns="64008" tIns="27432" rIns="64008" bIns="27432" anchor="t">
            <a:spAutoFit/>
          </a:bodyPr>
          <a:lstStyle/>
          <a:p>
            <a:pPr algn="l">
              <a:lnSpc>
                <a:spcPct val="108000"/>
              </a:lnSpc>
            </a:pPr>
            <a:r>
              <a:rPr sz="1200" b="1" i="0">
                <a:solidFill>
                  <a:srgbClr val="222222"/>
                </a:solidFill>
                <a:latin typeface="Calibri"/>
              </a:rPr>
              <a:t>Crop</a:t>
            </a:r>
          </a:p>
        </p:txBody>
      </p:sp>
      <p:sp>
        <p:nvSpPr>
          <p:cNvPr id="16" name="Rectangle 15"/>
          <p:cNvSpPr/>
          <p:nvPr/>
        </p:nvSpPr>
        <p:spPr>
          <a:xfrm>
            <a:off x="640080" y="4114799"/>
            <a:ext cx="3108960" cy="365760"/>
          </a:xfrm>
          <a:prstGeom prst="rect">
            <a:avLst/>
          </a:prstGeom>
          <a:solidFill>
            <a:srgbClr val="F6F1E7"/>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13232" y="4114799"/>
            <a:ext cx="2926080" cy="365760"/>
          </a:xfrm>
          <a:prstGeom prst="rect">
            <a:avLst/>
          </a:prstGeom>
          <a:noFill/>
        </p:spPr>
        <p:txBody>
          <a:bodyPr wrap="square" lIns="64008" tIns="27432" rIns="64008" bIns="27432" anchor="ctr">
            <a:spAutoFit/>
          </a:bodyPr>
          <a:lstStyle/>
          <a:p>
            <a:pPr algn="l">
              <a:lnSpc>
                <a:spcPct val="108000"/>
              </a:lnSpc>
            </a:pPr>
            <a:r>
              <a:rPr sz="1200" b="0" i="0">
                <a:solidFill>
                  <a:srgbClr val="222222"/>
                </a:solidFill>
                <a:latin typeface="Calibri"/>
              </a:rPr>
              <a:t>Apple  ▾</a:t>
            </a:r>
          </a:p>
        </p:txBody>
      </p:sp>
      <p:sp>
        <p:nvSpPr>
          <p:cNvPr id="18" name="TextBox 17"/>
          <p:cNvSpPr txBox="1"/>
          <p:nvPr/>
        </p:nvSpPr>
        <p:spPr>
          <a:xfrm>
            <a:off x="640080" y="4617719"/>
            <a:ext cx="3291840" cy="274320"/>
          </a:xfrm>
          <a:prstGeom prst="rect">
            <a:avLst/>
          </a:prstGeom>
          <a:noFill/>
        </p:spPr>
        <p:txBody>
          <a:bodyPr wrap="square" lIns="64008" tIns="27432" rIns="64008" bIns="27432" anchor="t">
            <a:spAutoFit/>
          </a:bodyPr>
          <a:lstStyle/>
          <a:p>
            <a:pPr algn="l">
              <a:lnSpc>
                <a:spcPct val="108000"/>
              </a:lnSpc>
            </a:pPr>
            <a:r>
              <a:rPr sz="1200" b="1" i="0">
                <a:solidFill>
                  <a:srgbClr val="222222"/>
                </a:solidFill>
                <a:latin typeface="Calibri"/>
              </a:rPr>
              <a:t>Suspected cause (optional)</a:t>
            </a:r>
          </a:p>
        </p:txBody>
      </p:sp>
      <p:sp>
        <p:nvSpPr>
          <p:cNvPr id="19" name="Rectangle 18"/>
          <p:cNvSpPr/>
          <p:nvPr/>
        </p:nvSpPr>
        <p:spPr>
          <a:xfrm>
            <a:off x="640080" y="4892039"/>
            <a:ext cx="3108960" cy="365760"/>
          </a:xfrm>
          <a:prstGeom prst="rect">
            <a:avLst/>
          </a:prstGeom>
          <a:solidFill>
            <a:srgbClr val="F6F1E7"/>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3232" y="4892039"/>
            <a:ext cx="2926080" cy="365760"/>
          </a:xfrm>
          <a:prstGeom prst="rect">
            <a:avLst/>
          </a:prstGeom>
          <a:noFill/>
        </p:spPr>
        <p:txBody>
          <a:bodyPr wrap="square" lIns="64008" tIns="27432" rIns="64008" bIns="27432" anchor="ctr">
            <a:spAutoFit/>
          </a:bodyPr>
          <a:lstStyle/>
          <a:p>
            <a:pPr algn="l">
              <a:lnSpc>
                <a:spcPct val="108000"/>
              </a:lnSpc>
            </a:pPr>
            <a:r>
              <a:rPr sz="1200" b="0" i="0">
                <a:solidFill>
                  <a:srgbClr val="222222"/>
                </a:solidFill>
                <a:latin typeface="Calibri"/>
              </a:rPr>
              <a:t>Not sure  ▾</a:t>
            </a:r>
          </a:p>
        </p:txBody>
      </p:sp>
      <p:sp>
        <p:nvSpPr>
          <p:cNvPr id="21" name="Rounded Rectangle 20"/>
          <p:cNvSpPr/>
          <p:nvPr/>
        </p:nvSpPr>
        <p:spPr>
          <a:xfrm>
            <a:off x="640080" y="5532119"/>
            <a:ext cx="3108960" cy="457200"/>
          </a:xfrm>
          <a:prstGeom prst="roundRect">
            <a:avLst/>
          </a:prstGeom>
          <a:solidFill>
            <a:srgbClr val="1F4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5532119"/>
            <a:ext cx="3108960" cy="457200"/>
          </a:xfrm>
          <a:prstGeom prst="rect">
            <a:avLst/>
          </a:prstGeom>
          <a:noFill/>
        </p:spPr>
        <p:txBody>
          <a:bodyPr wrap="square" lIns="64008" tIns="27432" rIns="64008" bIns="27432" anchor="ctr">
            <a:spAutoFit/>
          </a:bodyPr>
          <a:lstStyle/>
          <a:p>
            <a:pPr algn="ctr">
              <a:lnSpc>
                <a:spcPct val="108000"/>
              </a:lnSpc>
            </a:pPr>
            <a:r>
              <a:rPr sz="1400" b="1" i="0">
                <a:solidFill>
                  <a:srgbClr val="FFFFFF"/>
                </a:solidFill>
                <a:latin typeface="Calibri"/>
              </a:rPr>
              <a:t>Get advice</a:t>
            </a:r>
          </a:p>
        </p:txBody>
      </p:sp>
      <p:sp>
        <p:nvSpPr>
          <p:cNvPr id="23" name="Rectangle 22"/>
          <p:cNvSpPr/>
          <p:nvPr/>
        </p:nvSpPr>
        <p:spPr>
          <a:xfrm>
            <a:off x="4069080" y="1783080"/>
            <a:ext cx="18288" cy="4297680"/>
          </a:xfrm>
          <a:prstGeom prst="rect">
            <a:avLst/>
          </a:prstGeom>
          <a:solidFill>
            <a:srgbClr val="DDD4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297680" y="1874519"/>
            <a:ext cx="7315200" cy="320040"/>
          </a:xfrm>
          <a:prstGeom prst="rect">
            <a:avLst/>
          </a:prstGeom>
          <a:noFill/>
        </p:spPr>
        <p:txBody>
          <a:bodyPr wrap="square" lIns="64008" tIns="27432" rIns="64008" bIns="27432" anchor="t">
            <a:spAutoFit/>
          </a:bodyPr>
          <a:lstStyle/>
          <a:p>
            <a:pPr algn="l">
              <a:lnSpc>
                <a:spcPct val="108000"/>
              </a:lnSpc>
            </a:pPr>
            <a:r>
              <a:rPr sz="1100" b="1" i="0">
                <a:solidFill>
                  <a:srgbClr val="C8891E"/>
                </a:solidFill>
                <a:latin typeface="Calibri"/>
              </a:rPr>
              <a:t>RESULT</a:t>
            </a:r>
          </a:p>
        </p:txBody>
      </p:sp>
      <p:sp>
        <p:nvSpPr>
          <p:cNvPr id="25" name="Rounded Rectangle 24"/>
          <p:cNvSpPr/>
          <p:nvPr/>
        </p:nvSpPr>
        <p:spPr>
          <a:xfrm>
            <a:off x="4297680" y="2167127"/>
            <a:ext cx="3566160" cy="1051560"/>
          </a:xfrm>
          <a:prstGeom prst="roundRect">
            <a:avLst/>
          </a:prstGeom>
          <a:solidFill>
            <a:srgbClr val="E9F0EA"/>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407408" y="2212847"/>
            <a:ext cx="3383280" cy="320040"/>
          </a:xfrm>
          <a:prstGeom prst="rect">
            <a:avLst/>
          </a:prstGeom>
          <a:noFill/>
        </p:spPr>
        <p:txBody>
          <a:bodyPr wrap="square" lIns="64008" tIns="27432" rIns="64008" bIns="27432" anchor="t">
            <a:spAutoFit/>
          </a:bodyPr>
          <a:lstStyle/>
          <a:p>
            <a:pPr algn="l">
              <a:lnSpc>
                <a:spcPct val="108000"/>
              </a:lnSpc>
            </a:pPr>
            <a:r>
              <a:rPr sz="1100" b="1" i="0">
                <a:solidFill>
                  <a:srgbClr val="666666"/>
                </a:solidFill>
                <a:latin typeface="Calibri"/>
              </a:rPr>
              <a:t>Diagnosis</a:t>
            </a:r>
          </a:p>
        </p:txBody>
      </p:sp>
      <p:sp>
        <p:nvSpPr>
          <p:cNvPr id="27" name="TextBox 26"/>
          <p:cNvSpPr txBox="1"/>
          <p:nvPr/>
        </p:nvSpPr>
        <p:spPr>
          <a:xfrm>
            <a:off x="4407408" y="2468879"/>
            <a:ext cx="3383280" cy="365760"/>
          </a:xfrm>
          <a:prstGeom prst="rect">
            <a:avLst/>
          </a:prstGeom>
          <a:noFill/>
        </p:spPr>
        <p:txBody>
          <a:bodyPr wrap="square" lIns="64008" tIns="27432" rIns="64008" bIns="27432" anchor="t">
            <a:spAutoFit/>
          </a:bodyPr>
          <a:lstStyle/>
          <a:p>
            <a:pPr algn="l">
              <a:lnSpc>
                <a:spcPct val="108000"/>
              </a:lnSpc>
            </a:pPr>
            <a:r>
              <a:rPr sz="1400" b="1" i="0">
                <a:solidFill>
                  <a:srgbClr val="1F4D2E"/>
                </a:solidFill>
                <a:latin typeface="Calibri"/>
              </a:rPr>
              <a:t>Apple — scab   ·   confidence 0.86</a:t>
            </a:r>
          </a:p>
        </p:txBody>
      </p:sp>
      <p:sp>
        <p:nvSpPr>
          <p:cNvPr id="28" name="TextBox 27"/>
          <p:cNvSpPr txBox="1"/>
          <p:nvPr/>
        </p:nvSpPr>
        <p:spPr>
          <a:xfrm>
            <a:off x="4407408" y="2807207"/>
            <a:ext cx="3383280" cy="365760"/>
          </a:xfrm>
          <a:prstGeom prst="rect">
            <a:avLst/>
          </a:prstGeom>
          <a:noFill/>
        </p:spPr>
        <p:txBody>
          <a:bodyPr wrap="square" lIns="64008" tIns="27432" rIns="64008" bIns="27432" anchor="t">
            <a:spAutoFit/>
          </a:bodyPr>
          <a:lstStyle/>
          <a:p>
            <a:pPr algn="l">
              <a:lnSpc>
                <a:spcPct val="108000"/>
              </a:lnSpc>
            </a:pPr>
            <a:r>
              <a:rPr sz="1200" b="0" i="0">
                <a:solidFill>
                  <a:srgbClr val="222222"/>
                </a:solidFill>
                <a:latin typeface="Calibri"/>
              </a:rPr>
              <a:t>Soil: alluvial · moist · medium texture</a:t>
            </a:r>
          </a:p>
        </p:txBody>
      </p:sp>
      <p:sp>
        <p:nvSpPr>
          <p:cNvPr id="29" name="Rounded Rectangle 28"/>
          <p:cNvSpPr/>
          <p:nvPr/>
        </p:nvSpPr>
        <p:spPr>
          <a:xfrm>
            <a:off x="8046719" y="2167127"/>
            <a:ext cx="3566160" cy="1051560"/>
          </a:xfrm>
          <a:prstGeom prst="roundRect">
            <a:avLst/>
          </a:prstGeom>
          <a:solidFill>
            <a:srgbClr val="E9F0EA"/>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156448" y="2212847"/>
            <a:ext cx="3383280" cy="320040"/>
          </a:xfrm>
          <a:prstGeom prst="rect">
            <a:avLst/>
          </a:prstGeom>
          <a:noFill/>
        </p:spPr>
        <p:txBody>
          <a:bodyPr wrap="square" lIns="64008" tIns="27432" rIns="64008" bIns="27432" anchor="t">
            <a:spAutoFit/>
          </a:bodyPr>
          <a:lstStyle/>
          <a:p>
            <a:pPr algn="l">
              <a:lnSpc>
                <a:spcPct val="108000"/>
              </a:lnSpc>
            </a:pPr>
            <a:r>
              <a:rPr sz="1100" b="1" i="0">
                <a:solidFill>
                  <a:srgbClr val="666666"/>
                </a:solidFill>
                <a:latin typeface="Calibri"/>
              </a:rPr>
              <a:t>Where the model looked</a:t>
            </a:r>
          </a:p>
        </p:txBody>
      </p:sp>
      <p:pic>
        <p:nvPicPr>
          <p:cNvPr id="31" name="Picture 30" descr="_sq_leaf_apple_scab.jpg"/>
          <p:cNvPicPr>
            <a:picLocks noChangeAspect="1"/>
          </p:cNvPicPr>
          <p:nvPr/>
        </p:nvPicPr>
        <p:blipFill>
          <a:blip r:embed="rId3"/>
          <a:stretch>
            <a:fillRect/>
          </a:stretch>
        </p:blipFill>
        <p:spPr>
          <a:xfrm>
            <a:off x="8183880" y="2496311"/>
            <a:ext cx="685800" cy="685800"/>
          </a:xfrm>
          <a:prstGeom prst="rect">
            <a:avLst/>
          </a:prstGeom>
        </p:spPr>
      </p:pic>
      <p:sp>
        <p:nvSpPr>
          <p:cNvPr id="32" name="Oval 31"/>
          <p:cNvSpPr/>
          <p:nvPr/>
        </p:nvSpPr>
        <p:spPr>
          <a:xfrm>
            <a:off x="8366760" y="2606039"/>
            <a:ext cx="320040" cy="320040"/>
          </a:xfrm>
          <a:prstGeom prst="ellipse">
            <a:avLst/>
          </a:prstGeom>
          <a:solidFill>
            <a:srgbClr val="E04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961120" y="2496311"/>
            <a:ext cx="2606040" cy="685800"/>
          </a:xfrm>
          <a:prstGeom prst="rect">
            <a:avLst/>
          </a:prstGeom>
          <a:noFill/>
        </p:spPr>
        <p:txBody>
          <a:bodyPr wrap="square" lIns="64008" tIns="27432" rIns="64008" bIns="27432" anchor="ctr">
            <a:spAutoFit/>
          </a:bodyPr>
          <a:lstStyle/>
          <a:p>
            <a:pPr algn="l">
              <a:lnSpc>
                <a:spcPct val="108000"/>
              </a:lnSpc>
            </a:pPr>
            <a:r>
              <a:rPr sz="1100" b="0" i="0">
                <a:solidFill>
                  <a:srgbClr val="222222"/>
                </a:solidFill>
                <a:latin typeface="Calibri"/>
              </a:rPr>
              <a:t>heat-map on the lesion — not the background</a:t>
            </a:r>
          </a:p>
        </p:txBody>
      </p:sp>
      <p:sp>
        <p:nvSpPr>
          <p:cNvPr id="34" name="Rounded Rectangle 33"/>
          <p:cNvSpPr/>
          <p:nvPr/>
        </p:nvSpPr>
        <p:spPr>
          <a:xfrm>
            <a:off x="4297680" y="3337559"/>
            <a:ext cx="7315200" cy="1600200"/>
          </a:xfrm>
          <a:prstGeom prst="roundRect">
            <a:avLst/>
          </a:prstGeom>
          <a:solidFill>
            <a:srgbClr val="FBEFD9"/>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07408" y="3383279"/>
            <a:ext cx="7040880" cy="320040"/>
          </a:xfrm>
          <a:prstGeom prst="rect">
            <a:avLst/>
          </a:prstGeom>
          <a:noFill/>
        </p:spPr>
        <p:txBody>
          <a:bodyPr wrap="square" lIns="64008" tIns="27432" rIns="64008" bIns="27432" anchor="t">
            <a:spAutoFit/>
          </a:bodyPr>
          <a:lstStyle/>
          <a:p>
            <a:pPr algn="l">
              <a:lnSpc>
                <a:spcPct val="108000"/>
              </a:lnSpc>
            </a:pPr>
            <a:r>
              <a:rPr sz="1100" b="1" i="0">
                <a:solidFill>
                  <a:srgbClr val="666666"/>
                </a:solidFill>
                <a:latin typeface="Calibri"/>
              </a:rPr>
              <a:t>Recommendation (from the texts only)</a:t>
            </a:r>
          </a:p>
        </p:txBody>
      </p:sp>
      <p:sp>
        <p:nvSpPr>
          <p:cNvPr id="36" name="TextBox 35"/>
          <p:cNvSpPr txBox="1"/>
          <p:nvPr/>
        </p:nvSpPr>
        <p:spPr>
          <a:xfrm>
            <a:off x="4407408" y="3657599"/>
            <a:ext cx="7040880" cy="1280160"/>
          </a:xfrm>
          <a:prstGeom prst="rect">
            <a:avLst/>
          </a:prstGeom>
          <a:noFill/>
        </p:spPr>
        <p:txBody>
          <a:bodyPr wrap="square" lIns="64008" tIns="27432" rIns="64008" bIns="27432" anchor="t">
            <a:spAutoFit/>
          </a:bodyPr>
          <a:lstStyle/>
          <a:p>
            <a:pPr algn="l">
              <a:lnSpc>
                <a:spcPct val="112000"/>
              </a:lnSpc>
            </a:pPr>
            <a:r>
              <a:rPr sz="1200" b="0" i="0">
                <a:solidFill>
                  <a:srgbClr val="222222"/>
                </a:solidFill>
                <a:latin typeface="Calibri"/>
              </a:rPr>
              <a:t>Cut away the affected parts and sprinkle the spots with water mixed with milk; feed the roots with kunapa water and cow-dung paste. Water with cold water for seven days.</a:t>
            </a:r>
          </a:p>
          <a:p>
            <a:pPr algn="l">
              <a:lnSpc>
                <a:spcPct val="112000"/>
              </a:lnSpc>
            </a:pPr>
            <a:r>
              <a:rPr sz="1200" b="0" i="0">
                <a:solidFill>
                  <a:srgbClr val="222222"/>
                </a:solidFill>
                <a:latin typeface="Calibri"/>
              </a:rPr>
              <a:t>Source: [Vrikshayurveda, v. 193–194]   ·   [Vrikshayurveda, v. 191]</a:t>
            </a:r>
          </a:p>
        </p:txBody>
      </p:sp>
      <p:sp>
        <p:nvSpPr>
          <p:cNvPr id="37" name="Rounded Rectangle 36"/>
          <p:cNvSpPr/>
          <p:nvPr/>
        </p:nvSpPr>
        <p:spPr>
          <a:xfrm>
            <a:off x="4297680" y="5029199"/>
            <a:ext cx="7315200" cy="1097280"/>
          </a:xfrm>
          <a:prstGeom prst="roundRect">
            <a:avLst/>
          </a:prstGeom>
          <a:solidFill>
            <a:srgbClr val="FFFCF5"/>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407408" y="5074919"/>
            <a:ext cx="7040880" cy="320040"/>
          </a:xfrm>
          <a:prstGeom prst="rect">
            <a:avLst/>
          </a:prstGeom>
          <a:noFill/>
        </p:spPr>
        <p:txBody>
          <a:bodyPr wrap="square" lIns="64008" tIns="27432" rIns="64008" bIns="27432" anchor="t">
            <a:spAutoFit/>
          </a:bodyPr>
          <a:lstStyle/>
          <a:p>
            <a:pPr algn="l">
              <a:lnSpc>
                <a:spcPct val="108000"/>
              </a:lnSpc>
            </a:pPr>
            <a:r>
              <a:rPr sz="1100" b="1" i="0">
                <a:solidFill>
                  <a:srgbClr val="666666"/>
                </a:solidFill>
                <a:latin typeface="Calibri"/>
              </a:rPr>
              <a:t>Retrieved passages (so anyone can verify)</a:t>
            </a:r>
          </a:p>
        </p:txBody>
      </p:sp>
      <p:sp>
        <p:nvSpPr>
          <p:cNvPr id="39" name="TextBox 38"/>
          <p:cNvSpPr txBox="1"/>
          <p:nvPr/>
        </p:nvSpPr>
        <p:spPr>
          <a:xfrm>
            <a:off x="4407408" y="5330951"/>
            <a:ext cx="7040880" cy="822960"/>
          </a:xfrm>
          <a:prstGeom prst="rect">
            <a:avLst/>
          </a:prstGeom>
          <a:noFill/>
        </p:spPr>
        <p:txBody>
          <a:bodyPr wrap="square" lIns="64008" tIns="27432" rIns="64008" bIns="27432" anchor="t">
            <a:spAutoFit/>
          </a:bodyPr>
          <a:lstStyle/>
          <a:p>
            <a:pPr algn="l">
              <a:lnSpc>
                <a:spcPct val="108000"/>
              </a:lnSpc>
            </a:pPr>
            <a:r>
              <a:rPr sz="1100" b="0" i="1">
                <a:solidFill>
                  <a:srgbClr val="222222"/>
                </a:solidFill>
                <a:latin typeface="Georgia"/>
              </a:rPr>
              <a:t>v.193  “To remove insects from the roots and branches … water the trees with cold water for seven days.”</a:t>
            </a:r>
          </a:p>
          <a:p>
            <a:pPr algn="l">
              <a:lnSpc>
                <a:spcPct val="108000"/>
              </a:lnSpc>
            </a:pPr>
            <a:r>
              <a:rPr sz="1100" b="0" i="1">
                <a:solidFill>
                  <a:srgbClr val="222222"/>
                </a:solidFill>
                <a:latin typeface="Georgia"/>
              </a:rPr>
              <a:t>v.194  “The worms can be overcome by the paste of milk, kunapa water, and cow dung …”</a:t>
            </a:r>
          </a:p>
        </p:txBody>
      </p:sp>
      <p:sp>
        <p:nvSpPr>
          <p:cNvPr id="40" name="TextBox 39"/>
          <p:cNvSpPr txBox="1"/>
          <p:nvPr/>
        </p:nvSpPr>
        <p:spPr>
          <a:xfrm>
            <a:off x="457200" y="6199632"/>
            <a:ext cx="11247120" cy="274320"/>
          </a:xfrm>
          <a:prstGeom prst="rect">
            <a:avLst/>
          </a:prstGeom>
          <a:noFill/>
        </p:spPr>
        <p:txBody>
          <a:bodyPr wrap="square" lIns="64008" tIns="27432" rIns="64008" bIns="27432" anchor="t">
            <a:spAutoFit/>
          </a:bodyPr>
          <a:lstStyle/>
          <a:p>
            <a:pPr algn="l">
              <a:lnSpc>
                <a:spcPct val="108000"/>
              </a:lnSpc>
            </a:pPr>
            <a:r>
              <a:rPr sz="1000" b="0" i="1">
                <a:solidFill>
                  <a:srgbClr val="666666"/>
                </a:solidFill>
                <a:latin typeface="Calibri"/>
              </a:rPr>
              <a:t>Illustrative screen with real corpus passages. If the texts are silent, the result panel states: “The classical texts do not contain enough information for this case.”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F4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56032"/>
            <a:ext cx="8229600" cy="320040"/>
          </a:xfrm>
          <a:prstGeom prst="rect">
            <a:avLst/>
          </a:prstGeom>
          <a:noFill/>
        </p:spPr>
        <p:txBody>
          <a:bodyPr wrap="square" lIns="64008" tIns="27432" rIns="64008" bIns="27432" anchor="t">
            <a:spAutoFit/>
          </a:bodyPr>
          <a:lstStyle/>
          <a:p>
            <a:pPr algn="l">
              <a:lnSpc>
                <a:spcPct val="108000"/>
              </a:lnSpc>
            </a:pPr>
            <a:r>
              <a:rPr sz="1200" b="1" i="0">
                <a:solidFill>
                  <a:srgbClr val="C8891E"/>
                </a:solidFill>
                <a:latin typeface="Calibri"/>
              </a:rPr>
              <a:t>SAFETY FOR INDIGENOUS KNOWLEDGE</a:t>
            </a:r>
          </a:p>
        </p:txBody>
      </p:sp>
      <p:sp>
        <p:nvSpPr>
          <p:cNvPr id="5" name="TextBox 4"/>
          <p:cNvSpPr txBox="1"/>
          <p:nvPr/>
        </p:nvSpPr>
        <p:spPr>
          <a:xfrm>
            <a:off x="457200" y="502920"/>
            <a:ext cx="11247120" cy="731520"/>
          </a:xfrm>
          <a:prstGeom prst="rect">
            <a:avLst/>
          </a:prstGeom>
          <a:noFill/>
        </p:spPr>
        <p:txBody>
          <a:bodyPr wrap="square" lIns="64008" tIns="27432" rIns="64008" bIns="27432" anchor="t">
            <a:spAutoFit/>
          </a:bodyPr>
          <a:lstStyle/>
          <a:p>
            <a:pPr algn="l">
              <a:lnSpc>
                <a:spcPct val="108000"/>
              </a:lnSpc>
            </a:pPr>
            <a:r>
              <a:rPr sz="3000" b="1" i="0">
                <a:solidFill>
                  <a:srgbClr val="1F4D2E"/>
                </a:solidFill>
                <a:latin typeface="Georgia"/>
              </a:rPr>
              <a:t>Trust by design — four guarantees against fabrication</a:t>
            </a:r>
          </a:p>
        </p:txBody>
      </p:sp>
      <p:sp>
        <p:nvSpPr>
          <p:cNvPr id="6" name="TextBox 5"/>
          <p:cNvSpPr txBox="1"/>
          <p:nvPr/>
        </p:nvSpPr>
        <p:spPr>
          <a:xfrm>
            <a:off x="457200" y="6473952"/>
            <a:ext cx="8229600" cy="274320"/>
          </a:xfrm>
          <a:prstGeom prst="rect">
            <a:avLst/>
          </a:prstGeom>
          <a:noFill/>
        </p:spPr>
        <p:txBody>
          <a:bodyPr wrap="square" lIns="64008" tIns="27432" rIns="64008" bIns="27432" anchor="t">
            <a:spAutoFit/>
          </a:bodyPr>
          <a:lstStyle/>
          <a:p>
            <a:pPr algn="l">
              <a:lnSpc>
                <a:spcPct val="108000"/>
              </a:lnSpc>
            </a:pPr>
            <a:r>
              <a:rPr sz="1000" b="0" i="0">
                <a:solidFill>
                  <a:srgbClr val="666666"/>
                </a:solidFill>
                <a:latin typeface="Calibri"/>
              </a:rPr>
              <a:t>Ankit Pawar · Dr. Akshay Pandey  |  PDPM IIITDM Jabalpur</a:t>
            </a:r>
          </a:p>
        </p:txBody>
      </p:sp>
      <p:sp>
        <p:nvSpPr>
          <p:cNvPr id="7" name="Rounded Rectangle 6"/>
          <p:cNvSpPr/>
          <p:nvPr/>
        </p:nvSpPr>
        <p:spPr>
          <a:xfrm>
            <a:off x="457200" y="1371600"/>
            <a:ext cx="2697480" cy="3017520"/>
          </a:xfrm>
          <a:prstGeom prst="roundRect">
            <a:avLst/>
          </a:prstGeom>
          <a:solidFill>
            <a:srgbClr val="FFFCF5"/>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94360" y="1371600"/>
            <a:ext cx="2423160" cy="82296"/>
          </a:xfrm>
          <a:prstGeom prst="rect">
            <a:avLst/>
          </a:prstGeom>
          <a:solidFill>
            <a:srgbClr val="1F4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536192"/>
            <a:ext cx="2331720" cy="457200"/>
          </a:xfrm>
          <a:prstGeom prst="rect">
            <a:avLst/>
          </a:prstGeom>
          <a:noFill/>
        </p:spPr>
        <p:txBody>
          <a:bodyPr wrap="square" lIns="64008" tIns="27432" rIns="64008" bIns="27432" anchor="t">
            <a:spAutoFit/>
          </a:bodyPr>
          <a:lstStyle/>
          <a:p>
            <a:pPr algn="l">
              <a:lnSpc>
                <a:spcPct val="108000"/>
              </a:lnSpc>
            </a:pPr>
            <a:r>
              <a:rPr sz="1600" b="1" i="0">
                <a:solidFill>
                  <a:srgbClr val="1F4D2E"/>
                </a:solidFill>
                <a:latin typeface="Georgia"/>
              </a:rPr>
              <a:t>Cites the verse</a:t>
            </a:r>
          </a:p>
        </p:txBody>
      </p:sp>
      <p:sp>
        <p:nvSpPr>
          <p:cNvPr id="10" name="TextBox 9"/>
          <p:cNvSpPr txBox="1"/>
          <p:nvPr/>
        </p:nvSpPr>
        <p:spPr>
          <a:xfrm>
            <a:off x="640080" y="2057400"/>
            <a:ext cx="2331720" cy="2194560"/>
          </a:xfrm>
          <a:prstGeom prst="rect">
            <a:avLst/>
          </a:prstGeom>
          <a:noFill/>
        </p:spPr>
        <p:txBody>
          <a:bodyPr wrap="square" lIns="64008" tIns="27432" rIns="64008" bIns="27432" anchor="t">
            <a:spAutoFit/>
          </a:bodyPr>
          <a:lstStyle/>
          <a:p>
            <a:pPr algn="l">
              <a:lnSpc>
                <a:spcPct val="112000"/>
              </a:lnSpc>
            </a:pPr>
            <a:r>
              <a:rPr sz="1400" b="0" i="0">
                <a:solidFill>
                  <a:srgbClr val="222222"/>
                </a:solidFill>
                <a:latin typeface="Calibri"/>
              </a:rPr>
              <a:t>Every recommendation is composed only from retrieved passages.</a:t>
            </a:r>
          </a:p>
          <a:p>
            <a:pPr algn="l">
              <a:lnSpc>
                <a:spcPct val="112000"/>
              </a:lnSpc>
            </a:pPr>
            <a:endParaRPr sz="1400" b="0" i="0">
              <a:solidFill>
                <a:srgbClr val="222222"/>
              </a:solidFill>
              <a:latin typeface="Calibri"/>
            </a:endParaRPr>
          </a:p>
          <a:p>
            <a:pPr algn="l">
              <a:lnSpc>
                <a:spcPct val="112000"/>
              </a:lnSpc>
            </a:pPr>
            <a:r>
              <a:rPr sz="1400" b="0" i="0">
                <a:solidFill>
                  <a:srgbClr val="222222"/>
                </a:solidFill>
                <a:latin typeface="Calibri"/>
              </a:rPr>
              <a:t>[Vrikshayurveda, v. 193]</a:t>
            </a:r>
          </a:p>
        </p:txBody>
      </p:sp>
      <p:sp>
        <p:nvSpPr>
          <p:cNvPr id="11" name="Rounded Rectangle 10"/>
          <p:cNvSpPr/>
          <p:nvPr/>
        </p:nvSpPr>
        <p:spPr>
          <a:xfrm>
            <a:off x="3310128" y="1371600"/>
            <a:ext cx="2697480" cy="3017520"/>
          </a:xfrm>
          <a:prstGeom prst="roundRect">
            <a:avLst/>
          </a:prstGeom>
          <a:solidFill>
            <a:srgbClr val="FFFCF5"/>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447288" y="1371600"/>
            <a:ext cx="2423160" cy="82296"/>
          </a:xfrm>
          <a:prstGeom prst="rect">
            <a:avLst/>
          </a:prstGeom>
          <a:solidFill>
            <a:srgbClr val="C88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93008" y="1536192"/>
            <a:ext cx="2331720" cy="457200"/>
          </a:xfrm>
          <a:prstGeom prst="rect">
            <a:avLst/>
          </a:prstGeom>
          <a:noFill/>
        </p:spPr>
        <p:txBody>
          <a:bodyPr wrap="square" lIns="64008" tIns="27432" rIns="64008" bIns="27432" anchor="t">
            <a:spAutoFit/>
          </a:bodyPr>
          <a:lstStyle/>
          <a:p>
            <a:pPr algn="l">
              <a:lnSpc>
                <a:spcPct val="108000"/>
              </a:lnSpc>
            </a:pPr>
            <a:r>
              <a:rPr sz="1600" b="1" i="0">
                <a:solidFill>
                  <a:srgbClr val="1F4D2E"/>
                </a:solidFill>
                <a:latin typeface="Georgia"/>
              </a:rPr>
              <a:t>Refuses when silent</a:t>
            </a:r>
          </a:p>
        </p:txBody>
      </p:sp>
      <p:sp>
        <p:nvSpPr>
          <p:cNvPr id="14" name="TextBox 13"/>
          <p:cNvSpPr txBox="1"/>
          <p:nvPr/>
        </p:nvSpPr>
        <p:spPr>
          <a:xfrm>
            <a:off x="3493008" y="2057400"/>
            <a:ext cx="2331720" cy="2194560"/>
          </a:xfrm>
          <a:prstGeom prst="rect">
            <a:avLst/>
          </a:prstGeom>
          <a:noFill/>
        </p:spPr>
        <p:txBody>
          <a:bodyPr wrap="square" lIns="64008" tIns="27432" rIns="64008" bIns="27432" anchor="t">
            <a:spAutoFit/>
          </a:bodyPr>
          <a:lstStyle/>
          <a:p>
            <a:pPr algn="l">
              <a:lnSpc>
                <a:spcPct val="112000"/>
              </a:lnSpc>
            </a:pPr>
            <a:r>
              <a:rPr sz="1400" b="0" i="0">
                <a:solidFill>
                  <a:srgbClr val="222222"/>
                </a:solidFill>
                <a:latin typeface="Calibri"/>
              </a:rPr>
              <a:t>If the texts do not cover a case, it says so instead of inventing.</a:t>
            </a:r>
          </a:p>
          <a:p>
            <a:pPr algn="l">
              <a:lnSpc>
                <a:spcPct val="112000"/>
              </a:lnSpc>
            </a:pPr>
            <a:endParaRPr sz="1400" b="0" i="0">
              <a:solidFill>
                <a:srgbClr val="222222"/>
              </a:solidFill>
              <a:latin typeface="Calibri"/>
            </a:endParaRPr>
          </a:p>
          <a:p>
            <a:pPr algn="l">
              <a:lnSpc>
                <a:spcPct val="112000"/>
              </a:lnSpc>
            </a:pPr>
            <a:r>
              <a:rPr sz="1400" b="0" i="0">
                <a:solidFill>
                  <a:srgbClr val="222222"/>
                </a:solidFill>
                <a:latin typeface="Calibri"/>
              </a:rPr>
              <a:t>100% honest refusal</a:t>
            </a:r>
          </a:p>
          <a:p>
            <a:pPr algn="l">
              <a:lnSpc>
                <a:spcPct val="112000"/>
              </a:lnSpc>
            </a:pPr>
            <a:r>
              <a:rPr sz="1400" b="0" i="0">
                <a:solidFill>
                  <a:srgbClr val="222222"/>
                </a:solidFill>
                <a:latin typeface="Calibri"/>
              </a:rPr>
              <a:t>0% fabricated citations</a:t>
            </a:r>
          </a:p>
        </p:txBody>
      </p:sp>
      <p:sp>
        <p:nvSpPr>
          <p:cNvPr id="15" name="Rounded Rectangle 14"/>
          <p:cNvSpPr/>
          <p:nvPr/>
        </p:nvSpPr>
        <p:spPr>
          <a:xfrm>
            <a:off x="6163056" y="1371600"/>
            <a:ext cx="2697480" cy="3017520"/>
          </a:xfrm>
          <a:prstGeom prst="roundRect">
            <a:avLst/>
          </a:prstGeom>
          <a:solidFill>
            <a:srgbClr val="FFFCF5"/>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300216" y="1371600"/>
            <a:ext cx="2423160" cy="82296"/>
          </a:xfrm>
          <a:prstGeom prst="rect">
            <a:avLst/>
          </a:prstGeom>
          <a:solidFill>
            <a:srgbClr val="2E6B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45936" y="1536192"/>
            <a:ext cx="2331720" cy="457200"/>
          </a:xfrm>
          <a:prstGeom prst="rect">
            <a:avLst/>
          </a:prstGeom>
          <a:noFill/>
        </p:spPr>
        <p:txBody>
          <a:bodyPr wrap="square" lIns="64008" tIns="27432" rIns="64008" bIns="27432" anchor="t">
            <a:spAutoFit/>
          </a:bodyPr>
          <a:lstStyle/>
          <a:p>
            <a:pPr algn="l">
              <a:lnSpc>
                <a:spcPct val="108000"/>
              </a:lnSpc>
            </a:pPr>
            <a:r>
              <a:rPr sz="1600" b="1" i="0">
                <a:solidFill>
                  <a:srgbClr val="1F4D2E"/>
                </a:solidFill>
                <a:latin typeface="Georgia"/>
              </a:rPr>
              <a:t>Attention verified</a:t>
            </a:r>
          </a:p>
        </p:txBody>
      </p:sp>
      <p:sp>
        <p:nvSpPr>
          <p:cNvPr id="18" name="TextBox 17"/>
          <p:cNvSpPr txBox="1"/>
          <p:nvPr/>
        </p:nvSpPr>
        <p:spPr>
          <a:xfrm>
            <a:off x="6345936" y="2057400"/>
            <a:ext cx="2331720" cy="2194560"/>
          </a:xfrm>
          <a:prstGeom prst="rect">
            <a:avLst/>
          </a:prstGeom>
          <a:noFill/>
        </p:spPr>
        <p:txBody>
          <a:bodyPr wrap="square" lIns="64008" tIns="27432" rIns="64008" bIns="27432" anchor="t">
            <a:spAutoFit/>
          </a:bodyPr>
          <a:lstStyle/>
          <a:p>
            <a:pPr algn="l">
              <a:lnSpc>
                <a:spcPct val="112000"/>
              </a:lnSpc>
            </a:pPr>
            <a:r>
              <a:rPr sz="1400" b="0" i="0">
                <a:solidFill>
                  <a:srgbClr val="222222"/>
                </a:solidFill>
                <a:latin typeface="Calibri"/>
              </a:rPr>
              <a:t>The heat-map must sit on the lesion. Early on it sat on the background of field photos — we retrained until it did not.</a:t>
            </a:r>
          </a:p>
        </p:txBody>
      </p:sp>
      <p:sp>
        <p:nvSpPr>
          <p:cNvPr id="19" name="Rounded Rectangle 18"/>
          <p:cNvSpPr/>
          <p:nvPr/>
        </p:nvSpPr>
        <p:spPr>
          <a:xfrm>
            <a:off x="9015984" y="1371600"/>
            <a:ext cx="2697480" cy="3017520"/>
          </a:xfrm>
          <a:prstGeom prst="roundRect">
            <a:avLst/>
          </a:prstGeom>
          <a:solidFill>
            <a:srgbClr val="FFFCF5"/>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9153144" y="1371600"/>
            <a:ext cx="2423160" cy="82296"/>
          </a:xfrm>
          <a:prstGeom prst="rect">
            <a:avLst/>
          </a:prstGeom>
          <a:solidFill>
            <a:srgbClr val="5A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98864" y="1536192"/>
            <a:ext cx="2331720" cy="457200"/>
          </a:xfrm>
          <a:prstGeom prst="rect">
            <a:avLst/>
          </a:prstGeom>
          <a:noFill/>
        </p:spPr>
        <p:txBody>
          <a:bodyPr wrap="square" lIns="64008" tIns="27432" rIns="64008" bIns="27432" anchor="t">
            <a:spAutoFit/>
          </a:bodyPr>
          <a:lstStyle/>
          <a:p>
            <a:pPr algn="l">
              <a:lnSpc>
                <a:spcPct val="108000"/>
              </a:lnSpc>
            </a:pPr>
            <a:r>
              <a:rPr sz="1600" b="1" i="0">
                <a:solidFill>
                  <a:srgbClr val="1F4D2E"/>
                </a:solidFill>
                <a:latin typeface="Georgia"/>
              </a:rPr>
              <a:t>Human in the loop</a:t>
            </a:r>
          </a:p>
        </p:txBody>
      </p:sp>
      <p:sp>
        <p:nvSpPr>
          <p:cNvPr id="22" name="TextBox 21"/>
          <p:cNvSpPr txBox="1"/>
          <p:nvPr/>
        </p:nvSpPr>
        <p:spPr>
          <a:xfrm>
            <a:off x="9198864" y="2057400"/>
            <a:ext cx="2331720" cy="2194560"/>
          </a:xfrm>
          <a:prstGeom prst="rect">
            <a:avLst/>
          </a:prstGeom>
          <a:noFill/>
        </p:spPr>
        <p:txBody>
          <a:bodyPr wrap="square" lIns="64008" tIns="27432" rIns="64008" bIns="27432" anchor="t">
            <a:spAutoFit/>
          </a:bodyPr>
          <a:lstStyle/>
          <a:p>
            <a:pPr algn="l">
              <a:lnSpc>
                <a:spcPct val="112000"/>
              </a:lnSpc>
            </a:pPr>
            <a:r>
              <a:rPr sz="1400" b="0" i="0">
                <a:solidFill>
                  <a:srgbClr val="222222"/>
                </a:solidFill>
                <a:latin typeface="Calibri"/>
              </a:rPr>
              <a:t>Uncertain or out-of-scope cases are collected for an agronomist to review.</a:t>
            </a:r>
          </a:p>
          <a:p>
            <a:pPr algn="l">
              <a:lnSpc>
                <a:spcPct val="112000"/>
              </a:lnSpc>
            </a:pPr>
            <a:endParaRPr sz="1400" b="0" i="0">
              <a:solidFill>
                <a:srgbClr val="222222"/>
              </a:solidFill>
              <a:latin typeface="Calibri"/>
            </a:endParaRPr>
          </a:p>
          <a:p>
            <a:pPr algn="l">
              <a:lnSpc>
                <a:spcPct val="112000"/>
              </a:lnSpc>
            </a:pPr>
            <a:r>
              <a:rPr sz="1400" b="0" i="0">
                <a:solidFill>
                  <a:srgbClr val="222222"/>
                </a:solidFill>
                <a:latin typeface="Calibri"/>
              </a:rPr>
              <a:t>No silent self-learning from unverified guesses</a:t>
            </a:r>
          </a:p>
        </p:txBody>
      </p:sp>
      <p:sp>
        <p:nvSpPr>
          <p:cNvPr id="23" name="Rounded Rectangle 22"/>
          <p:cNvSpPr/>
          <p:nvPr/>
        </p:nvSpPr>
        <p:spPr>
          <a:xfrm>
            <a:off x="457200" y="4617720"/>
            <a:ext cx="3657600" cy="1051560"/>
          </a:xfrm>
          <a:prstGeom prst="roundRect">
            <a:avLst/>
          </a:prstGeom>
          <a:solidFill>
            <a:srgbClr val="E9F0EA"/>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8640" y="4690872"/>
            <a:ext cx="3474720" cy="548640"/>
          </a:xfrm>
          <a:prstGeom prst="rect">
            <a:avLst/>
          </a:prstGeom>
          <a:noFill/>
        </p:spPr>
        <p:txBody>
          <a:bodyPr wrap="square" lIns="64008" tIns="27432" rIns="64008" bIns="27432" anchor="t">
            <a:spAutoFit/>
          </a:bodyPr>
          <a:lstStyle/>
          <a:p>
            <a:pPr algn="ctr">
              <a:lnSpc>
                <a:spcPct val="108000"/>
              </a:lnSpc>
            </a:pPr>
            <a:r>
              <a:rPr sz="2000" b="1" i="0">
                <a:solidFill>
                  <a:srgbClr val="C8891E"/>
                </a:solidFill>
                <a:latin typeface="Georgia"/>
              </a:rPr>
              <a:t>0.01–0.04 → 0.59–0.96</a:t>
            </a:r>
          </a:p>
        </p:txBody>
      </p:sp>
      <p:sp>
        <p:nvSpPr>
          <p:cNvPr id="25" name="TextBox 24"/>
          <p:cNvSpPr txBox="1"/>
          <p:nvPr/>
        </p:nvSpPr>
        <p:spPr>
          <a:xfrm>
            <a:off x="548640" y="5221224"/>
            <a:ext cx="3474720" cy="411480"/>
          </a:xfrm>
          <a:prstGeom prst="rect">
            <a:avLst/>
          </a:prstGeom>
          <a:noFill/>
        </p:spPr>
        <p:txBody>
          <a:bodyPr wrap="square" lIns="64008" tIns="27432" rIns="64008" bIns="27432" anchor="t">
            <a:spAutoFit/>
          </a:bodyPr>
          <a:lstStyle/>
          <a:p>
            <a:pPr algn="ctr">
              <a:lnSpc>
                <a:spcPct val="108000"/>
              </a:lnSpc>
            </a:pPr>
            <a:r>
              <a:rPr sz="1200" b="0" i="0">
                <a:solidFill>
                  <a:srgbClr val="222222"/>
                </a:solidFill>
                <a:latin typeface="Calibri"/>
              </a:rPr>
              <a:t>relevance: modern label vs symptom rewriting</a:t>
            </a:r>
          </a:p>
        </p:txBody>
      </p:sp>
      <p:sp>
        <p:nvSpPr>
          <p:cNvPr id="26" name="Rounded Rectangle 25"/>
          <p:cNvSpPr/>
          <p:nvPr/>
        </p:nvSpPr>
        <p:spPr>
          <a:xfrm>
            <a:off x="4251960" y="4617720"/>
            <a:ext cx="3657600" cy="1051560"/>
          </a:xfrm>
          <a:prstGeom prst="roundRect">
            <a:avLst/>
          </a:prstGeom>
          <a:solidFill>
            <a:srgbClr val="E9F0EA"/>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343400" y="4690872"/>
            <a:ext cx="3474720" cy="548640"/>
          </a:xfrm>
          <a:prstGeom prst="rect">
            <a:avLst/>
          </a:prstGeom>
          <a:noFill/>
        </p:spPr>
        <p:txBody>
          <a:bodyPr wrap="square" lIns="64008" tIns="27432" rIns="64008" bIns="27432" anchor="t">
            <a:spAutoFit/>
          </a:bodyPr>
          <a:lstStyle/>
          <a:p>
            <a:pPr algn="ctr">
              <a:lnSpc>
                <a:spcPct val="108000"/>
              </a:lnSpc>
            </a:pPr>
            <a:r>
              <a:rPr sz="2000" b="1" i="0">
                <a:solidFill>
                  <a:srgbClr val="C8891E"/>
                </a:solidFill>
                <a:latin typeface="Georgia"/>
              </a:rPr>
              <a:t>100%  ·  0%</a:t>
            </a:r>
          </a:p>
        </p:txBody>
      </p:sp>
      <p:sp>
        <p:nvSpPr>
          <p:cNvPr id="28" name="TextBox 27"/>
          <p:cNvSpPr txBox="1"/>
          <p:nvPr/>
        </p:nvSpPr>
        <p:spPr>
          <a:xfrm>
            <a:off x="4343400" y="5221224"/>
            <a:ext cx="3474720" cy="411480"/>
          </a:xfrm>
          <a:prstGeom prst="rect">
            <a:avLst/>
          </a:prstGeom>
          <a:noFill/>
        </p:spPr>
        <p:txBody>
          <a:bodyPr wrap="square" lIns="64008" tIns="27432" rIns="64008" bIns="27432" anchor="t">
            <a:spAutoFit/>
          </a:bodyPr>
          <a:lstStyle/>
          <a:p>
            <a:pPr algn="ctr">
              <a:lnSpc>
                <a:spcPct val="108000"/>
              </a:lnSpc>
            </a:pPr>
            <a:r>
              <a:rPr sz="1200" b="0" i="0">
                <a:solidFill>
                  <a:srgbClr val="222222"/>
                </a:solidFill>
                <a:latin typeface="Calibri"/>
              </a:rPr>
              <a:t>honest refusal · fabricated citations</a:t>
            </a:r>
          </a:p>
        </p:txBody>
      </p:sp>
      <p:sp>
        <p:nvSpPr>
          <p:cNvPr id="29" name="Rounded Rectangle 28"/>
          <p:cNvSpPr/>
          <p:nvPr/>
        </p:nvSpPr>
        <p:spPr>
          <a:xfrm>
            <a:off x="8046720" y="4617720"/>
            <a:ext cx="3657600" cy="1051560"/>
          </a:xfrm>
          <a:prstGeom prst="roundRect">
            <a:avLst/>
          </a:prstGeom>
          <a:solidFill>
            <a:srgbClr val="E9F0EA"/>
          </a:solidFill>
          <a:ln w="15875">
            <a:solidFill>
              <a:srgbClr val="DDD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138160" y="4690872"/>
            <a:ext cx="3474720" cy="548640"/>
          </a:xfrm>
          <a:prstGeom prst="rect">
            <a:avLst/>
          </a:prstGeom>
          <a:noFill/>
        </p:spPr>
        <p:txBody>
          <a:bodyPr wrap="square" lIns="64008" tIns="27432" rIns="64008" bIns="27432" anchor="t">
            <a:spAutoFit/>
          </a:bodyPr>
          <a:lstStyle/>
          <a:p>
            <a:pPr algn="ctr">
              <a:lnSpc>
                <a:spcPct val="108000"/>
              </a:lnSpc>
            </a:pPr>
            <a:r>
              <a:rPr sz="2000" b="1" i="0">
                <a:solidFill>
                  <a:srgbClr val="C8891E"/>
                </a:solidFill>
                <a:latin typeface="Georgia"/>
              </a:rPr>
              <a:t>0.94 vs 0.70</a:t>
            </a:r>
          </a:p>
        </p:txBody>
      </p:sp>
      <p:sp>
        <p:nvSpPr>
          <p:cNvPr id="31" name="TextBox 30"/>
          <p:cNvSpPr txBox="1"/>
          <p:nvPr/>
        </p:nvSpPr>
        <p:spPr>
          <a:xfrm>
            <a:off x="8138160" y="5221224"/>
            <a:ext cx="3474720" cy="411480"/>
          </a:xfrm>
          <a:prstGeom prst="rect">
            <a:avLst/>
          </a:prstGeom>
          <a:noFill/>
        </p:spPr>
        <p:txBody>
          <a:bodyPr wrap="square" lIns="64008" tIns="27432" rIns="64008" bIns="27432" anchor="t">
            <a:spAutoFit/>
          </a:bodyPr>
          <a:lstStyle/>
          <a:p>
            <a:pPr algn="ctr">
              <a:lnSpc>
                <a:spcPct val="108000"/>
              </a:lnSpc>
            </a:pPr>
            <a:r>
              <a:rPr sz="1200" b="0" i="0">
                <a:solidFill>
                  <a:srgbClr val="222222"/>
                </a:solidFill>
                <a:latin typeface="Calibri"/>
              </a:rPr>
              <a:t>search by meaning vs by keyword</a:t>
            </a:r>
          </a:p>
        </p:txBody>
      </p:sp>
      <p:sp>
        <p:nvSpPr>
          <p:cNvPr id="32" name="TextBox 31"/>
          <p:cNvSpPr txBox="1"/>
          <p:nvPr/>
        </p:nvSpPr>
        <p:spPr>
          <a:xfrm>
            <a:off x="457200" y="5806440"/>
            <a:ext cx="11247120" cy="457200"/>
          </a:xfrm>
          <a:prstGeom prst="rect">
            <a:avLst/>
          </a:prstGeom>
          <a:noFill/>
        </p:spPr>
        <p:txBody>
          <a:bodyPr wrap="square" lIns="64008" tIns="27432" rIns="64008" bIns="27432" anchor="t">
            <a:spAutoFit/>
          </a:bodyPr>
          <a:lstStyle/>
          <a:p>
            <a:pPr algn="l">
              <a:lnSpc>
                <a:spcPct val="108000"/>
              </a:lnSpc>
            </a:pPr>
            <a:r>
              <a:rPr sz="1200" b="0" i="1">
                <a:solidFill>
                  <a:srgbClr val="1F4D2E"/>
                </a:solidFill>
                <a:latin typeface="Calibri"/>
              </a:rPr>
              <a:t>For a plant the model was never trained on, it still advises — with a confidence figure and an explicit caution. Always “confidence”, never “accuracy”.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4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365760"/>
          </a:xfrm>
          <a:prstGeom prst="rect">
            <a:avLst/>
          </a:prstGeom>
          <a:noFill/>
        </p:spPr>
        <p:txBody>
          <a:bodyPr wrap="square" lIns="64008" tIns="27432" rIns="64008" bIns="27432" anchor="t">
            <a:spAutoFit/>
          </a:bodyPr>
          <a:lstStyle/>
          <a:p>
            <a:pPr algn="l">
              <a:lnSpc>
                <a:spcPct val="108000"/>
              </a:lnSpc>
            </a:pPr>
            <a:r>
              <a:rPr sz="1200" b="1" i="0">
                <a:solidFill>
                  <a:srgbClr val="C8891E"/>
                </a:solidFill>
                <a:latin typeface="Calibri"/>
              </a:rPr>
              <a:t>WHY THIS MATTERS FOR REVITALISING IKS</a:t>
            </a:r>
          </a:p>
        </p:txBody>
      </p:sp>
      <p:sp>
        <p:nvSpPr>
          <p:cNvPr id="4" name="TextBox 3"/>
          <p:cNvSpPr txBox="1"/>
          <p:nvPr/>
        </p:nvSpPr>
        <p:spPr>
          <a:xfrm>
            <a:off x="731520" y="868680"/>
            <a:ext cx="10698480" cy="1463040"/>
          </a:xfrm>
          <a:prstGeom prst="rect">
            <a:avLst/>
          </a:prstGeom>
          <a:noFill/>
        </p:spPr>
        <p:txBody>
          <a:bodyPr wrap="square" lIns="64008" tIns="27432" rIns="64008" bIns="27432" anchor="t">
            <a:spAutoFit/>
          </a:bodyPr>
          <a:lstStyle/>
          <a:p>
            <a:pPr algn="l">
              <a:lnSpc>
                <a:spcPct val="108000"/>
              </a:lnSpc>
            </a:pPr>
            <a:r>
              <a:rPr sz="3800" b="1" i="0">
                <a:solidFill>
                  <a:srgbClr val="FFFFFF"/>
                </a:solidFill>
                <a:latin typeface="Georgia"/>
              </a:rPr>
              <a:t>A text that is cited every day is preserved — and alive.</a:t>
            </a:r>
          </a:p>
        </p:txBody>
      </p:sp>
      <p:sp>
        <p:nvSpPr>
          <p:cNvPr id="5" name="TextBox 4"/>
          <p:cNvSpPr txBox="1"/>
          <p:nvPr/>
        </p:nvSpPr>
        <p:spPr>
          <a:xfrm>
            <a:off x="731520" y="2468880"/>
            <a:ext cx="10515600" cy="1737360"/>
          </a:xfrm>
          <a:prstGeom prst="rect">
            <a:avLst/>
          </a:prstGeom>
          <a:noFill/>
        </p:spPr>
        <p:txBody>
          <a:bodyPr wrap="square" lIns="64008" rIns="64008">
            <a:spAutoFit/>
          </a:bodyPr>
          <a:lstStyle/>
          <a:p>
            <a:pPr>
              <a:spcAft>
                <a:spcPts val="800"/>
              </a:spcAft>
            </a:pPr>
            <a:r>
              <a:rPr sz="1800">
                <a:solidFill>
                  <a:srgbClr val="FFFFFF"/>
                </a:solidFill>
                <a:latin typeface="Calibri"/>
              </a:rPr>
              <a:t>•  Documentation and use reinforce each other — retrieval is preservation in practice</a:t>
            </a:r>
          </a:p>
          <a:p>
            <a:pPr>
              <a:spcAft>
                <a:spcPts val="800"/>
              </a:spcAft>
            </a:pPr>
            <a:r>
              <a:rPr sz="1800">
                <a:solidFill>
                  <a:srgbClr val="FFFFFF"/>
                </a:solidFill>
                <a:latin typeface="Calibri"/>
              </a:rPr>
              <a:t>•  Verifiable, not distorted — every answer traces to its source verse</a:t>
            </a:r>
          </a:p>
          <a:p>
            <a:pPr>
              <a:spcAft>
                <a:spcPts val="800"/>
              </a:spcAft>
            </a:pPr>
            <a:r>
              <a:rPr sz="1800">
                <a:solidFill>
                  <a:srgbClr val="FFFFFF"/>
                </a:solidFill>
                <a:latin typeface="Calibri"/>
              </a:rPr>
              <a:t>•  In the farmer’s hands, not only in archives — a template for AI on Indigenous knowledge beyond agriculture</a:t>
            </a:r>
          </a:p>
        </p:txBody>
      </p:sp>
      <p:sp>
        <p:nvSpPr>
          <p:cNvPr id="6" name="Rectangle 5"/>
          <p:cNvSpPr/>
          <p:nvPr/>
        </p:nvSpPr>
        <p:spPr>
          <a:xfrm>
            <a:off x="731520" y="4251960"/>
            <a:ext cx="10698480" cy="45720"/>
          </a:xfrm>
          <a:prstGeom prst="rect">
            <a:avLst/>
          </a:prstGeom>
          <a:solidFill>
            <a:srgbClr val="C88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4389120"/>
            <a:ext cx="7315200" cy="365760"/>
          </a:xfrm>
          <a:prstGeom prst="rect">
            <a:avLst/>
          </a:prstGeom>
          <a:noFill/>
        </p:spPr>
        <p:txBody>
          <a:bodyPr wrap="square" lIns="64008" tIns="27432" rIns="64008" bIns="27432" anchor="t">
            <a:spAutoFit/>
          </a:bodyPr>
          <a:lstStyle/>
          <a:p>
            <a:pPr algn="l">
              <a:lnSpc>
                <a:spcPct val="108000"/>
              </a:lnSpc>
            </a:pPr>
            <a:r>
              <a:rPr sz="1200" b="1" i="0">
                <a:solidFill>
                  <a:srgbClr val="C8891E"/>
                </a:solidFill>
                <a:latin typeface="Calibri"/>
              </a:rPr>
              <a:t>NEXT STEPS</a:t>
            </a:r>
          </a:p>
        </p:txBody>
      </p:sp>
      <p:sp>
        <p:nvSpPr>
          <p:cNvPr id="8" name="TextBox 7"/>
          <p:cNvSpPr txBox="1"/>
          <p:nvPr/>
        </p:nvSpPr>
        <p:spPr>
          <a:xfrm>
            <a:off x="731520" y="4709160"/>
            <a:ext cx="10515600" cy="1097280"/>
          </a:xfrm>
          <a:prstGeom prst="rect">
            <a:avLst/>
          </a:prstGeom>
          <a:noFill/>
        </p:spPr>
        <p:txBody>
          <a:bodyPr wrap="square" lIns="64008" rIns="64008">
            <a:spAutoFit/>
          </a:bodyPr>
          <a:lstStyle/>
          <a:p>
            <a:pPr>
              <a:spcAft>
                <a:spcPts val="600"/>
              </a:spcAft>
            </a:pPr>
            <a:r>
              <a:rPr sz="1600">
                <a:solidFill>
                  <a:srgbClr val="FFFFFF"/>
                </a:solidFill>
                <a:latin typeface="Calibri"/>
              </a:rPr>
              <a:t>•  Validation with agronomists   ·   add Vishvavallabha   ·   expert-built evaluation set</a:t>
            </a:r>
          </a:p>
        </p:txBody>
      </p:sp>
      <p:sp>
        <p:nvSpPr>
          <p:cNvPr id="9" name="TextBox 8"/>
          <p:cNvSpPr txBox="1"/>
          <p:nvPr/>
        </p:nvSpPr>
        <p:spPr>
          <a:xfrm>
            <a:off x="731520" y="5715000"/>
            <a:ext cx="10515600" cy="548640"/>
          </a:xfrm>
          <a:prstGeom prst="rect">
            <a:avLst/>
          </a:prstGeom>
          <a:noFill/>
        </p:spPr>
        <p:txBody>
          <a:bodyPr wrap="square" lIns="64008" tIns="27432" rIns="64008" bIns="27432" anchor="t">
            <a:spAutoFit/>
          </a:bodyPr>
          <a:lstStyle/>
          <a:p>
            <a:pPr algn="l">
              <a:lnSpc>
                <a:spcPct val="108000"/>
              </a:lnSpc>
            </a:pPr>
            <a:r>
              <a:rPr sz="3200" b="1" i="0">
                <a:solidFill>
                  <a:srgbClr val="FFFFFF"/>
                </a:solidFill>
                <a:latin typeface="Georgia"/>
              </a:rPr>
              <a:t>Thank you</a:t>
            </a:r>
          </a:p>
        </p:txBody>
      </p:sp>
      <p:sp>
        <p:nvSpPr>
          <p:cNvPr id="10" name="TextBox 9"/>
          <p:cNvSpPr txBox="1"/>
          <p:nvPr/>
        </p:nvSpPr>
        <p:spPr>
          <a:xfrm>
            <a:off x="731520" y="6263640"/>
            <a:ext cx="10515600" cy="365760"/>
          </a:xfrm>
          <a:prstGeom prst="rect">
            <a:avLst/>
          </a:prstGeom>
          <a:noFill/>
        </p:spPr>
        <p:txBody>
          <a:bodyPr wrap="square" lIns="64008" tIns="27432" rIns="64008" bIns="27432" anchor="t">
            <a:spAutoFit/>
          </a:bodyPr>
          <a:lstStyle/>
          <a:p>
            <a:pPr algn="l">
              <a:lnSpc>
                <a:spcPct val="108000"/>
              </a:lnSpc>
            </a:pPr>
            <a:r>
              <a:rPr sz="1400" b="0" i="0">
                <a:solidFill>
                  <a:srgbClr val="ECD9B0"/>
                </a:solidFill>
                <a:latin typeface="Calibri"/>
              </a:rPr>
              <a:t>Ankit Pawar  ·  Dr. Akshay Pandey  ·  PDPM IIITDM Jabalpur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TotalTime>
  <Words>3749</Words>
  <Application>Microsoft Office PowerPoint</Application>
  <PresentationFormat>Widescreen</PresentationFormat>
  <Paragraphs>309</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Ankit Pawar</cp:lastModifiedBy>
  <cp:revision>3</cp:revision>
  <dcterms:created xsi:type="dcterms:W3CDTF">2013-01-27T09:14:16Z</dcterms:created>
  <dcterms:modified xsi:type="dcterms:W3CDTF">2026-09-11T13:57:20Z</dcterms:modified>
  <cp:category/>
</cp:coreProperties>
</file>